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5"/>
  </p:notesMasterIdLst>
  <p:sldIdLst>
    <p:sldId id="283" r:id="rId2"/>
    <p:sldId id="292" r:id="rId3"/>
    <p:sldId id="288" r:id="rId4"/>
    <p:sldId id="746" r:id="rId5"/>
    <p:sldId id="747" r:id="rId6"/>
    <p:sldId id="748" r:id="rId7"/>
    <p:sldId id="749" r:id="rId8"/>
    <p:sldId id="750" r:id="rId9"/>
    <p:sldId id="751" r:id="rId10"/>
    <p:sldId id="752" r:id="rId11"/>
    <p:sldId id="753" r:id="rId12"/>
    <p:sldId id="754" r:id="rId13"/>
    <p:sldId id="755" r:id="rId14"/>
    <p:sldId id="756" r:id="rId15"/>
    <p:sldId id="757" r:id="rId16"/>
    <p:sldId id="758" r:id="rId17"/>
    <p:sldId id="834" r:id="rId18"/>
    <p:sldId id="735" r:id="rId19"/>
    <p:sldId id="736" r:id="rId20"/>
    <p:sldId id="737" r:id="rId21"/>
    <p:sldId id="740" r:id="rId22"/>
    <p:sldId id="741" r:id="rId23"/>
    <p:sldId id="738" r:id="rId24"/>
    <p:sldId id="739" r:id="rId25"/>
    <p:sldId id="743" r:id="rId26"/>
    <p:sldId id="744" r:id="rId27"/>
    <p:sldId id="745" r:id="rId28"/>
    <p:sldId id="734" r:id="rId29"/>
    <p:sldId id="710" r:id="rId30"/>
    <p:sldId id="759" r:id="rId31"/>
    <p:sldId id="775" r:id="rId32"/>
    <p:sldId id="832" r:id="rId33"/>
    <p:sldId id="760" r:id="rId34"/>
    <p:sldId id="776" r:id="rId35"/>
    <p:sldId id="778" r:id="rId36"/>
    <p:sldId id="777" r:id="rId37"/>
    <p:sldId id="779" r:id="rId38"/>
    <p:sldId id="780" r:id="rId39"/>
    <p:sldId id="833" r:id="rId40"/>
    <p:sldId id="782" r:id="rId41"/>
    <p:sldId id="773" r:id="rId42"/>
    <p:sldId id="785" r:id="rId43"/>
    <p:sldId id="783" r:id="rId44"/>
    <p:sldId id="816" r:id="rId45"/>
    <p:sldId id="831" r:id="rId46"/>
    <p:sldId id="817" r:id="rId47"/>
    <p:sldId id="787" r:id="rId48"/>
    <p:sldId id="815" r:id="rId49"/>
    <p:sldId id="851" r:id="rId50"/>
    <p:sldId id="781" r:id="rId51"/>
    <p:sldId id="789" r:id="rId52"/>
    <p:sldId id="852" r:id="rId53"/>
    <p:sldId id="790" r:id="rId54"/>
    <p:sldId id="844" r:id="rId55"/>
    <p:sldId id="845" r:id="rId56"/>
    <p:sldId id="846" r:id="rId57"/>
    <p:sldId id="791" r:id="rId58"/>
    <p:sldId id="788" r:id="rId59"/>
    <p:sldId id="792" r:id="rId60"/>
    <p:sldId id="793" r:id="rId61"/>
    <p:sldId id="794" r:id="rId62"/>
    <p:sldId id="795" r:id="rId63"/>
    <p:sldId id="733" r:id="rId64"/>
  </p:sldIdLst>
  <p:sldSz cx="12192000" cy="6858000"/>
  <p:notesSz cx="6858000" cy="9144000"/>
  <p:embeddedFontLst>
    <p:embeddedFont>
      <p:font typeface="Consolas" panose="020B0609020204030204" pitchFamily="49" charset="0"/>
      <p:regular r:id="rId66"/>
      <p:bold r:id="rId67"/>
      <p:italic r:id="rId68"/>
      <p:boldItalic r:id="rId69"/>
    </p:embeddedFont>
    <p:embeddedFont>
      <p:font typeface="Roboto Condensed" panose="02000000000000000000" pitchFamily="2" charset="0"/>
      <p:regular r:id="rId70"/>
      <p:bold r:id="rId71"/>
      <p:italic r:id="rId72"/>
      <p:boldItalic r:id="rId73"/>
    </p:embeddedFont>
    <p:embeddedFont>
      <p:font typeface="Roboto Condensed Light" panose="02000000000000000000" pitchFamily="2" charset="0"/>
      <p:regular r:id="rId74"/>
      <p:italic r:id="rId75"/>
    </p:embeddedFont>
    <p:embeddedFont>
      <p:font typeface="Wingdings 2" panose="05020102010507070707" pitchFamily="18" charset="2"/>
      <p:regular r:id="rId76"/>
    </p:embeddedFont>
    <p:embeddedFont>
      <p:font typeface="Wingdings 3" panose="05040102010807070707" pitchFamily="18" charset="2"/>
      <p:regular r:id="rId7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cuCUc2dQuyS/qeT6MuLFwQ==" hashData="+enB9S1bQ/SD2co4LiJh70bK+46aF/26Zzm4xsWcbWDdcmo1MOXWIzJp6Rc9y3ezy5kil+Gkggt40K4I/x2dUw=="/>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1B92"/>
    <a:srgbClr val="D10233"/>
    <a:srgbClr val="673BB7"/>
    <a:srgbClr val="607D8B"/>
    <a:srgbClr val="ED524F"/>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9.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7.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22364D95-B329-9454-0C65-6DD9D28321C5}"/>
              </a:ext>
            </a:extLst>
          </p:cNvPr>
          <p:cNvSpPr txBox="1">
            <a:spLocks/>
          </p:cNvSpPr>
          <p:nvPr userDrawn="1"/>
        </p:nvSpPr>
        <p:spPr>
          <a:xfrm>
            <a:off x="4038599" y="6604000"/>
            <a:ext cx="66831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Cursor, Trigger &amp; Exception Handling</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5833534"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Cursor, Trigger &amp; Exception Handling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tx2"/>
              </a:buClr>
              <a:buFont typeface="Wingdings 3" panose="05040102010807070707" pitchFamily="18" charset="2"/>
              <a:buChar char=""/>
              <a:defRPr sz="2400">
                <a:solidFill>
                  <a:schemeClr val="tx1"/>
                </a:solidFill>
              </a:defRPr>
            </a:lvl1pPr>
            <a:lvl2pPr marL="809625" indent="-352425" algn="just">
              <a:buClr>
                <a:schemeClr val="tx2"/>
              </a:buClr>
              <a:buFont typeface="Wingdings 3" panose="05040102010807070707" pitchFamily="18" charset="2"/>
              <a:buChar char=""/>
              <a:defRPr sz="2000">
                <a:solidFill>
                  <a:schemeClr val="tx1"/>
                </a:solidFill>
              </a:defRPr>
            </a:lvl2pPr>
            <a:lvl3pPr marL="1143000" indent="-228600" algn="just">
              <a:buClr>
                <a:schemeClr val="tx2"/>
              </a:buClr>
              <a:buFont typeface="Wingdings" panose="05000000000000000000" pitchFamily="2" charset="2"/>
              <a:buChar char="§"/>
              <a:defRPr sz="1800">
                <a:solidFill>
                  <a:schemeClr val="tx1"/>
                </a:solidFill>
              </a:defRPr>
            </a:lvl3pPr>
            <a:lvl4pPr algn="just">
              <a:buClr>
                <a:schemeClr val="tx2"/>
              </a:buClr>
              <a:defRPr sz="1600">
                <a:solidFill>
                  <a:schemeClr val="tx1"/>
                </a:solidFill>
              </a:defRPr>
            </a:lvl4pPr>
            <a:lvl5pPr algn="just">
              <a:buClr>
                <a:schemeClr val="tx2"/>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045141CA-3257-6BFB-BB04-3762FEDA1C9B}"/>
              </a:ext>
            </a:extLst>
          </p:cNvPr>
          <p:cNvSpPr txBox="1">
            <a:spLocks/>
          </p:cNvSpPr>
          <p:nvPr userDrawn="1"/>
        </p:nvSpPr>
        <p:spPr>
          <a:xfrm>
            <a:off x="4038599" y="6602882"/>
            <a:ext cx="5308601" cy="25624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Cursor, Trigger &amp; Exception Handling</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7AB458A6-BA3D-1695-F4B0-6ACF702C5664}"/>
              </a:ext>
            </a:extLst>
          </p:cNvPr>
          <p:cNvSpPr txBox="1">
            <a:spLocks/>
          </p:cNvSpPr>
          <p:nvPr userDrawn="1"/>
        </p:nvSpPr>
        <p:spPr>
          <a:xfrm>
            <a:off x="4038599" y="6604000"/>
            <a:ext cx="51816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Cursor, Trigger &amp; Exception Handling</a:t>
            </a: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FC9FED5C-F4D5-E957-DC81-3C6139158BA8}"/>
              </a:ext>
            </a:extLst>
          </p:cNvPr>
          <p:cNvSpPr txBox="1">
            <a:spLocks/>
          </p:cNvSpPr>
          <p:nvPr userDrawn="1"/>
        </p:nvSpPr>
        <p:spPr>
          <a:xfrm>
            <a:off x="4038599" y="6603998"/>
            <a:ext cx="5481194" cy="255127"/>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solidFill>
                  <a:schemeClr val="tx1">
                    <a:lumMod val="90000"/>
                    <a:lumOff val="10000"/>
                  </a:schemeClr>
                </a:solidFill>
                <a:latin typeface="Roboto Condensed Light" panose="02000000000000000000" pitchFamily="2" charset="0"/>
                <a:ea typeface="Roboto Condensed Light" panose="02000000000000000000" pitchFamily="2" charset="0"/>
              </a:rPr>
              <a:t>Unit 5 –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Cursor, Trigger &amp; Exception Handling</a:t>
            </a: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9/15/2026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73" r:id="rId8"/>
    <p:sldLayoutId id="2147483691"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p:txBody>
          <a:bodyPr/>
          <a:lstStyle/>
          <a:p>
            <a:r>
              <a:rPr lang="en-US" sz="4800" b="0" dirty="0">
                <a:latin typeface="Roboto Condensed Light" panose="02000000000000000000" pitchFamily="2" charset="0"/>
                <a:ea typeface="Roboto Condensed Light" panose="02000000000000000000" pitchFamily="2" charset="0"/>
              </a:rPr>
              <a:t>Unit-5</a:t>
            </a:r>
            <a:r>
              <a:rPr lang="en-US" dirty="0"/>
              <a:t> </a:t>
            </a:r>
            <a:br>
              <a:rPr lang="en-US" sz="6000" dirty="0"/>
            </a:br>
            <a:r>
              <a:rPr lang="en-US" sz="6000" dirty="0"/>
              <a:t>Cursor, Trigger and </a:t>
            </a:r>
            <a:br>
              <a:rPr lang="en-US" sz="6000" dirty="0"/>
            </a:br>
            <a:r>
              <a:rPr lang="en-US" sz="6000" dirty="0"/>
              <a:t>Exception Handling</a:t>
            </a: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deep.padaliya@darshan.ac.in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+91 - 98981 88771 (CSE Department)</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Deep C. Padaliya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IN" dirty="0"/>
              <a:t>T-SQL Querying</a:t>
            </a:r>
            <a:endParaRPr lang="en-US" b="1" dirty="0"/>
          </a:p>
          <a:p>
            <a:r>
              <a:rPr lang="en-US" dirty="0">
                <a:latin typeface="Roboto Condensed Light" panose="02000000000000000000" pitchFamily="2" charset="0"/>
                <a:ea typeface="Roboto Condensed Light" panose="02000000000000000000" pitchFamily="2" charset="0"/>
              </a:rPr>
              <a:t>#</a:t>
            </a:r>
            <a:r>
              <a:rPr lang="en-IN" dirty="0"/>
              <a:t> 2501CS302</a:t>
            </a:r>
            <a:endParaRPr lang="en-US" dirty="0">
              <a:latin typeface="Roboto Condensed Light" panose="02000000000000000000" pitchFamily="2" charset="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7" name="Picture Placeholder 15">
            <a:extLst>
              <a:ext uri="{FF2B5EF4-FFF2-40B4-BE49-F238E27FC236}">
                <a16:creationId xmlns:a16="http://schemas.microsoft.com/office/drawing/2014/main" id="{28CA7271-C27B-D8DA-3616-003E64F4E1F5}"/>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5231" r="5231"/>
          <a:stretch>
            <a:fillRect/>
          </a:stretch>
        </p:blipFill>
        <p:spPr>
          <a:xfrm>
            <a:off x="354013" y="5211763"/>
            <a:ext cx="1352550" cy="1352550"/>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3429000"/>
            <a:ext cx="0" cy="3429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31706"/>
            <a:ext cx="7111293" cy="3062377"/>
          </a:xfrm>
          <a:prstGeom prst="rect">
            <a:avLst/>
          </a:prstGeom>
          <a:noFill/>
        </p:spPr>
        <p:txBody>
          <a:bodyPr wrap="square" rtlCol="0">
            <a:spAutoFit/>
          </a:bodyPr>
          <a:lstStyle/>
          <a:p>
            <a:r>
              <a:rPr lang="en-US" sz="2400" b="1" dirty="0"/>
              <a:t>Outline</a:t>
            </a:r>
          </a:p>
          <a:p>
            <a:pPr marL="800100" lvl="1" indent="-342900">
              <a:spcBef>
                <a:spcPts val="500"/>
              </a:spcBef>
              <a:buFont typeface="Arial" panose="020B0604020202020204" pitchFamily="34" charset="0"/>
              <a:buChar char="•"/>
            </a:pPr>
            <a:r>
              <a:rPr lang="en-US" sz="2400" dirty="0"/>
              <a:t>Trigger</a:t>
            </a:r>
          </a:p>
          <a:p>
            <a:pPr marL="800100" lvl="1" indent="-342900">
              <a:spcBef>
                <a:spcPts val="500"/>
              </a:spcBef>
              <a:buFont typeface="Arial" panose="020B0604020202020204" pitchFamily="34" charset="0"/>
              <a:buChar char="•"/>
            </a:pPr>
            <a:r>
              <a:rPr lang="en-US" sz="2400" dirty="0"/>
              <a:t>Cursor</a:t>
            </a:r>
            <a:endParaRPr lang="en-US" sz="2400" b="1" dirty="0"/>
          </a:p>
          <a:p>
            <a:pPr marL="800100" lvl="1" indent="-342900">
              <a:spcBef>
                <a:spcPts val="500"/>
              </a:spcBef>
              <a:buFont typeface="Arial" panose="020B0604020202020204" pitchFamily="34" charset="0"/>
              <a:buChar char="•"/>
            </a:pPr>
            <a:r>
              <a:rPr lang="en-US" sz="2400" dirty="0"/>
              <a:t>Exception Handling</a:t>
            </a:r>
          </a:p>
          <a:p>
            <a:pPr marL="800100" lvl="1" indent="-342900">
              <a:spcBef>
                <a:spcPts val="500"/>
              </a:spcBef>
              <a:buFont typeface="Arial" panose="020B0604020202020204" pitchFamily="34" charset="0"/>
              <a:buChar char="•"/>
            </a:pPr>
            <a:r>
              <a:rPr lang="en-US" sz="2400" dirty="0"/>
              <a:t>Throw</a:t>
            </a:r>
          </a:p>
          <a:p>
            <a:pPr marL="800100" lvl="1" indent="-342900">
              <a:spcBef>
                <a:spcPts val="500"/>
              </a:spcBef>
              <a:buFont typeface="Arial" panose="020B0604020202020204" pitchFamily="34" charset="0"/>
              <a:buChar char="•"/>
            </a:pPr>
            <a:r>
              <a:rPr lang="en-US" sz="2400" dirty="0"/>
              <a:t>Raise Error</a:t>
            </a:r>
          </a:p>
          <a:p>
            <a:pPr marL="800100" lvl="1" indent="-342900">
              <a:spcBef>
                <a:spcPts val="500"/>
              </a:spcBef>
              <a:buFont typeface="Arial" panose="020B0604020202020204" pitchFamily="34" charset="0"/>
              <a:buChar char="•"/>
            </a:pPr>
            <a:endParaRPr lang="en-US" sz="2400" dirty="0"/>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Trigger</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05510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 Trigger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A SQL Server trigger is a piece of procedural code, like a stored procedure </a:t>
            </a:r>
            <a:r>
              <a:rPr lang="en-US" dirty="0">
                <a:solidFill>
                  <a:srgbClr val="C00000"/>
                </a:solidFill>
              </a:rPr>
              <a:t>which is only executed when a given event happens. </a:t>
            </a:r>
          </a:p>
          <a:p>
            <a:r>
              <a:rPr lang="en-US" dirty="0"/>
              <a:t>There are different types of events that can fire a trigger. </a:t>
            </a:r>
          </a:p>
          <a:p>
            <a:r>
              <a:rPr lang="en-US" dirty="0"/>
              <a:t>Like </a:t>
            </a:r>
            <a:r>
              <a:rPr lang="en-US" b="1" dirty="0">
                <a:solidFill>
                  <a:srgbClr val="C00000"/>
                </a:solidFill>
              </a:rPr>
              <a:t>insertion of rows in a table</a:t>
            </a:r>
            <a:r>
              <a:rPr lang="en-US" dirty="0"/>
              <a:t>, a </a:t>
            </a:r>
            <a:r>
              <a:rPr lang="en-US" b="1" dirty="0">
                <a:solidFill>
                  <a:srgbClr val="C00000"/>
                </a:solidFill>
              </a:rPr>
              <a:t>change in a table structure </a:t>
            </a:r>
            <a:r>
              <a:rPr lang="en-US" dirty="0"/>
              <a:t>and </a:t>
            </a:r>
            <a:r>
              <a:rPr lang="en-US" b="1" dirty="0">
                <a:solidFill>
                  <a:srgbClr val="C00000"/>
                </a:solidFill>
              </a:rPr>
              <a:t>even a user logging into a SQL Server instance</a:t>
            </a:r>
            <a:r>
              <a:rPr lang="en-US" dirty="0"/>
              <a:t>.</a:t>
            </a:r>
          </a:p>
          <a:p>
            <a:r>
              <a:rPr lang="en-US" dirty="0"/>
              <a:t>There are three main characteristics that make triggers different than stored procedures:</a:t>
            </a:r>
          </a:p>
          <a:p>
            <a:pPr lvl="1"/>
            <a:r>
              <a:rPr lang="en-US" dirty="0"/>
              <a:t>Triggers </a:t>
            </a:r>
            <a:r>
              <a:rPr lang="en-US" b="1" dirty="0">
                <a:solidFill>
                  <a:srgbClr val="C00000"/>
                </a:solidFill>
              </a:rPr>
              <a:t>cannot be manually executed by the user</a:t>
            </a:r>
            <a:r>
              <a:rPr lang="en-US" dirty="0"/>
              <a:t>.</a:t>
            </a:r>
          </a:p>
          <a:p>
            <a:pPr lvl="1"/>
            <a:r>
              <a:rPr lang="en-US" dirty="0"/>
              <a:t>There is </a:t>
            </a:r>
            <a:r>
              <a:rPr lang="en-US" b="1" dirty="0">
                <a:solidFill>
                  <a:srgbClr val="C00000"/>
                </a:solidFill>
              </a:rPr>
              <a:t>no chance for triggers to receive parameters</a:t>
            </a:r>
            <a:r>
              <a:rPr lang="en-US" dirty="0"/>
              <a:t>.</a:t>
            </a:r>
          </a:p>
          <a:p>
            <a:pPr lvl="1"/>
            <a:r>
              <a:rPr lang="en-US" dirty="0"/>
              <a:t>You cannot </a:t>
            </a:r>
            <a:r>
              <a:rPr lang="en-US" b="1" dirty="0">
                <a:solidFill>
                  <a:srgbClr val="C00000"/>
                </a:solidFill>
              </a:rPr>
              <a:t>commit or rollback a transaction inside a trigger</a:t>
            </a:r>
            <a:r>
              <a:rPr lang="en-US" dirty="0"/>
              <a:t>.</a:t>
            </a:r>
          </a:p>
          <a:p>
            <a:r>
              <a:rPr lang="en-US" b="1" dirty="0">
                <a:solidFill>
                  <a:srgbClr val="C00000"/>
                </a:solidFill>
              </a:rPr>
              <a:t>If you need a certain piece of code to always be executed in response to an event</a:t>
            </a:r>
            <a:r>
              <a:rPr lang="en-US" dirty="0"/>
              <a:t>, the best option is to use triggers.</a:t>
            </a:r>
          </a:p>
          <a:p>
            <a:r>
              <a:rPr lang="en-US" dirty="0"/>
              <a:t>It allows us to encode complex default values that cannot be handled by default constraints.</a:t>
            </a:r>
          </a:p>
          <a:p>
            <a:r>
              <a:rPr lang="en-US" b="1" dirty="0"/>
              <a:t>You can calculate aggregated columns in a table using triggers</a:t>
            </a:r>
            <a:r>
              <a:rPr lang="en-US" dirty="0"/>
              <a:t>.</a:t>
            </a:r>
          </a:p>
          <a:p>
            <a:endParaRPr lang="en-US" dirty="0"/>
          </a:p>
          <a:p>
            <a:pPr lvl="1"/>
            <a:endParaRPr lang="en-US" dirty="0"/>
          </a:p>
        </p:txBody>
      </p:sp>
    </p:spTree>
    <p:extLst>
      <p:ext uri="{BB962C8B-B14F-4D97-AF65-F5344CB8AC3E}">
        <p14:creationId xmlns:p14="http://schemas.microsoft.com/office/powerpoint/2010/main" val="196737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Trigger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In SQL Server we can create the following three types of triggers:</a:t>
            </a:r>
          </a:p>
          <a:p>
            <a:pPr marL="914400" lvl="1" indent="-457200">
              <a:buFont typeface="+mj-lt"/>
              <a:buAutoNum type="arabicPeriod"/>
            </a:pPr>
            <a:r>
              <a:rPr lang="en-US" sz="2400" dirty="0">
                <a:solidFill>
                  <a:srgbClr val="C00000"/>
                </a:solidFill>
              </a:rPr>
              <a:t>Data Definition Language (DDL) triggers</a:t>
            </a:r>
          </a:p>
          <a:p>
            <a:pPr lvl="2"/>
            <a:r>
              <a:rPr lang="en-US" sz="2000" dirty="0"/>
              <a:t>DDL triggers are fired when DDL event occurs. i.e. when object is created, altered and dropped by a user. </a:t>
            </a:r>
          </a:p>
          <a:p>
            <a:pPr lvl="2"/>
            <a:r>
              <a:rPr lang="en-US" sz="2000" dirty="0"/>
              <a:t>These triggers are created at the database level or server level based on the type of DDL event.</a:t>
            </a:r>
          </a:p>
          <a:p>
            <a:pPr marL="914400" lvl="1" indent="-457200">
              <a:buFont typeface="+mj-lt"/>
              <a:buAutoNum type="arabicPeriod" startAt="2"/>
            </a:pPr>
            <a:r>
              <a:rPr lang="en-US" sz="2400" dirty="0">
                <a:solidFill>
                  <a:srgbClr val="C00000"/>
                </a:solidFill>
              </a:rPr>
              <a:t>Data Manipulation Language (DML) triggers</a:t>
            </a:r>
          </a:p>
          <a:p>
            <a:pPr lvl="2"/>
            <a:r>
              <a:rPr lang="en-US" sz="2000" dirty="0"/>
              <a:t>DML triggers are fired when a DML event occurs. i.e. when data is inserted/ updated/ deleted in the table by a user.</a:t>
            </a:r>
          </a:p>
          <a:p>
            <a:pPr lvl="2"/>
            <a:r>
              <a:rPr lang="en-US" sz="2000" dirty="0"/>
              <a:t>These triggers are created at the table level.</a:t>
            </a:r>
          </a:p>
          <a:p>
            <a:pPr lvl="2"/>
            <a:r>
              <a:rPr lang="en-US" sz="2000" dirty="0"/>
              <a:t>DML triggers have different types</a:t>
            </a:r>
          </a:p>
          <a:p>
            <a:pPr lvl="3"/>
            <a:r>
              <a:rPr lang="en-GB" b="1" dirty="0"/>
              <a:t>FOR or AFTER [INSERT, UPDATE, DELETE]</a:t>
            </a:r>
            <a:endParaRPr lang="en-GB" dirty="0"/>
          </a:p>
          <a:p>
            <a:pPr lvl="3"/>
            <a:r>
              <a:rPr lang="en-GB" b="1" dirty="0"/>
              <a:t>INSTEAD OF [INSERT, UPDATE, DELETE]</a:t>
            </a:r>
            <a:endParaRPr lang="en-US" sz="1800" dirty="0"/>
          </a:p>
          <a:p>
            <a:pPr marL="914400" lvl="1" indent="-457200">
              <a:buFont typeface="+mj-lt"/>
              <a:buAutoNum type="arabicPeriod" startAt="3"/>
            </a:pPr>
            <a:r>
              <a:rPr lang="en-US" sz="2400" dirty="0">
                <a:solidFill>
                  <a:srgbClr val="C00000"/>
                </a:solidFill>
              </a:rPr>
              <a:t>Logon triggers</a:t>
            </a:r>
          </a:p>
          <a:p>
            <a:pPr lvl="2"/>
            <a:r>
              <a:rPr lang="en-US" sz="2000" dirty="0"/>
              <a:t>These triggers are fired when LOGON event occurs. </a:t>
            </a:r>
          </a:p>
          <a:p>
            <a:pPr lvl="2"/>
            <a:r>
              <a:rPr lang="en-US" sz="2000" dirty="0"/>
              <a:t>LOGON triggers fired after successful authentication and before establishing the user session.</a:t>
            </a:r>
          </a:p>
        </p:txBody>
      </p:sp>
    </p:spTree>
    <p:extLst>
      <p:ext uri="{BB962C8B-B14F-4D97-AF65-F5344CB8AC3E}">
        <p14:creationId xmlns:p14="http://schemas.microsoft.com/office/powerpoint/2010/main" val="35650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DML Triggers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DML Triggers are of two types:</a:t>
            </a:r>
          </a:p>
          <a:p>
            <a:pPr marL="914400" lvl="1" indent="-457200">
              <a:buFont typeface="+mj-lt"/>
              <a:buAutoNum type="arabicPeriod"/>
            </a:pPr>
            <a:r>
              <a:rPr lang="en-US" sz="2400" b="1" dirty="0">
                <a:solidFill>
                  <a:schemeClr val="tx2"/>
                </a:solidFill>
              </a:rPr>
              <a:t>After trigger (using FOR/AFTER CLAUSE) : </a:t>
            </a:r>
          </a:p>
          <a:p>
            <a:pPr lvl="2"/>
            <a:r>
              <a:rPr lang="en-US" sz="2000" dirty="0"/>
              <a:t>After triggers are </a:t>
            </a:r>
            <a:r>
              <a:rPr lang="en-US" sz="2000" dirty="0">
                <a:solidFill>
                  <a:srgbClr val="C00000"/>
                </a:solidFill>
              </a:rPr>
              <a:t>execute after completing the execution of DML statements</a:t>
            </a:r>
            <a:r>
              <a:rPr lang="en-US" sz="2000" dirty="0"/>
              <a:t>.</a:t>
            </a:r>
          </a:p>
          <a:p>
            <a:pPr lvl="2"/>
            <a:r>
              <a:rPr lang="en-US" sz="2000" b="1" dirty="0"/>
              <a:t>Example:</a:t>
            </a:r>
            <a:r>
              <a:rPr lang="en-US" sz="2000" dirty="0"/>
              <a:t> If you insert a record/row into a table then the trigger related/associated with the insert event on this table will execute only after inserting the record into that table. </a:t>
            </a:r>
          </a:p>
          <a:p>
            <a:pPr lvl="2"/>
            <a:r>
              <a:rPr lang="en-US" sz="2000" dirty="0"/>
              <a:t>If the </a:t>
            </a:r>
            <a:r>
              <a:rPr lang="en-US" sz="2000" dirty="0">
                <a:solidFill>
                  <a:srgbClr val="C00000"/>
                </a:solidFill>
              </a:rPr>
              <a:t>record/row insertion fails</a:t>
            </a:r>
            <a:r>
              <a:rPr lang="en-US" sz="2000" dirty="0"/>
              <a:t>, SQL Server will </a:t>
            </a:r>
            <a:r>
              <a:rPr lang="en-US" sz="2000" dirty="0">
                <a:solidFill>
                  <a:srgbClr val="C00000"/>
                </a:solidFill>
              </a:rPr>
              <a:t>not execute the after trigger</a:t>
            </a:r>
            <a:r>
              <a:rPr lang="en-US" sz="2000" dirty="0"/>
              <a:t>.</a:t>
            </a:r>
          </a:p>
          <a:p>
            <a:pPr marL="914400" lvl="1" indent="-457200">
              <a:buFont typeface="+mj-lt"/>
              <a:buAutoNum type="arabicPeriod" startAt="2"/>
            </a:pPr>
            <a:r>
              <a:rPr lang="en-US" sz="2400" b="1" dirty="0">
                <a:solidFill>
                  <a:schemeClr val="tx2"/>
                </a:solidFill>
              </a:rPr>
              <a:t>Instead of Trigger (using INSTEAD OF CLAUSE) : </a:t>
            </a:r>
          </a:p>
          <a:p>
            <a:pPr lvl="2"/>
            <a:r>
              <a:rPr lang="en-US" sz="2000" dirty="0"/>
              <a:t>Instead of trigger are </a:t>
            </a:r>
            <a:r>
              <a:rPr lang="en-US" sz="2000" dirty="0">
                <a:solidFill>
                  <a:srgbClr val="C00000"/>
                </a:solidFill>
              </a:rPr>
              <a:t>execute before starts the execution of DML statements</a:t>
            </a:r>
            <a:r>
              <a:rPr lang="en-US" sz="2000" dirty="0"/>
              <a:t>. </a:t>
            </a:r>
          </a:p>
          <a:p>
            <a:pPr lvl="2"/>
            <a:r>
              <a:rPr lang="en-US" sz="2000" dirty="0"/>
              <a:t>An instead of </a:t>
            </a:r>
            <a:r>
              <a:rPr lang="en-US" sz="2000" dirty="0">
                <a:solidFill>
                  <a:srgbClr val="C00000"/>
                </a:solidFill>
              </a:rPr>
              <a:t>trigger allows us to skip an INSERT, DELETE, or UPDATE statement </a:t>
            </a:r>
            <a:r>
              <a:rPr lang="en-US" sz="2000" dirty="0"/>
              <a:t>to a table and execute other statements defined in the trigger instead. </a:t>
            </a:r>
          </a:p>
          <a:p>
            <a:pPr lvl="2"/>
            <a:r>
              <a:rPr lang="en-US" sz="2000" b="1" dirty="0">
                <a:solidFill>
                  <a:srgbClr val="C00000"/>
                </a:solidFill>
              </a:rPr>
              <a:t>The actual INSERT, DELETE or UPDATE operation does not occur at all</a:t>
            </a:r>
            <a:r>
              <a:rPr lang="en-US" sz="2000" dirty="0"/>
              <a:t>.</a:t>
            </a:r>
          </a:p>
          <a:p>
            <a:pPr lvl="3"/>
            <a:r>
              <a:rPr lang="en-US" sz="1800" b="1" dirty="0"/>
              <a:t>Example</a:t>
            </a:r>
            <a:r>
              <a:rPr lang="en-US" sz="1800" dirty="0"/>
              <a:t>: If you insert a record/row into a table then the trigger related/associated with the insert event on this table will be executed before inserting the record into that table. </a:t>
            </a:r>
          </a:p>
          <a:p>
            <a:pPr marL="914400" lvl="2" indent="0">
              <a:buNone/>
            </a:pPr>
            <a:endParaRPr lang="en-US" sz="2000" dirty="0"/>
          </a:p>
        </p:txBody>
      </p:sp>
    </p:spTree>
    <p:extLst>
      <p:ext uri="{BB962C8B-B14F-4D97-AF65-F5344CB8AC3E}">
        <p14:creationId xmlns:p14="http://schemas.microsoft.com/office/powerpoint/2010/main" val="324610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4FD87-CF1D-3DE2-FEED-85FA73EF62E0}"/>
              </a:ext>
            </a:extLst>
          </p:cNvPr>
          <p:cNvSpPr>
            <a:spLocks noGrp="1"/>
          </p:cNvSpPr>
          <p:nvPr>
            <p:ph type="title"/>
          </p:nvPr>
        </p:nvSpPr>
        <p:spPr/>
        <p:txBody>
          <a:bodyPr/>
          <a:lstStyle/>
          <a:p>
            <a:r>
              <a:rPr lang="en-US" dirty="0"/>
              <a:t>Syntax of Trigger</a:t>
            </a:r>
            <a:endParaRPr lang="en-GB" dirty="0"/>
          </a:p>
        </p:txBody>
      </p:sp>
      <p:sp>
        <p:nvSpPr>
          <p:cNvPr id="4" name="Rectangle 3">
            <a:extLst>
              <a:ext uri="{FF2B5EF4-FFF2-40B4-BE49-F238E27FC236}">
                <a16:creationId xmlns:a16="http://schemas.microsoft.com/office/drawing/2014/main" id="{2557ECAD-0448-629D-8AC8-276E967361C4}"/>
              </a:ext>
            </a:extLst>
          </p:cNvPr>
          <p:cNvSpPr/>
          <p:nvPr/>
        </p:nvSpPr>
        <p:spPr>
          <a:xfrm>
            <a:off x="694966" y="1192628"/>
            <a:ext cx="6247010" cy="3293209"/>
          </a:xfrm>
          <a:prstGeom prst="rect">
            <a:avLst/>
          </a:prstGeom>
          <a:solidFill>
            <a:schemeClr val="bg1">
              <a:lumMod val="95000"/>
            </a:schemeClr>
          </a:solidFill>
          <a:ln>
            <a:noFill/>
          </a:ln>
        </p:spPr>
        <p:txBody>
          <a:bodyPr wrap="square">
            <a:spAutoFit/>
          </a:bodyPr>
          <a:lstStyle/>
          <a:p>
            <a:pPr marL="87312"/>
            <a:r>
              <a:rPr lang="en-US" sz="1600" dirty="0">
                <a:solidFill>
                  <a:srgbClr val="0000FF"/>
                </a:solidFill>
                <a:latin typeface="Consolas" panose="020B0609020204030204" pitchFamily="49" charset="0"/>
              </a:rPr>
              <a:t>CREATE</a:t>
            </a:r>
            <a:r>
              <a:rPr lang="en-US" sz="1600" dirty="0">
                <a:solidFill>
                  <a:srgbClr val="000000"/>
                </a:solidFill>
                <a:latin typeface="Consolas" panose="020B0609020204030204" pitchFamily="49" charset="0"/>
              </a:rPr>
              <a:t> [OR </a:t>
            </a:r>
            <a:r>
              <a:rPr lang="en-US" sz="1600" dirty="0">
                <a:solidFill>
                  <a:srgbClr val="0000FF"/>
                </a:solidFill>
                <a:latin typeface="Consolas" panose="020B0609020204030204" pitchFamily="49" charset="0"/>
              </a:rPr>
              <a:t>ALTER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TRIGGER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Trigger_name</a:t>
            </a:r>
            <a:r>
              <a:rPr lang="en-US" sz="1600" dirty="0">
                <a:solidFill>
                  <a:srgbClr val="000000"/>
                </a:solidFill>
                <a:latin typeface="Consolas" panose="020B0609020204030204" pitchFamily="49" charset="0"/>
              </a:rPr>
              <a:t> </a:t>
            </a:r>
          </a:p>
          <a:p>
            <a:pPr marL="87312"/>
            <a:endParaRPr lang="en-US"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ON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Table_name</a:t>
            </a:r>
            <a:r>
              <a:rPr lang="en-GB" sz="1600" dirty="0">
                <a:solidFill>
                  <a:srgbClr val="000000"/>
                </a:solidFill>
                <a:latin typeface="Consolas" panose="020B0609020204030204" pitchFamily="49" charset="0"/>
              </a:rPr>
              <a:t> OR </a:t>
            </a:r>
            <a:r>
              <a:rPr lang="en-GB" sz="1600" dirty="0" err="1">
                <a:solidFill>
                  <a:srgbClr val="000000"/>
                </a:solidFill>
                <a:latin typeface="Consolas" panose="020B0609020204030204" pitchFamily="49" charset="0"/>
              </a:rPr>
              <a:t>view_name</a:t>
            </a:r>
            <a:endParaRPr lang="en-GB" sz="1600" dirty="0">
              <a:solidFill>
                <a:srgbClr val="000000"/>
              </a:solidFill>
              <a:latin typeface="Consolas" panose="020B0609020204030204" pitchFamily="49" charset="0"/>
            </a:endParaRPr>
          </a:p>
          <a:p>
            <a:pPr marL="87312"/>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FOR</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OR</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AFTER</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INSTEAD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OF</a:t>
            </a:r>
            <a:r>
              <a:rPr lang="en-GB" sz="1600" dirty="0">
                <a:solidFill>
                  <a:srgbClr val="000000"/>
                </a:solidFill>
                <a:latin typeface="Consolas" panose="020B0609020204030204" pitchFamily="49" charset="0"/>
              </a:rPr>
              <a:t>  </a:t>
            </a:r>
          </a:p>
          <a:p>
            <a:pPr marL="87312"/>
            <a:endParaRPr lang="en-GB" sz="1600" dirty="0">
              <a:solidFill>
                <a:srgbClr val="000000"/>
              </a:solidFill>
              <a:latin typeface="Consolas" panose="020B0609020204030204" pitchFamily="49" charset="0"/>
            </a:endParaRPr>
          </a:p>
          <a:p>
            <a:pPr marL="87312"/>
            <a:r>
              <a:rPr lang="en-GB" sz="1600" dirty="0">
                <a:solidFill>
                  <a:srgbClr val="000000"/>
                </a:solidFill>
                <a:latin typeface="Consolas" panose="020B0609020204030204" pitchFamily="49" charset="0"/>
              </a:rPr>
              <a:t>INSERT, UPDATE, DELETE </a:t>
            </a:r>
          </a:p>
          <a:p>
            <a:pPr marL="87312"/>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AS</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p>
          <a:p>
            <a:pPr marL="87312"/>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--SQL Statements (Body)</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	Executable</a:t>
            </a:r>
            <a:r>
              <a:rPr lang="en-GB" sz="1600" dirty="0">
                <a:solidFill>
                  <a:srgbClr val="000000"/>
                </a:solidFill>
                <a:latin typeface="Consolas" panose="020B0609020204030204" pitchFamily="49" charset="0"/>
              </a:rPr>
              <a:t> statements  </a:t>
            </a:r>
          </a:p>
          <a:p>
            <a:pPr marL="87312"/>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endParaRPr lang="en-US" sz="1600" dirty="0"/>
          </a:p>
        </p:txBody>
      </p:sp>
      <p:sp>
        <p:nvSpPr>
          <p:cNvPr id="5" name="Rectangle 4">
            <a:extLst>
              <a:ext uri="{FF2B5EF4-FFF2-40B4-BE49-F238E27FC236}">
                <a16:creationId xmlns:a16="http://schemas.microsoft.com/office/drawing/2014/main" id="{E61A2CE8-F6B8-75A2-11C9-BC2F1FE4FD54}"/>
              </a:ext>
            </a:extLst>
          </p:cNvPr>
          <p:cNvSpPr/>
          <p:nvPr/>
        </p:nvSpPr>
        <p:spPr>
          <a:xfrm>
            <a:off x="131180" y="1192628"/>
            <a:ext cx="579518" cy="329320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p:txBody>
      </p:sp>
      <p:sp>
        <p:nvSpPr>
          <p:cNvPr id="6" name="Rectangle: Top Corners Rounded 5">
            <a:extLst>
              <a:ext uri="{FF2B5EF4-FFF2-40B4-BE49-F238E27FC236}">
                <a16:creationId xmlns:a16="http://schemas.microsoft.com/office/drawing/2014/main" id="{71F25FAA-16D9-AE16-5056-BC07F02D226F}"/>
              </a:ext>
            </a:extLst>
          </p:cNvPr>
          <p:cNvSpPr/>
          <p:nvPr/>
        </p:nvSpPr>
        <p:spPr>
          <a:xfrm>
            <a:off x="131180" y="863444"/>
            <a:ext cx="145502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Trigger Syntax</a:t>
            </a:r>
          </a:p>
        </p:txBody>
      </p:sp>
    </p:spTree>
    <p:extLst>
      <p:ext uri="{BB962C8B-B14F-4D97-AF65-F5344CB8AC3E}">
        <p14:creationId xmlns:p14="http://schemas.microsoft.com/office/powerpoint/2010/main" val="243667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a:t>
            </a:r>
          </a:p>
        </p:txBody>
      </p:sp>
      <p:sp>
        <p:nvSpPr>
          <p:cNvPr id="3" name="Content Placeholder 2"/>
          <p:cNvSpPr>
            <a:spLocks noGrp="1"/>
          </p:cNvSpPr>
          <p:nvPr>
            <p:ph idx="1"/>
          </p:nvPr>
        </p:nvSpPr>
        <p:spPr/>
        <p:txBody>
          <a:bodyPr/>
          <a:lstStyle/>
          <a:p>
            <a:r>
              <a:rPr lang="en-US" dirty="0"/>
              <a:t>Create a trigger on department table for insert, update and delete statement to display a message “Record is affected”.</a:t>
            </a:r>
          </a:p>
          <a:p>
            <a:pPr marL="457200" lvl="1" indent="0">
              <a:buNone/>
            </a:pPr>
            <a:endParaRPr lang="en-US" dirty="0"/>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b="1" u="sng" dirty="0">
              <a:latin typeface="+mj-lt"/>
            </a:endParaRPr>
          </a:p>
          <a:p>
            <a:pPr marL="544512" lvl="1" indent="0">
              <a:buNone/>
            </a:pPr>
            <a:r>
              <a:rPr lang="en-GB" b="1" u="sng" dirty="0">
                <a:latin typeface="+mj-lt"/>
              </a:rPr>
              <a:t>Trigger Executed When…</a:t>
            </a:r>
          </a:p>
          <a:p>
            <a:pPr marL="887412" lvl="1" indent="-342900"/>
            <a:r>
              <a:rPr lang="en-US" dirty="0">
                <a:solidFill>
                  <a:srgbClr val="0000FF"/>
                </a:solidFill>
                <a:latin typeface="Consolas" panose="020B0609020204030204" pitchFamily="49" charset="0"/>
              </a:rPr>
              <a:t>Insert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into</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values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101</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'Computer Department’</a:t>
            </a:r>
            <a:r>
              <a:rPr lang="en-US" dirty="0">
                <a:solidFill>
                  <a:srgbClr val="808080"/>
                </a:solidFill>
                <a:latin typeface="Consolas" panose="020B0609020204030204" pitchFamily="49" charset="0"/>
              </a:rPr>
              <a:t>)</a:t>
            </a:r>
          </a:p>
          <a:p>
            <a:pPr marL="895350" lvl="1" indent="-354013"/>
            <a:r>
              <a:rPr lang="en-US" dirty="0">
                <a:solidFill>
                  <a:srgbClr val="FF00FF"/>
                </a:solidFill>
                <a:latin typeface="Consolas" panose="020B0609020204030204" pitchFamily="49" charset="0"/>
              </a:rPr>
              <a:t>Update</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Set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DepartmentName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'Acc Dept’</a:t>
            </a:r>
            <a:r>
              <a:rPr lang="en-US"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Where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DepartmentID</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4</a:t>
            </a:r>
          </a:p>
          <a:p>
            <a:pPr marL="895350" lvl="1" indent="-354013"/>
            <a:r>
              <a:rPr lang="en-US" dirty="0">
                <a:solidFill>
                  <a:srgbClr val="0000FF"/>
                </a:solidFill>
                <a:latin typeface="Consolas" panose="020B0609020204030204" pitchFamily="49" charset="0"/>
              </a:rPr>
              <a:t>Delete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DepartmentID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4</a:t>
            </a: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US" dirty="0"/>
          </a:p>
        </p:txBody>
      </p:sp>
      <p:sp>
        <p:nvSpPr>
          <p:cNvPr id="4" name="Rectangle 3">
            <a:extLst>
              <a:ext uri="{FF2B5EF4-FFF2-40B4-BE49-F238E27FC236}">
                <a16:creationId xmlns:a16="http://schemas.microsoft.com/office/drawing/2014/main" id="{ACAECD48-8BE6-B073-71E0-0A8846C04257}"/>
              </a:ext>
            </a:extLst>
          </p:cNvPr>
          <p:cNvSpPr/>
          <p:nvPr/>
        </p:nvSpPr>
        <p:spPr>
          <a:xfrm>
            <a:off x="1070750" y="2060374"/>
            <a:ext cx="6247010" cy="2076722"/>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Dept_Msg</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AFTER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UPDATE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DELETE</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PRINT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'Record is affected'</a:t>
            </a:r>
            <a:r>
              <a:rPr lang="en-GB" sz="1650" dirty="0">
                <a:solidFill>
                  <a:srgbClr val="000000"/>
                </a:solidFill>
                <a:latin typeface="Consolas" panose="020B0609020204030204" pitchFamily="49" charset="0"/>
              </a:rPr>
              <a:t>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p>
        </p:txBody>
      </p:sp>
      <p:sp>
        <p:nvSpPr>
          <p:cNvPr id="5" name="Rectangle 4">
            <a:extLst>
              <a:ext uri="{FF2B5EF4-FFF2-40B4-BE49-F238E27FC236}">
                <a16:creationId xmlns:a16="http://schemas.microsoft.com/office/drawing/2014/main" id="{159F5761-4E32-BB06-9781-59682E8FA39C}"/>
              </a:ext>
            </a:extLst>
          </p:cNvPr>
          <p:cNvSpPr/>
          <p:nvPr/>
        </p:nvSpPr>
        <p:spPr>
          <a:xfrm>
            <a:off x="506964" y="2060374"/>
            <a:ext cx="579518"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p:txBody>
      </p:sp>
      <p:sp>
        <p:nvSpPr>
          <p:cNvPr id="6" name="Rectangle: Top Corners Rounded 5">
            <a:extLst>
              <a:ext uri="{FF2B5EF4-FFF2-40B4-BE49-F238E27FC236}">
                <a16:creationId xmlns:a16="http://schemas.microsoft.com/office/drawing/2014/main" id="{4A7B11A3-03EC-6FFD-4DE4-EA8965C895BE}"/>
              </a:ext>
            </a:extLst>
          </p:cNvPr>
          <p:cNvSpPr/>
          <p:nvPr/>
        </p:nvSpPr>
        <p:spPr>
          <a:xfrm>
            <a:off x="506963" y="1731190"/>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Trigger Example</a:t>
            </a:r>
          </a:p>
        </p:txBody>
      </p:sp>
      <p:pic>
        <p:nvPicPr>
          <p:cNvPr id="8" name="Picture 7">
            <a:extLst>
              <a:ext uri="{FF2B5EF4-FFF2-40B4-BE49-F238E27FC236}">
                <a16:creationId xmlns:a16="http://schemas.microsoft.com/office/drawing/2014/main" id="{AACE4059-03AA-0D82-BB46-3504DAB2D2CF}"/>
              </a:ext>
            </a:extLst>
          </p:cNvPr>
          <p:cNvPicPr>
            <a:picLocks noChangeAspect="1"/>
          </p:cNvPicPr>
          <p:nvPr/>
        </p:nvPicPr>
        <p:blipFill>
          <a:blip r:embed="rId2"/>
          <a:stretch>
            <a:fillRect/>
          </a:stretch>
        </p:blipFill>
        <p:spPr>
          <a:xfrm>
            <a:off x="8033403" y="3125402"/>
            <a:ext cx="3811464" cy="997075"/>
          </a:xfrm>
          <a:prstGeom prst="rect">
            <a:avLst/>
          </a:prstGeom>
        </p:spPr>
      </p:pic>
      <p:sp>
        <p:nvSpPr>
          <p:cNvPr id="9" name="Rectangle: Top Corners Rounded 8">
            <a:extLst>
              <a:ext uri="{FF2B5EF4-FFF2-40B4-BE49-F238E27FC236}">
                <a16:creationId xmlns:a16="http://schemas.microsoft.com/office/drawing/2014/main" id="{E1AC8E97-6F96-3AC1-42EB-0C5808890B08}"/>
              </a:ext>
            </a:extLst>
          </p:cNvPr>
          <p:cNvSpPr/>
          <p:nvPr/>
        </p:nvSpPr>
        <p:spPr>
          <a:xfrm>
            <a:off x="8033403" y="2754883"/>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214032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[Insert]</a:t>
            </a:r>
          </a:p>
        </p:txBody>
      </p:sp>
      <p:sp>
        <p:nvSpPr>
          <p:cNvPr id="3" name="Content Placeholder 2"/>
          <p:cNvSpPr>
            <a:spLocks noGrp="1"/>
          </p:cNvSpPr>
          <p:nvPr>
            <p:ph idx="1"/>
          </p:nvPr>
        </p:nvSpPr>
        <p:spPr>
          <a:xfrm>
            <a:off x="131179" y="769437"/>
            <a:ext cx="11929641" cy="5590565"/>
          </a:xfrm>
        </p:spPr>
        <p:txBody>
          <a:bodyPr/>
          <a:lstStyle/>
          <a:p>
            <a:pPr lvl="0"/>
            <a:r>
              <a:rPr lang="en-US" dirty="0"/>
              <a:t>Create a trigger on department table for insert statement to insert description like (record with </a:t>
            </a:r>
            <a:r>
              <a:rPr lang="en-US" dirty="0" err="1"/>
              <a:t>deptid</a:t>
            </a:r>
            <a:r>
              <a:rPr lang="en-US" dirty="0"/>
              <a:t>=[103] is inserted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INSERTED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Insert Trigger</a:t>
            </a:r>
          </a:p>
        </p:txBody>
      </p:sp>
      <p:pic>
        <p:nvPicPr>
          <p:cNvPr id="8" name="Picture 7">
            <a:extLst>
              <a:ext uri="{FF2B5EF4-FFF2-40B4-BE49-F238E27FC236}">
                <a16:creationId xmlns:a16="http://schemas.microsoft.com/office/drawing/2014/main" id="{5C3D8F96-378E-B965-96DE-5869ADC2AA16}"/>
              </a:ext>
            </a:extLst>
          </p:cNvPr>
          <p:cNvPicPr>
            <a:picLocks noChangeAspect="1"/>
          </p:cNvPicPr>
          <p:nvPr/>
        </p:nvPicPr>
        <p:blipFill>
          <a:blip r:embed="rId2"/>
          <a:stretch>
            <a:fillRect/>
          </a:stretch>
        </p:blipFill>
        <p:spPr>
          <a:xfrm>
            <a:off x="432318" y="5962918"/>
            <a:ext cx="6897063" cy="619211"/>
          </a:xfrm>
          <a:prstGeom prst="rect">
            <a:avLst/>
          </a:prstGeom>
        </p:spPr>
      </p:pic>
      <p:sp>
        <p:nvSpPr>
          <p:cNvPr id="9" name="Rectangle: Top Corners Rounded 8">
            <a:extLst>
              <a:ext uri="{FF2B5EF4-FFF2-40B4-BE49-F238E27FC236}">
                <a16:creationId xmlns:a16="http://schemas.microsoft.com/office/drawing/2014/main" id="{BA612AC0-7035-F53B-D0A2-536559C149B8}"/>
              </a:ext>
            </a:extLst>
          </p:cNvPr>
          <p:cNvSpPr/>
          <p:nvPr/>
        </p:nvSpPr>
        <p:spPr>
          <a:xfrm>
            <a:off x="432318" y="5642201"/>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1" name="TextBox 10">
            <a:extLst>
              <a:ext uri="{FF2B5EF4-FFF2-40B4-BE49-F238E27FC236}">
                <a16:creationId xmlns:a16="http://schemas.microsoft.com/office/drawing/2014/main" id="{789C4B85-A966-3C56-7C29-4581FE5B6432}"/>
              </a:ext>
            </a:extLst>
          </p:cNvPr>
          <p:cNvSpPr txBox="1"/>
          <p:nvPr/>
        </p:nvSpPr>
        <p:spPr>
          <a:xfrm>
            <a:off x="317501" y="5226618"/>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429359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[Update]</a:t>
            </a:r>
          </a:p>
        </p:txBody>
      </p:sp>
      <p:sp>
        <p:nvSpPr>
          <p:cNvPr id="3" name="Content Placeholder 2"/>
          <p:cNvSpPr>
            <a:spLocks noGrp="1"/>
          </p:cNvSpPr>
          <p:nvPr>
            <p:ph idx="1"/>
          </p:nvPr>
        </p:nvSpPr>
        <p:spPr/>
        <p:txBody>
          <a:bodyPr/>
          <a:lstStyle/>
          <a:p>
            <a:pPr lvl="0"/>
            <a:r>
              <a:rPr lang="en-US" dirty="0"/>
              <a:t>Create a trigger on department table for update statement to insert description like (record with </a:t>
            </a:r>
            <a:r>
              <a:rPr lang="en-US" dirty="0" err="1"/>
              <a:t>deptid</a:t>
            </a:r>
            <a:r>
              <a:rPr lang="en-US" dirty="0"/>
              <a:t>=[103] is updated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Department_Update</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UPDATE</a:t>
            </a: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UPDATED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pic>
        <p:nvPicPr>
          <p:cNvPr id="8" name="Picture 7">
            <a:extLst>
              <a:ext uri="{FF2B5EF4-FFF2-40B4-BE49-F238E27FC236}">
                <a16:creationId xmlns:a16="http://schemas.microsoft.com/office/drawing/2014/main" id="{45BC49B7-6ECA-DEE6-93BE-FEEC5F73295B}"/>
              </a:ext>
            </a:extLst>
          </p:cNvPr>
          <p:cNvPicPr>
            <a:picLocks noChangeAspect="1"/>
          </p:cNvPicPr>
          <p:nvPr/>
        </p:nvPicPr>
        <p:blipFill>
          <a:blip r:embed="rId2"/>
          <a:stretch>
            <a:fillRect/>
          </a:stretch>
        </p:blipFill>
        <p:spPr>
          <a:xfrm>
            <a:off x="356118" y="5889673"/>
            <a:ext cx="6830378" cy="685896"/>
          </a:xfrm>
          <a:prstGeom prst="rect">
            <a:avLst/>
          </a:prstGeom>
        </p:spPr>
      </p:pic>
      <p:sp>
        <p:nvSpPr>
          <p:cNvPr id="9" name="Rectangle: Top Corners Rounded 8">
            <a:extLst>
              <a:ext uri="{FF2B5EF4-FFF2-40B4-BE49-F238E27FC236}">
                <a16:creationId xmlns:a16="http://schemas.microsoft.com/office/drawing/2014/main" id="{148D7FA8-E922-ECA8-B293-4A8C25415219}"/>
              </a:ext>
            </a:extLst>
          </p:cNvPr>
          <p:cNvSpPr/>
          <p:nvPr/>
        </p:nvSpPr>
        <p:spPr>
          <a:xfrm>
            <a:off x="432317" y="5616094"/>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0" name="TextBox 9">
            <a:extLst>
              <a:ext uri="{FF2B5EF4-FFF2-40B4-BE49-F238E27FC236}">
                <a16:creationId xmlns:a16="http://schemas.microsoft.com/office/drawing/2014/main" id="{D6EBC4AE-8061-DA6F-1D3A-1B34C94F1B9B}"/>
              </a:ext>
            </a:extLst>
          </p:cNvPr>
          <p:cNvSpPr txBox="1"/>
          <p:nvPr/>
        </p:nvSpPr>
        <p:spPr>
          <a:xfrm>
            <a:off x="356118" y="5211691"/>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305179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[Delete]</a:t>
            </a:r>
          </a:p>
        </p:txBody>
      </p:sp>
      <p:sp>
        <p:nvSpPr>
          <p:cNvPr id="3" name="Content Placeholder 2"/>
          <p:cNvSpPr>
            <a:spLocks noGrp="1"/>
          </p:cNvSpPr>
          <p:nvPr>
            <p:ph idx="1"/>
          </p:nvPr>
        </p:nvSpPr>
        <p:spPr/>
        <p:txBody>
          <a:bodyPr/>
          <a:lstStyle/>
          <a:p>
            <a:pPr lvl="0"/>
            <a:r>
              <a:rPr lang="en-US" dirty="0"/>
              <a:t>Create a trigger on department table for delete statement to insert description like (record with </a:t>
            </a:r>
            <a:r>
              <a:rPr lang="en-US" dirty="0" err="1"/>
              <a:t>deptid</a:t>
            </a:r>
            <a:r>
              <a:rPr lang="en-US" dirty="0"/>
              <a:t>=[103] is deleted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Department_Delete</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Delete</a:t>
            </a: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DELETED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DELETED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Delete Trigger</a:t>
            </a:r>
          </a:p>
        </p:txBody>
      </p:sp>
      <p:sp>
        <p:nvSpPr>
          <p:cNvPr id="7" name="TextBox 6">
            <a:extLst>
              <a:ext uri="{FF2B5EF4-FFF2-40B4-BE49-F238E27FC236}">
                <a16:creationId xmlns:a16="http://schemas.microsoft.com/office/drawing/2014/main" id="{802359E6-0E42-8C73-5F85-D10ED64E2079}"/>
              </a:ext>
            </a:extLst>
          </p:cNvPr>
          <p:cNvSpPr txBox="1"/>
          <p:nvPr/>
        </p:nvSpPr>
        <p:spPr>
          <a:xfrm>
            <a:off x="317501" y="5295628"/>
            <a:ext cx="6121400"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MSG</a:t>
            </a:r>
            <a:r>
              <a:rPr lang="en-IN" sz="1800" dirty="0">
                <a:solidFill>
                  <a:srgbClr val="808080"/>
                </a:solidFill>
                <a:latin typeface="Consolas" panose="020B0609020204030204" pitchFamily="49" charset="0"/>
              </a:rPr>
              <a:t>;</a:t>
            </a:r>
            <a:endParaRPr lang="en-IN" dirty="0"/>
          </a:p>
        </p:txBody>
      </p:sp>
      <p:sp>
        <p:nvSpPr>
          <p:cNvPr id="8" name="Rectangle: Top Corners Rounded 7">
            <a:extLst>
              <a:ext uri="{FF2B5EF4-FFF2-40B4-BE49-F238E27FC236}">
                <a16:creationId xmlns:a16="http://schemas.microsoft.com/office/drawing/2014/main" id="{62D52E03-B043-B471-0FA6-2536F4B57C71}"/>
              </a:ext>
            </a:extLst>
          </p:cNvPr>
          <p:cNvSpPr/>
          <p:nvPr/>
        </p:nvSpPr>
        <p:spPr>
          <a:xfrm>
            <a:off x="432317" y="5616094"/>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0" name="Picture 9">
            <a:extLst>
              <a:ext uri="{FF2B5EF4-FFF2-40B4-BE49-F238E27FC236}">
                <a16:creationId xmlns:a16="http://schemas.microsoft.com/office/drawing/2014/main" id="{7DFAB400-B01B-CB7B-535A-A4CA6BEDC638}"/>
              </a:ext>
            </a:extLst>
          </p:cNvPr>
          <p:cNvPicPr>
            <a:picLocks noChangeAspect="1"/>
          </p:cNvPicPr>
          <p:nvPr/>
        </p:nvPicPr>
        <p:blipFill>
          <a:blip r:embed="rId2"/>
          <a:stretch>
            <a:fillRect/>
          </a:stretch>
        </p:blipFill>
        <p:spPr>
          <a:xfrm>
            <a:off x="432317" y="5936486"/>
            <a:ext cx="7611537" cy="619211"/>
          </a:xfrm>
          <a:prstGeom prst="rect">
            <a:avLst/>
          </a:prstGeom>
        </p:spPr>
      </p:pic>
    </p:spTree>
    <p:extLst>
      <p:ext uri="{BB962C8B-B14F-4D97-AF65-F5344CB8AC3E}">
        <p14:creationId xmlns:p14="http://schemas.microsoft.com/office/powerpoint/2010/main" val="152760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[Custom] </a:t>
            </a:r>
          </a:p>
        </p:txBody>
      </p:sp>
      <p:sp>
        <p:nvSpPr>
          <p:cNvPr id="3" name="Content Placeholder 2"/>
          <p:cNvSpPr>
            <a:spLocks noGrp="1"/>
          </p:cNvSpPr>
          <p:nvPr>
            <p:ph idx="1"/>
          </p:nvPr>
        </p:nvSpPr>
        <p:spPr/>
        <p:txBody>
          <a:bodyPr/>
          <a:lstStyle/>
          <a:p>
            <a:pPr lvl="0"/>
            <a:r>
              <a:rPr lang="en-US" dirty="0"/>
              <a:t>Create a trigger on result table for insert statement to </a:t>
            </a:r>
            <a:r>
              <a:rPr lang="en-US" b="1" dirty="0"/>
              <a:t>update total marks automatically</a:t>
            </a:r>
            <a:r>
              <a:rPr lang="en-US" dirty="0"/>
              <a:t>. </a:t>
            </a:r>
          </a:p>
          <a:p>
            <a:pPr lvl="0"/>
            <a:r>
              <a:rPr lang="en-US" dirty="0"/>
              <a:t>Here </a:t>
            </a:r>
            <a:r>
              <a:rPr lang="en-US" b="1" dirty="0"/>
              <a:t>total marks is sum of sub1, sub2 and sub3</a:t>
            </a:r>
            <a:r>
              <a:rPr lang="en-US" dirty="0"/>
              <a:t>.</a:t>
            </a:r>
          </a:p>
          <a:p>
            <a:pPr lvl="0"/>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2090310"/>
            <a:ext cx="7953162" cy="4125232"/>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TR_TOTALMARKS</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RESULT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@S1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@S3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@TOTAL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SUB1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SUB2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SUB3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da-DK" sz="1650" dirty="0">
                <a:solidFill>
                  <a:srgbClr val="0000FF"/>
                </a:solidFill>
                <a:latin typeface="Consolas" panose="020B0609020204030204" pitchFamily="49" charset="0"/>
              </a:rPr>
              <a:t>	SET</a:t>
            </a:r>
            <a:r>
              <a:rPr lang="da-DK" sz="1650" dirty="0">
                <a:solidFill>
                  <a:srgbClr val="000000"/>
                </a:solidFill>
                <a:latin typeface="Consolas" panose="020B0609020204030204" pitchFamily="49" charset="0"/>
              </a:rPr>
              <a:t> @TOTAL</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 @S1</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@S2</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@S3</a:t>
            </a:r>
          </a:p>
          <a:p>
            <a:pPr marL="87312" algn="just">
              <a:lnSpc>
                <a:spcPct val="90000"/>
              </a:lnSpc>
              <a:spcBef>
                <a:spcPts val="500"/>
              </a:spcBef>
              <a:buClr>
                <a:srgbClr val="1D6FA9"/>
              </a:buClr>
            </a:pPr>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RESULT</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TOTAL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@TOTAL</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WHERE</a:t>
            </a:r>
            <a:r>
              <a:rPr lang="en-US" sz="1650" dirty="0">
                <a:solidFill>
                  <a:srgbClr val="000000"/>
                </a:solidFill>
                <a:latin typeface="Consolas" panose="020B0609020204030204" pitchFamily="49" charset="0"/>
              </a:rPr>
              <a:t> SUB1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@S1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@S2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@S3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endParaRPr lang="en-US" sz="1650" dirty="0">
              <a:solidFill>
                <a:srgbClr val="212121"/>
              </a:solidFill>
            </a:endParaRPr>
          </a:p>
        </p:txBody>
      </p:sp>
      <p:sp>
        <p:nvSpPr>
          <p:cNvPr id="5" name="Rectangle 4">
            <a:extLst>
              <a:ext uri="{FF2B5EF4-FFF2-40B4-BE49-F238E27FC236}">
                <a16:creationId xmlns:a16="http://schemas.microsoft.com/office/drawing/2014/main" id="{1191F4B8-5355-C9CF-D9C4-BA0D8824382C}"/>
              </a:ext>
            </a:extLst>
          </p:cNvPr>
          <p:cNvSpPr/>
          <p:nvPr/>
        </p:nvSpPr>
        <p:spPr>
          <a:xfrm>
            <a:off x="432319" y="2090310"/>
            <a:ext cx="579518" cy="415498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176112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pic>
        <p:nvPicPr>
          <p:cNvPr id="8" name="Picture 7">
            <a:extLst>
              <a:ext uri="{FF2B5EF4-FFF2-40B4-BE49-F238E27FC236}">
                <a16:creationId xmlns:a16="http://schemas.microsoft.com/office/drawing/2014/main" id="{7B05DE32-D122-7F71-5FFC-A559BE971807}"/>
              </a:ext>
            </a:extLst>
          </p:cNvPr>
          <p:cNvPicPr>
            <a:picLocks noChangeAspect="1"/>
          </p:cNvPicPr>
          <p:nvPr/>
        </p:nvPicPr>
        <p:blipFill>
          <a:blip r:embed="rId2"/>
          <a:stretch>
            <a:fillRect/>
          </a:stretch>
        </p:blipFill>
        <p:spPr>
          <a:xfrm>
            <a:off x="9211913" y="4035670"/>
            <a:ext cx="2547768" cy="542968"/>
          </a:xfrm>
          <a:prstGeom prst="rect">
            <a:avLst/>
          </a:prstGeom>
        </p:spPr>
      </p:pic>
      <p:sp>
        <p:nvSpPr>
          <p:cNvPr id="9" name="Rectangle: Top Corners Rounded 8">
            <a:extLst>
              <a:ext uri="{FF2B5EF4-FFF2-40B4-BE49-F238E27FC236}">
                <a16:creationId xmlns:a16="http://schemas.microsoft.com/office/drawing/2014/main" id="{7E8118F8-58AC-72D8-4C9B-32CD2952D010}"/>
              </a:ext>
            </a:extLst>
          </p:cNvPr>
          <p:cNvSpPr/>
          <p:nvPr/>
        </p:nvSpPr>
        <p:spPr>
          <a:xfrm>
            <a:off x="9211913" y="3734537"/>
            <a:ext cx="103112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94220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[Custom] </a:t>
            </a:r>
          </a:p>
        </p:txBody>
      </p:sp>
      <p:sp>
        <p:nvSpPr>
          <p:cNvPr id="3" name="Content Placeholder 2"/>
          <p:cNvSpPr>
            <a:spLocks noGrp="1"/>
          </p:cNvSpPr>
          <p:nvPr>
            <p:ph idx="1"/>
          </p:nvPr>
        </p:nvSpPr>
        <p:spPr/>
        <p:txBody>
          <a:bodyPr/>
          <a:lstStyle/>
          <a:p>
            <a:pPr lvl="0"/>
            <a:r>
              <a:rPr lang="en-US" dirty="0"/>
              <a:t>Create a trigger on result table for insert statement to </a:t>
            </a:r>
            <a:r>
              <a:rPr lang="en-US" b="1" dirty="0"/>
              <a:t>update total marks automatically</a:t>
            </a:r>
            <a:r>
              <a:rPr lang="en-US" dirty="0"/>
              <a:t>. </a:t>
            </a:r>
          </a:p>
          <a:p>
            <a:pPr lvl="0"/>
            <a:r>
              <a:rPr lang="en-US" dirty="0"/>
              <a:t>Here </a:t>
            </a:r>
            <a:r>
              <a:rPr lang="en-US" b="1" dirty="0"/>
              <a:t>total marks is sum of sub1, sub2 and sub3</a:t>
            </a:r>
            <a:r>
              <a:rPr lang="en-US" dirty="0"/>
              <a:t>.</a:t>
            </a:r>
          </a:p>
          <a:p>
            <a:pPr lvl="0"/>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2090310"/>
            <a:ext cx="8939203" cy="3832588"/>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TR_TOTALMARKS</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RESULT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@S1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@S3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@TOTAL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a:t>
            </a:r>
            <a:r>
              <a:rPr lang="en-US" sz="1650" dirty="0">
                <a:solidFill>
                  <a:srgbClr val="FF0000"/>
                </a:solidFill>
                <a:latin typeface="Consolas" panose="020B0609020204030204" pitchFamily="49" charset="0"/>
              </a:rPr>
              <a:t>SELECT @S1=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SUB1, @S2=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SUB2, @S3=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SUB3 </a:t>
            </a:r>
          </a:p>
          <a:p>
            <a:pPr marL="544512" lvl="1" algn="just">
              <a:lnSpc>
                <a:spcPct val="90000"/>
              </a:lnSpc>
              <a:spcBef>
                <a:spcPts val="500"/>
              </a:spcBef>
              <a:buClr>
                <a:srgbClr val="1D6FA9"/>
              </a:buClr>
            </a:pPr>
            <a:r>
              <a:rPr lang="en-US" sz="1650" dirty="0">
                <a:solidFill>
                  <a:srgbClr val="FF0000"/>
                </a:solidFill>
                <a:latin typeface="Consolas" panose="020B0609020204030204" pitchFamily="49" charset="0"/>
              </a:rPr>
              <a:t>   FROM </a:t>
            </a:r>
            <a:r>
              <a:rPr lang="en-US" sz="1650" b="1" dirty="0">
                <a:solidFill>
                  <a:srgbClr val="FF0000"/>
                </a:solidFill>
                <a:latin typeface="Consolas" panose="020B0609020204030204" pitchFamily="49" charset="0"/>
              </a:rPr>
              <a:t>INSERTED</a:t>
            </a:r>
          </a:p>
          <a:p>
            <a:pPr marL="87312" algn="just">
              <a:lnSpc>
                <a:spcPct val="90000"/>
              </a:lnSpc>
              <a:spcBef>
                <a:spcPts val="500"/>
              </a:spcBef>
              <a:buClr>
                <a:srgbClr val="1D6FA9"/>
              </a:buClr>
            </a:pPr>
            <a:r>
              <a:rPr lang="da-DK" sz="1650" dirty="0">
                <a:solidFill>
                  <a:srgbClr val="0000FF"/>
                </a:solidFill>
                <a:latin typeface="Consolas" panose="020B0609020204030204" pitchFamily="49" charset="0"/>
              </a:rPr>
              <a:t>	SET</a:t>
            </a:r>
            <a:r>
              <a:rPr lang="da-DK" sz="1650" dirty="0">
                <a:solidFill>
                  <a:srgbClr val="000000"/>
                </a:solidFill>
                <a:latin typeface="Consolas" panose="020B0609020204030204" pitchFamily="49" charset="0"/>
              </a:rPr>
              <a:t> @TOTAL</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 @S1</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@S2</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@S3</a:t>
            </a:r>
          </a:p>
          <a:p>
            <a:pPr marL="87312" algn="just">
              <a:lnSpc>
                <a:spcPct val="90000"/>
              </a:lnSpc>
              <a:spcBef>
                <a:spcPts val="500"/>
              </a:spcBef>
              <a:buClr>
                <a:srgbClr val="1D6FA9"/>
              </a:buClr>
            </a:pPr>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RESULT</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TOTAL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@TOTAL</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WHERE</a:t>
            </a:r>
            <a:r>
              <a:rPr lang="en-US" sz="1650" dirty="0">
                <a:solidFill>
                  <a:srgbClr val="000000"/>
                </a:solidFill>
                <a:latin typeface="Consolas" panose="020B0609020204030204" pitchFamily="49" charset="0"/>
              </a:rPr>
              <a:t> SUB1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@S1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@S2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@S3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endParaRPr lang="en-US" sz="1650" dirty="0">
              <a:solidFill>
                <a:srgbClr val="212121"/>
              </a:solidFill>
            </a:endParaRPr>
          </a:p>
        </p:txBody>
      </p:sp>
      <p:sp>
        <p:nvSpPr>
          <p:cNvPr id="5" name="Rectangle 4">
            <a:extLst>
              <a:ext uri="{FF2B5EF4-FFF2-40B4-BE49-F238E27FC236}">
                <a16:creationId xmlns:a16="http://schemas.microsoft.com/office/drawing/2014/main" id="{1191F4B8-5355-C9CF-D9C4-BA0D8824382C}"/>
              </a:ext>
            </a:extLst>
          </p:cNvPr>
          <p:cNvSpPr/>
          <p:nvPr/>
        </p:nvSpPr>
        <p:spPr>
          <a:xfrm>
            <a:off x="432319" y="2090310"/>
            <a:ext cx="579518" cy="390106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176112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spTree>
    <p:extLst>
      <p:ext uri="{BB962C8B-B14F-4D97-AF65-F5344CB8AC3E}">
        <p14:creationId xmlns:p14="http://schemas.microsoft.com/office/powerpoint/2010/main" val="320789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2477-C5E6-4247-4C70-D60E0DE0B15B}"/>
              </a:ext>
            </a:extLst>
          </p:cNvPr>
          <p:cNvSpPr>
            <a:spLocks noGrp="1"/>
          </p:cNvSpPr>
          <p:nvPr>
            <p:ph type="title"/>
          </p:nvPr>
        </p:nvSpPr>
        <p:spPr/>
        <p:txBody>
          <a:bodyPr/>
          <a:lstStyle/>
          <a:p>
            <a:r>
              <a:rPr lang="en-US" dirty="0"/>
              <a:t>Trigger [Practice]</a:t>
            </a:r>
            <a:endParaRPr lang="en-GB" dirty="0"/>
          </a:p>
        </p:txBody>
      </p:sp>
      <p:graphicFrame>
        <p:nvGraphicFramePr>
          <p:cNvPr id="4" name="Content Placeholder 4">
            <a:extLst>
              <a:ext uri="{FF2B5EF4-FFF2-40B4-BE49-F238E27FC236}">
                <a16:creationId xmlns:a16="http://schemas.microsoft.com/office/drawing/2014/main" id="{9DD5ED74-CCEB-0B3E-B2AC-3DDC63428BBA}"/>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5" name="Content Placeholder 4">
            <a:extLst>
              <a:ext uri="{FF2B5EF4-FFF2-40B4-BE49-F238E27FC236}">
                <a16:creationId xmlns:a16="http://schemas.microsoft.com/office/drawing/2014/main" id="{82E8ADC2-DF14-359D-B349-5D0DCAD02B6F}"/>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pSp>
        <p:nvGrpSpPr>
          <p:cNvPr id="6" name="Group 5">
            <a:extLst>
              <a:ext uri="{FF2B5EF4-FFF2-40B4-BE49-F238E27FC236}">
                <a16:creationId xmlns:a16="http://schemas.microsoft.com/office/drawing/2014/main" id="{32CFF17C-2F7C-1CB3-F439-E587C6FEAB8F}"/>
              </a:ext>
            </a:extLst>
          </p:cNvPr>
          <p:cNvGrpSpPr/>
          <p:nvPr/>
        </p:nvGrpSpPr>
        <p:grpSpPr>
          <a:xfrm>
            <a:off x="4626537" y="1276375"/>
            <a:ext cx="7087496" cy="3427593"/>
            <a:chOff x="428231" y="2718637"/>
            <a:chExt cx="11064239" cy="1499167"/>
          </a:xfrm>
        </p:grpSpPr>
        <p:sp>
          <p:nvSpPr>
            <p:cNvPr id="7" name="Rectangle 6">
              <a:extLst>
                <a:ext uri="{FF2B5EF4-FFF2-40B4-BE49-F238E27FC236}">
                  <a16:creationId xmlns:a16="http://schemas.microsoft.com/office/drawing/2014/main" id="{C96FEA9C-1534-7353-A8FE-09F22C92D913}"/>
                </a:ext>
              </a:extLst>
            </p:cNvPr>
            <p:cNvSpPr/>
            <p:nvPr/>
          </p:nvSpPr>
          <p:spPr>
            <a:xfrm>
              <a:off x="428231" y="2796446"/>
              <a:ext cx="11064239" cy="1421358"/>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468000" rIns="108000" bIns="108000" rtlCol="0" anchor="ctr"/>
            <a:lstStyle/>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Record in another table when any one updates in student table.</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message in another table with name when any record is Inserted.</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message with </a:t>
              </a:r>
              <a:r>
                <a:rPr lang="en-US" sz="2200" dirty="0" err="1">
                  <a:solidFill>
                    <a:schemeClr val="tx1"/>
                  </a:solidFill>
                  <a:latin typeface="+mj-lt"/>
                  <a:cs typeface="Lohit Gujarati" panose="020B0600000000000000" pitchFamily="34" charset="0"/>
                </a:rPr>
                <a:t>Rno</a:t>
              </a:r>
              <a:r>
                <a:rPr lang="en-US" sz="2200" dirty="0">
                  <a:solidFill>
                    <a:schemeClr val="tx1"/>
                  </a:solidFill>
                  <a:latin typeface="+mj-lt"/>
                  <a:cs typeface="Lohit Gujarati" panose="020B0600000000000000" pitchFamily="34" charset="0"/>
                </a:rPr>
                <a:t> in another log table when any record is deleted.</a:t>
              </a:r>
            </a:p>
          </p:txBody>
        </p:sp>
        <p:sp>
          <p:nvSpPr>
            <p:cNvPr id="8" name="Rounded Rectangle 5">
              <a:extLst>
                <a:ext uri="{FF2B5EF4-FFF2-40B4-BE49-F238E27FC236}">
                  <a16:creationId xmlns:a16="http://schemas.microsoft.com/office/drawing/2014/main" id="{A0702EEF-F482-45A6-1F21-AE23F22E1A1D}"/>
                </a:ext>
              </a:extLst>
            </p:cNvPr>
            <p:cNvSpPr/>
            <p:nvPr/>
          </p:nvSpPr>
          <p:spPr>
            <a:xfrm>
              <a:off x="428233" y="2718637"/>
              <a:ext cx="2973710" cy="155618"/>
            </a:xfrm>
            <a:prstGeom prst="roundRect">
              <a:avLst>
                <a:gd name="adj" fmla="val 13506"/>
              </a:avLst>
            </a:prstGeom>
            <a:solidFill>
              <a:schemeClr val="tx2"/>
            </a:solidFill>
            <a:ln>
              <a:noFill/>
            </a:ln>
            <a:effectLst>
              <a:outerShdw blurRad="177800" sx="102000" sy="102000" algn="ctr"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mj-lt"/>
                </a:rPr>
                <a:t>Do it yourself!</a:t>
              </a:r>
              <a:endParaRPr lang="en-US" sz="2400" dirty="0">
                <a:latin typeface="+mj-lt"/>
              </a:endParaRPr>
            </a:p>
          </p:txBody>
        </p:sp>
      </p:grpSp>
    </p:spTree>
    <p:extLst>
      <p:ext uri="{BB962C8B-B14F-4D97-AF65-F5344CB8AC3E}">
        <p14:creationId xmlns:p14="http://schemas.microsoft.com/office/powerpoint/2010/main" val="12431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24B-33CE-3ABA-2889-6D0895CE5AB2}"/>
              </a:ext>
            </a:extLst>
          </p:cNvPr>
          <p:cNvSpPr>
            <a:spLocks noGrp="1"/>
          </p:cNvSpPr>
          <p:nvPr>
            <p:ph type="title"/>
          </p:nvPr>
        </p:nvSpPr>
        <p:spPr/>
        <p:txBody>
          <a:bodyPr/>
          <a:lstStyle/>
          <a:p>
            <a:r>
              <a:rPr lang="en-US" dirty="0"/>
              <a:t>Advantages of Triggers</a:t>
            </a:r>
            <a:endParaRPr lang="en-GB" dirty="0"/>
          </a:p>
        </p:txBody>
      </p:sp>
      <p:sp>
        <p:nvSpPr>
          <p:cNvPr id="3" name="Content Placeholder 2">
            <a:extLst>
              <a:ext uri="{FF2B5EF4-FFF2-40B4-BE49-F238E27FC236}">
                <a16:creationId xmlns:a16="http://schemas.microsoft.com/office/drawing/2014/main" id="{919BA281-C2D9-7590-C55F-D55442ECDCB1}"/>
              </a:ext>
            </a:extLst>
          </p:cNvPr>
          <p:cNvSpPr>
            <a:spLocks noGrp="1"/>
          </p:cNvSpPr>
          <p:nvPr>
            <p:ph idx="1"/>
          </p:nvPr>
        </p:nvSpPr>
        <p:spPr/>
        <p:txBody>
          <a:bodyPr/>
          <a:lstStyle/>
          <a:p>
            <a:r>
              <a:rPr lang="en-US" dirty="0"/>
              <a:t>Triggers are </a:t>
            </a:r>
            <a:r>
              <a:rPr lang="en-US" dirty="0">
                <a:solidFill>
                  <a:srgbClr val="C00000"/>
                </a:solidFill>
              </a:rPr>
              <a:t>easy to code</a:t>
            </a:r>
            <a:r>
              <a:rPr lang="en-US" dirty="0"/>
              <a:t>.</a:t>
            </a:r>
          </a:p>
          <a:p>
            <a:r>
              <a:rPr lang="en-US" dirty="0"/>
              <a:t>You </a:t>
            </a:r>
            <a:r>
              <a:rPr lang="en-US" dirty="0">
                <a:solidFill>
                  <a:srgbClr val="C00000"/>
                </a:solidFill>
              </a:rPr>
              <a:t>can call stored procedures </a:t>
            </a:r>
            <a:r>
              <a:rPr lang="en-US" dirty="0"/>
              <a:t>and </a:t>
            </a:r>
            <a:r>
              <a:rPr lang="en-US" dirty="0">
                <a:solidFill>
                  <a:srgbClr val="C00000"/>
                </a:solidFill>
              </a:rPr>
              <a:t>functions from inside a trigger</a:t>
            </a:r>
            <a:r>
              <a:rPr lang="en-US" dirty="0"/>
              <a:t>.</a:t>
            </a:r>
          </a:p>
          <a:p>
            <a:r>
              <a:rPr lang="en-US" dirty="0"/>
              <a:t>Triggers are </a:t>
            </a:r>
            <a:r>
              <a:rPr lang="en-US" dirty="0">
                <a:solidFill>
                  <a:srgbClr val="C00000"/>
                </a:solidFill>
              </a:rPr>
              <a:t>useful</a:t>
            </a:r>
            <a:r>
              <a:rPr lang="en-US" dirty="0"/>
              <a:t> when you </a:t>
            </a:r>
            <a:r>
              <a:rPr lang="en-US" dirty="0">
                <a:solidFill>
                  <a:srgbClr val="C00000"/>
                </a:solidFill>
              </a:rPr>
              <a:t>need to validate inserted or updated data in batches</a:t>
            </a:r>
            <a:r>
              <a:rPr lang="en-US" dirty="0"/>
              <a:t>.</a:t>
            </a:r>
          </a:p>
          <a:p>
            <a:r>
              <a:rPr lang="en-US" dirty="0"/>
              <a:t>Triggers are useful if you need to be sure that certain events always happen when data is inserted, updated or deleted. </a:t>
            </a:r>
          </a:p>
          <a:p>
            <a:pPr lvl="1"/>
            <a:r>
              <a:rPr lang="en-US" dirty="0"/>
              <a:t>This is the case when you have to deal with complex default values of columns, or modify the data of other tables.</a:t>
            </a:r>
          </a:p>
          <a:p>
            <a:endParaRPr lang="en-US" dirty="0"/>
          </a:p>
          <a:p>
            <a:endParaRPr lang="en-US" dirty="0"/>
          </a:p>
          <a:p>
            <a:endParaRPr lang="en-GB" dirty="0"/>
          </a:p>
        </p:txBody>
      </p:sp>
    </p:spTree>
    <p:extLst>
      <p:ext uri="{BB962C8B-B14F-4D97-AF65-F5344CB8AC3E}">
        <p14:creationId xmlns:p14="http://schemas.microsoft.com/office/powerpoint/2010/main" val="1488238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24B-33CE-3ABA-2889-6D0895CE5AB2}"/>
              </a:ext>
            </a:extLst>
          </p:cNvPr>
          <p:cNvSpPr>
            <a:spLocks noGrp="1"/>
          </p:cNvSpPr>
          <p:nvPr>
            <p:ph type="title"/>
          </p:nvPr>
        </p:nvSpPr>
        <p:spPr/>
        <p:txBody>
          <a:bodyPr/>
          <a:lstStyle/>
          <a:p>
            <a:r>
              <a:rPr lang="en-US" dirty="0"/>
              <a:t>Disadvantages of Triggers</a:t>
            </a:r>
            <a:endParaRPr lang="en-GB" dirty="0"/>
          </a:p>
        </p:txBody>
      </p:sp>
      <p:sp>
        <p:nvSpPr>
          <p:cNvPr id="3" name="Content Placeholder 2">
            <a:extLst>
              <a:ext uri="{FF2B5EF4-FFF2-40B4-BE49-F238E27FC236}">
                <a16:creationId xmlns:a16="http://schemas.microsoft.com/office/drawing/2014/main" id="{919BA281-C2D9-7590-C55F-D55442ECDCB1}"/>
              </a:ext>
            </a:extLst>
          </p:cNvPr>
          <p:cNvSpPr>
            <a:spLocks noGrp="1"/>
          </p:cNvSpPr>
          <p:nvPr>
            <p:ph idx="1"/>
          </p:nvPr>
        </p:nvSpPr>
        <p:spPr/>
        <p:txBody>
          <a:bodyPr/>
          <a:lstStyle/>
          <a:p>
            <a:r>
              <a:rPr lang="en-US" dirty="0"/>
              <a:t>Triggers </a:t>
            </a:r>
            <a:r>
              <a:rPr lang="en-US" dirty="0">
                <a:solidFill>
                  <a:srgbClr val="C00000"/>
                </a:solidFill>
              </a:rPr>
              <a:t>needs to be properly documented</a:t>
            </a:r>
            <a:r>
              <a:rPr lang="en-US" dirty="0"/>
              <a:t>.</a:t>
            </a:r>
          </a:p>
          <a:p>
            <a:r>
              <a:rPr lang="en-US" dirty="0"/>
              <a:t>Triggers </a:t>
            </a:r>
            <a:r>
              <a:rPr lang="en-US" dirty="0">
                <a:solidFill>
                  <a:srgbClr val="C00000"/>
                </a:solidFill>
              </a:rPr>
              <a:t>add overhead to DML statements</a:t>
            </a:r>
            <a:r>
              <a:rPr lang="en-US" dirty="0"/>
              <a:t>.</a:t>
            </a:r>
          </a:p>
          <a:p>
            <a:r>
              <a:rPr lang="en-US" dirty="0"/>
              <a:t>If there are many </a:t>
            </a:r>
            <a:r>
              <a:rPr lang="en-US" dirty="0">
                <a:solidFill>
                  <a:srgbClr val="C00000"/>
                </a:solidFill>
              </a:rPr>
              <a:t>nested triggers </a:t>
            </a:r>
            <a:r>
              <a:rPr lang="en-US" dirty="0"/>
              <a:t>it could </a:t>
            </a:r>
            <a:r>
              <a:rPr lang="en-US" dirty="0">
                <a:solidFill>
                  <a:srgbClr val="C00000"/>
                </a:solidFill>
              </a:rPr>
              <a:t>get very hard to debug and troubleshoot</a:t>
            </a:r>
            <a:r>
              <a:rPr lang="en-US" dirty="0"/>
              <a:t>, which consumes development time and resources.</a:t>
            </a:r>
          </a:p>
          <a:p>
            <a:endParaRPr lang="en-US" dirty="0"/>
          </a:p>
          <a:p>
            <a:endParaRPr lang="en-GB" dirty="0"/>
          </a:p>
        </p:txBody>
      </p:sp>
    </p:spTree>
    <p:extLst>
      <p:ext uri="{BB962C8B-B14F-4D97-AF65-F5344CB8AC3E}">
        <p14:creationId xmlns:p14="http://schemas.microsoft.com/office/powerpoint/2010/main" val="202487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F62A7-32F5-AC97-DC6B-ADFAFD6618C1}"/>
              </a:ext>
            </a:extLst>
          </p:cNvPr>
          <p:cNvSpPr>
            <a:spLocks noGrp="1"/>
          </p:cNvSpPr>
          <p:nvPr>
            <p:ph type="title"/>
          </p:nvPr>
        </p:nvSpPr>
        <p:spPr/>
        <p:txBody>
          <a:bodyPr/>
          <a:lstStyle/>
          <a:p>
            <a:r>
              <a:rPr lang="en-GB" dirty="0"/>
              <a:t>Application of Triggers</a:t>
            </a:r>
            <a:endParaRPr lang="en-IN" dirty="0"/>
          </a:p>
        </p:txBody>
      </p:sp>
      <p:sp>
        <p:nvSpPr>
          <p:cNvPr id="3" name="Content Placeholder 2">
            <a:extLst>
              <a:ext uri="{FF2B5EF4-FFF2-40B4-BE49-F238E27FC236}">
                <a16:creationId xmlns:a16="http://schemas.microsoft.com/office/drawing/2014/main" id="{AB804193-B2A0-BD50-472E-119A9DA56D38}"/>
              </a:ext>
            </a:extLst>
          </p:cNvPr>
          <p:cNvSpPr>
            <a:spLocks noGrp="1"/>
          </p:cNvSpPr>
          <p:nvPr>
            <p:ph idx="1"/>
          </p:nvPr>
        </p:nvSpPr>
        <p:spPr/>
        <p:txBody>
          <a:bodyPr/>
          <a:lstStyle/>
          <a:p>
            <a:r>
              <a:rPr lang="en-US" b="1" dirty="0">
                <a:solidFill>
                  <a:schemeClr val="tx2"/>
                </a:solidFill>
              </a:rPr>
              <a:t>Auditing Data Changes</a:t>
            </a:r>
          </a:p>
          <a:p>
            <a:pPr lvl="1"/>
            <a:r>
              <a:rPr lang="en-US" dirty="0"/>
              <a:t>Track INSERT, UPDATE, and DELETE operations in an audit table.</a:t>
            </a:r>
            <a:endParaRPr lang="en-IN" dirty="0"/>
          </a:p>
          <a:p>
            <a:r>
              <a:rPr lang="en-US" b="1" dirty="0">
                <a:solidFill>
                  <a:schemeClr val="tx2"/>
                </a:solidFill>
              </a:rPr>
              <a:t>Enforcing Business Rules</a:t>
            </a:r>
          </a:p>
          <a:p>
            <a:pPr lvl="1"/>
            <a:r>
              <a:rPr lang="en-US" dirty="0"/>
              <a:t>Prevent certain actions, such as salary updates exceeding a limit.</a:t>
            </a:r>
          </a:p>
          <a:p>
            <a:r>
              <a:rPr lang="en-US" b="1" dirty="0">
                <a:solidFill>
                  <a:schemeClr val="tx2"/>
                </a:solidFill>
              </a:rPr>
              <a:t>Cascading Actions</a:t>
            </a:r>
          </a:p>
          <a:p>
            <a:pPr lvl="1"/>
            <a:r>
              <a:rPr lang="en-US" dirty="0"/>
              <a:t>Automatically update dependent tables when changes occur in the main table.</a:t>
            </a:r>
          </a:p>
          <a:p>
            <a:r>
              <a:rPr lang="en-US" b="1" dirty="0">
                <a:solidFill>
                  <a:schemeClr val="tx2"/>
                </a:solidFill>
              </a:rPr>
              <a:t>Preventing Deletion of Important Records</a:t>
            </a:r>
          </a:p>
          <a:p>
            <a:pPr lvl="1"/>
            <a:r>
              <a:rPr lang="en-US" dirty="0"/>
              <a:t>Block deletion of specific critical data.</a:t>
            </a:r>
          </a:p>
          <a:p>
            <a:pPr marL="0" indent="0">
              <a:buNone/>
            </a:pPr>
            <a:endParaRPr lang="en-US" dirty="0"/>
          </a:p>
        </p:txBody>
      </p:sp>
    </p:spTree>
    <p:extLst>
      <p:ext uri="{BB962C8B-B14F-4D97-AF65-F5344CB8AC3E}">
        <p14:creationId xmlns:p14="http://schemas.microsoft.com/office/powerpoint/2010/main" val="89408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Cursors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3953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 Cursor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C00000"/>
                </a:solidFill>
              </a:rPr>
              <a:t>Cursor</a:t>
            </a:r>
            <a:r>
              <a:rPr lang="en-US" dirty="0"/>
              <a:t> is a </a:t>
            </a:r>
            <a:r>
              <a:rPr lang="en-US" b="1" dirty="0">
                <a:solidFill>
                  <a:srgbClr val="C00000"/>
                </a:solidFill>
              </a:rPr>
              <a:t>Temporary Memory or Temporary Work Station</a:t>
            </a:r>
            <a:r>
              <a:rPr lang="en-US" dirty="0"/>
              <a:t>.</a:t>
            </a:r>
          </a:p>
          <a:p>
            <a:r>
              <a:rPr lang="en-US" dirty="0"/>
              <a:t>It is Allocated by Database Server at the time of performing DML(Data Manipulation Language) operations on table by User.</a:t>
            </a:r>
          </a:p>
          <a:p>
            <a:r>
              <a:rPr lang="en-US" dirty="0"/>
              <a:t>A SQL cursor is a database object that is used to retrieve data from a result set one row at a time.</a:t>
            </a:r>
          </a:p>
          <a:p>
            <a:r>
              <a:rPr lang="en-US" dirty="0"/>
              <a:t>Cursors are used to store Database Tables.</a:t>
            </a:r>
          </a:p>
          <a:p>
            <a:r>
              <a:rPr lang="en-US" dirty="0"/>
              <a:t>A SQL cursor is used when the data needs to be </a:t>
            </a:r>
            <a:r>
              <a:rPr lang="en-US" dirty="0">
                <a:solidFill>
                  <a:srgbClr val="C00000"/>
                </a:solidFill>
              </a:rPr>
              <a:t>updated row by row</a:t>
            </a:r>
            <a:r>
              <a:rPr lang="en-US" dirty="0"/>
              <a:t>. </a:t>
            </a:r>
          </a:p>
          <a:p>
            <a:r>
              <a:rPr lang="en-US" dirty="0"/>
              <a:t>The purpose for the cursor may be to update one row at a time or perform an administrative process such as SQL Server database backups in a sequential manner.</a:t>
            </a:r>
          </a:p>
          <a:p>
            <a:r>
              <a:rPr lang="en-US" dirty="0"/>
              <a:t>We use a cursor to iterate over a set of rows; we can change it to a WHILE loop as </a:t>
            </a:r>
            <a:r>
              <a:rPr lang="en-US" b="1" dirty="0">
                <a:solidFill>
                  <a:srgbClr val="C00000"/>
                </a:solidFill>
              </a:rPr>
              <a:t>FOR loops are not available in T-SQL</a:t>
            </a:r>
            <a:r>
              <a:rPr lang="en-US" dirty="0"/>
              <a:t>.</a:t>
            </a:r>
          </a:p>
          <a:p>
            <a:r>
              <a:rPr lang="en-US" dirty="0"/>
              <a:t>In such cases, the only challenge will be to choose a </a:t>
            </a:r>
            <a:r>
              <a:rPr lang="en-US" dirty="0">
                <a:solidFill>
                  <a:srgbClr val="C00000"/>
                </a:solidFill>
              </a:rPr>
              <a:t>proper exit condition</a:t>
            </a:r>
            <a:r>
              <a:rPr lang="en-US" dirty="0"/>
              <a:t>.</a:t>
            </a:r>
          </a:p>
          <a:p>
            <a:endParaRPr lang="en-US" dirty="0"/>
          </a:p>
          <a:p>
            <a:endParaRPr lang="en-US" dirty="0"/>
          </a:p>
        </p:txBody>
      </p:sp>
    </p:spTree>
    <p:extLst>
      <p:ext uri="{BB962C8B-B14F-4D97-AF65-F5344CB8AC3E}">
        <p14:creationId xmlns:p14="http://schemas.microsoft.com/office/powerpoint/2010/main" val="245809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Cursor </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457200" indent="-457200">
              <a:lnSpc>
                <a:spcPct val="100000"/>
              </a:lnSpc>
              <a:buFont typeface="+mj-lt"/>
              <a:buAutoNum type="arabicPeriod"/>
            </a:pPr>
            <a:r>
              <a:rPr lang="en-US" b="1" dirty="0"/>
              <a:t>Implicit Cursor</a:t>
            </a:r>
          </a:p>
          <a:p>
            <a:pPr marL="1001712" lvl="1" indent="-457200">
              <a:lnSpc>
                <a:spcPct val="100000"/>
              </a:lnSpc>
            </a:pPr>
            <a:r>
              <a:rPr lang="en-US" dirty="0"/>
              <a:t>The </a:t>
            </a:r>
            <a:r>
              <a:rPr lang="en-US" dirty="0">
                <a:solidFill>
                  <a:srgbClr val="C00000"/>
                </a:solidFill>
              </a:rPr>
              <a:t>SQL server generates implicit cursors automatically or by default</a:t>
            </a:r>
            <a:r>
              <a:rPr lang="en-US" dirty="0"/>
              <a:t>. It opens a cursor for internal processing.</a:t>
            </a:r>
          </a:p>
          <a:p>
            <a:pPr marL="1001712" lvl="1" indent="-457200">
              <a:lnSpc>
                <a:spcPct val="100000"/>
              </a:lnSpc>
            </a:pPr>
            <a:r>
              <a:rPr lang="en-US" dirty="0"/>
              <a:t>Implicit cursors are created by default to process the statements when DML statements (INSERT, UPDATE, DELETE) are executed.</a:t>
            </a:r>
          </a:p>
          <a:p>
            <a:pPr marL="457200" indent="-457200">
              <a:lnSpc>
                <a:spcPct val="100000"/>
              </a:lnSpc>
              <a:buFont typeface="+mj-lt"/>
              <a:buAutoNum type="arabicPeriod"/>
            </a:pPr>
            <a:r>
              <a:rPr lang="en-US" b="1" dirty="0"/>
              <a:t>Explicit Cursor</a:t>
            </a:r>
          </a:p>
          <a:p>
            <a:pPr marL="1001712" lvl="1" indent="-457200">
              <a:lnSpc>
                <a:spcPct val="100000"/>
              </a:lnSpc>
            </a:pPr>
            <a:r>
              <a:rPr lang="en-US" dirty="0"/>
              <a:t>If a cursor is opened for processing data through a PL/SQL block as per requirement like </a:t>
            </a:r>
            <a:r>
              <a:rPr lang="en-US" dirty="0">
                <a:solidFill>
                  <a:srgbClr val="C00000"/>
                </a:solidFill>
              </a:rPr>
              <a:t>user defined cursor, is known as an Explicit cursor</a:t>
            </a:r>
            <a:r>
              <a:rPr lang="en-US" dirty="0"/>
              <a:t>.</a:t>
            </a:r>
          </a:p>
          <a:p>
            <a:pPr marL="1001712" lvl="1" indent="-457200">
              <a:lnSpc>
                <a:spcPct val="100000"/>
              </a:lnSpc>
            </a:pPr>
            <a:r>
              <a:rPr lang="en-US" dirty="0"/>
              <a:t>Explicit cursor is created while executing a SELECT statement that returns more than one row.</a:t>
            </a:r>
          </a:p>
          <a:p>
            <a:pPr marL="1001712" lvl="1" indent="-457200">
              <a:lnSpc>
                <a:spcPct val="100000"/>
              </a:lnSpc>
            </a:pPr>
            <a:r>
              <a:rPr lang="en-US" dirty="0"/>
              <a:t>These cursor should be defined in the declaration section of the </a:t>
            </a:r>
            <a:r>
              <a:rPr lang="en-US" dirty="0">
                <a:solidFill>
                  <a:srgbClr val="C00000"/>
                </a:solidFill>
              </a:rPr>
              <a:t>PL/SQL block </a:t>
            </a:r>
            <a:r>
              <a:rPr lang="en-US" dirty="0"/>
              <a:t>and created on a </a:t>
            </a:r>
            <a:r>
              <a:rPr lang="en-US" dirty="0">
                <a:solidFill>
                  <a:srgbClr val="C00000"/>
                </a:solidFill>
              </a:rPr>
              <a:t>SELECT statement</a:t>
            </a:r>
            <a:r>
              <a:rPr lang="en-US" dirty="0"/>
              <a:t> which returns more than one row.</a:t>
            </a:r>
          </a:p>
          <a:p>
            <a:endParaRPr lang="en-US" dirty="0"/>
          </a:p>
          <a:p>
            <a:endParaRPr lang="en-US" dirty="0"/>
          </a:p>
        </p:txBody>
      </p:sp>
    </p:spTree>
    <p:extLst>
      <p:ext uri="{BB962C8B-B14F-4D97-AF65-F5344CB8AC3E}">
        <p14:creationId xmlns:p14="http://schemas.microsoft.com/office/powerpoint/2010/main" val="327792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0DC8-1F1B-82EB-264A-503B801A7E2B}"/>
              </a:ext>
            </a:extLst>
          </p:cNvPr>
          <p:cNvSpPr>
            <a:spLocks noGrp="1"/>
          </p:cNvSpPr>
          <p:nvPr>
            <p:ph type="title"/>
          </p:nvPr>
        </p:nvSpPr>
        <p:spPr/>
        <p:txBody>
          <a:bodyPr/>
          <a:lstStyle/>
          <a:p>
            <a:r>
              <a:rPr lang="en-GB" dirty="0"/>
              <a:t>SQL Cursor Life Cycle - Steps</a:t>
            </a:r>
          </a:p>
        </p:txBody>
      </p:sp>
      <p:sp>
        <p:nvSpPr>
          <p:cNvPr id="4" name="Rectangle 3">
            <a:extLst>
              <a:ext uri="{FF2B5EF4-FFF2-40B4-BE49-F238E27FC236}">
                <a16:creationId xmlns:a16="http://schemas.microsoft.com/office/drawing/2014/main" id="{827E1F2A-90B9-5F6A-B1C6-6A54420D33E2}"/>
              </a:ext>
            </a:extLst>
          </p:cNvPr>
          <p:cNvSpPr/>
          <p:nvPr/>
        </p:nvSpPr>
        <p:spPr>
          <a:xfrm>
            <a:off x="699079" y="1114906"/>
            <a:ext cx="5785627" cy="600164"/>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cursor_name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CURSOR</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select_statement</a:t>
            </a:r>
            <a:r>
              <a:rPr lang="en-GB" sz="1650" dirty="0">
                <a:solidFill>
                  <a:srgbClr val="808080"/>
                </a:solidFill>
                <a:latin typeface="Consolas" panose="020B0609020204030204" pitchFamily="49" charset="0"/>
              </a:rPr>
              <a:t>;</a:t>
            </a:r>
          </a:p>
        </p:txBody>
      </p:sp>
      <p:sp>
        <p:nvSpPr>
          <p:cNvPr id="5" name="Rectangle 4">
            <a:extLst>
              <a:ext uri="{FF2B5EF4-FFF2-40B4-BE49-F238E27FC236}">
                <a16:creationId xmlns:a16="http://schemas.microsoft.com/office/drawing/2014/main" id="{E6ED0FC2-1EF7-547B-614C-BCA9AC492B47}"/>
              </a:ext>
            </a:extLst>
          </p:cNvPr>
          <p:cNvSpPr/>
          <p:nvPr/>
        </p:nvSpPr>
        <p:spPr>
          <a:xfrm>
            <a:off x="245706" y="1114007"/>
            <a:ext cx="453374" cy="60016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US" sz="1650" b="1" dirty="0">
                <a:solidFill>
                  <a:schemeClr val="tx1">
                    <a:lumMod val="75000"/>
                    <a:lumOff val="25000"/>
                  </a:schemeClr>
                </a:solidFill>
                <a:latin typeface="Consolas" panose="020B0609020204030204" pitchFamily="49" charset="0"/>
              </a:rPr>
              <a:t>2</a:t>
            </a:r>
          </a:p>
        </p:txBody>
      </p:sp>
      <p:sp>
        <p:nvSpPr>
          <p:cNvPr id="6" name="Rectangle: Top Corners Rounded 5">
            <a:extLst>
              <a:ext uri="{FF2B5EF4-FFF2-40B4-BE49-F238E27FC236}">
                <a16:creationId xmlns:a16="http://schemas.microsoft.com/office/drawing/2014/main" id="{1B468FAA-107B-3BD9-97AE-DE030EBE4F3D}"/>
              </a:ext>
            </a:extLst>
          </p:cNvPr>
          <p:cNvSpPr/>
          <p:nvPr/>
        </p:nvSpPr>
        <p:spPr>
          <a:xfrm>
            <a:off x="245706" y="783924"/>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- 1</a:t>
            </a:r>
          </a:p>
        </p:txBody>
      </p:sp>
      <p:sp>
        <p:nvSpPr>
          <p:cNvPr id="9" name="Rectangle 8">
            <a:extLst>
              <a:ext uri="{FF2B5EF4-FFF2-40B4-BE49-F238E27FC236}">
                <a16:creationId xmlns:a16="http://schemas.microsoft.com/office/drawing/2014/main" id="{40A551E2-A833-07A4-DFF9-6DD365899A3E}"/>
              </a:ext>
            </a:extLst>
          </p:cNvPr>
          <p:cNvSpPr/>
          <p:nvPr/>
        </p:nvSpPr>
        <p:spPr>
          <a:xfrm>
            <a:off x="699079" y="2197396"/>
            <a:ext cx="5785629" cy="33855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OPEN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cursor_name</a:t>
            </a:r>
            <a:r>
              <a:rPr lang="en-GB" sz="1600" dirty="0">
                <a:solidFill>
                  <a:srgbClr val="808080"/>
                </a:solidFill>
                <a:latin typeface="Consolas" panose="020B0609020204030204" pitchFamily="49" charset="0"/>
              </a:rPr>
              <a:t>;</a:t>
            </a:r>
          </a:p>
        </p:txBody>
      </p:sp>
      <p:sp>
        <p:nvSpPr>
          <p:cNvPr id="10" name="Rectangle 9">
            <a:extLst>
              <a:ext uri="{FF2B5EF4-FFF2-40B4-BE49-F238E27FC236}">
                <a16:creationId xmlns:a16="http://schemas.microsoft.com/office/drawing/2014/main" id="{A206458B-78D7-372C-DC31-6B4691C809B2}"/>
              </a:ext>
            </a:extLst>
          </p:cNvPr>
          <p:cNvSpPr/>
          <p:nvPr/>
        </p:nvSpPr>
        <p:spPr>
          <a:xfrm>
            <a:off x="245706" y="2196497"/>
            <a:ext cx="453374"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11" name="Rectangle: Top Corners Rounded 10">
            <a:extLst>
              <a:ext uri="{FF2B5EF4-FFF2-40B4-BE49-F238E27FC236}">
                <a16:creationId xmlns:a16="http://schemas.microsoft.com/office/drawing/2014/main" id="{F95E7CA3-3E4F-D2FB-3B55-DDCCBE908969}"/>
              </a:ext>
            </a:extLst>
          </p:cNvPr>
          <p:cNvSpPr/>
          <p:nvPr/>
        </p:nvSpPr>
        <p:spPr>
          <a:xfrm>
            <a:off x="245706" y="1866414"/>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- 2</a:t>
            </a:r>
          </a:p>
        </p:txBody>
      </p:sp>
      <p:sp>
        <p:nvSpPr>
          <p:cNvPr id="12" name="Rectangle 11">
            <a:extLst>
              <a:ext uri="{FF2B5EF4-FFF2-40B4-BE49-F238E27FC236}">
                <a16:creationId xmlns:a16="http://schemas.microsoft.com/office/drawing/2014/main" id="{6F6E076B-6F7D-773D-5F9D-3D3CC5194B71}"/>
              </a:ext>
            </a:extLst>
          </p:cNvPr>
          <p:cNvSpPr/>
          <p:nvPr/>
        </p:nvSpPr>
        <p:spPr>
          <a:xfrm>
            <a:off x="699080" y="3020074"/>
            <a:ext cx="5785630" cy="338554"/>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cursor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variable_list</a:t>
            </a:r>
            <a:r>
              <a:rPr lang="en-US" sz="1600" dirty="0">
                <a:solidFill>
                  <a:srgbClr val="808080"/>
                </a:solidFill>
                <a:latin typeface="Consolas" panose="020B0609020204030204" pitchFamily="49" charset="0"/>
              </a:rPr>
              <a:t>;</a:t>
            </a:r>
          </a:p>
        </p:txBody>
      </p:sp>
      <p:sp>
        <p:nvSpPr>
          <p:cNvPr id="13" name="Rectangle 12">
            <a:extLst>
              <a:ext uri="{FF2B5EF4-FFF2-40B4-BE49-F238E27FC236}">
                <a16:creationId xmlns:a16="http://schemas.microsoft.com/office/drawing/2014/main" id="{260551C7-55B1-BECB-C759-5E0153BC4AB1}"/>
              </a:ext>
            </a:extLst>
          </p:cNvPr>
          <p:cNvSpPr/>
          <p:nvPr/>
        </p:nvSpPr>
        <p:spPr>
          <a:xfrm>
            <a:off x="245706" y="3019175"/>
            <a:ext cx="453374"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14" name="Rectangle: Top Corners Rounded 13">
            <a:extLst>
              <a:ext uri="{FF2B5EF4-FFF2-40B4-BE49-F238E27FC236}">
                <a16:creationId xmlns:a16="http://schemas.microsoft.com/office/drawing/2014/main" id="{5482F175-E62B-9C74-A507-9DF1DEBB40F7}"/>
              </a:ext>
            </a:extLst>
          </p:cNvPr>
          <p:cNvSpPr/>
          <p:nvPr/>
        </p:nvSpPr>
        <p:spPr>
          <a:xfrm>
            <a:off x="245706" y="2689092"/>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- 3</a:t>
            </a:r>
          </a:p>
        </p:txBody>
      </p:sp>
      <p:sp>
        <p:nvSpPr>
          <p:cNvPr id="15" name="Rectangle 14">
            <a:extLst>
              <a:ext uri="{FF2B5EF4-FFF2-40B4-BE49-F238E27FC236}">
                <a16:creationId xmlns:a16="http://schemas.microsoft.com/office/drawing/2014/main" id="{F1F1CFEC-D67D-B37A-A35C-711616F69A1A}"/>
              </a:ext>
            </a:extLst>
          </p:cNvPr>
          <p:cNvSpPr/>
          <p:nvPr/>
        </p:nvSpPr>
        <p:spPr>
          <a:xfrm>
            <a:off x="699079" y="3833382"/>
            <a:ext cx="5785631" cy="1077218"/>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WHILE</a:t>
            </a:r>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@@FETCH_STATUS</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0  </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endParaRPr lang="en-GB"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cursor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variable_list</a:t>
            </a:r>
            <a:r>
              <a:rPr lang="en-US" sz="1600" dirty="0">
                <a:solidFill>
                  <a:srgbClr val="808080"/>
                </a:solidFill>
                <a:latin typeface="Consolas" panose="020B0609020204030204" pitchFamily="49" charset="0"/>
              </a:rPr>
              <a:t>;</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p>
        </p:txBody>
      </p:sp>
      <p:sp>
        <p:nvSpPr>
          <p:cNvPr id="16" name="Rectangle 15">
            <a:extLst>
              <a:ext uri="{FF2B5EF4-FFF2-40B4-BE49-F238E27FC236}">
                <a16:creationId xmlns:a16="http://schemas.microsoft.com/office/drawing/2014/main" id="{31394F60-1E6C-FB9C-F626-2DDEED94D574}"/>
              </a:ext>
            </a:extLst>
          </p:cNvPr>
          <p:cNvSpPr/>
          <p:nvPr/>
        </p:nvSpPr>
        <p:spPr>
          <a:xfrm>
            <a:off x="245706" y="3832483"/>
            <a:ext cx="453374" cy="1107996"/>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US" sz="1650" b="1" dirty="0">
                <a:solidFill>
                  <a:schemeClr val="tx1">
                    <a:lumMod val="75000"/>
                    <a:lumOff val="25000"/>
                  </a:schemeClr>
                </a:solidFill>
                <a:latin typeface="Consolas" panose="020B0609020204030204" pitchFamily="49" charset="0"/>
              </a:rPr>
              <a:t>2</a:t>
            </a:r>
          </a:p>
          <a:p>
            <a:pPr algn="r"/>
            <a:r>
              <a:rPr lang="en-US" sz="1650" b="1" dirty="0">
                <a:solidFill>
                  <a:schemeClr val="tx1">
                    <a:lumMod val="75000"/>
                    <a:lumOff val="25000"/>
                  </a:schemeClr>
                </a:solidFill>
                <a:latin typeface="Consolas" panose="020B0609020204030204" pitchFamily="49" charset="0"/>
              </a:rPr>
              <a:t>3</a:t>
            </a:r>
          </a:p>
          <a:p>
            <a:pPr algn="r"/>
            <a:r>
              <a:rPr lang="en-US" sz="1650" b="1" dirty="0">
                <a:solidFill>
                  <a:schemeClr val="tx1">
                    <a:lumMod val="75000"/>
                    <a:lumOff val="25000"/>
                  </a:schemeClr>
                </a:solidFill>
                <a:latin typeface="Consolas" panose="020B0609020204030204" pitchFamily="49" charset="0"/>
              </a:rPr>
              <a:t>4</a:t>
            </a:r>
          </a:p>
        </p:txBody>
      </p:sp>
      <p:sp>
        <p:nvSpPr>
          <p:cNvPr id="17" name="Rectangle: Top Corners Rounded 16">
            <a:extLst>
              <a:ext uri="{FF2B5EF4-FFF2-40B4-BE49-F238E27FC236}">
                <a16:creationId xmlns:a16="http://schemas.microsoft.com/office/drawing/2014/main" id="{79C71ADE-B7B7-8587-933B-07895451E1BA}"/>
              </a:ext>
            </a:extLst>
          </p:cNvPr>
          <p:cNvSpPr/>
          <p:nvPr/>
        </p:nvSpPr>
        <p:spPr>
          <a:xfrm>
            <a:off x="245706" y="3502400"/>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- 4</a:t>
            </a:r>
          </a:p>
        </p:txBody>
      </p:sp>
      <p:sp>
        <p:nvSpPr>
          <p:cNvPr id="18" name="Rectangle 17">
            <a:extLst>
              <a:ext uri="{FF2B5EF4-FFF2-40B4-BE49-F238E27FC236}">
                <a16:creationId xmlns:a16="http://schemas.microsoft.com/office/drawing/2014/main" id="{F1AF2B4B-D27F-5AA4-B227-BA1D54447B24}"/>
              </a:ext>
            </a:extLst>
          </p:cNvPr>
          <p:cNvSpPr/>
          <p:nvPr/>
        </p:nvSpPr>
        <p:spPr>
          <a:xfrm>
            <a:off x="699079" y="5393825"/>
            <a:ext cx="5785625" cy="33855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CLOSE</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cursor_name</a:t>
            </a:r>
            <a:r>
              <a:rPr lang="en-GB" sz="1600" dirty="0">
                <a:solidFill>
                  <a:srgbClr val="808080"/>
                </a:solidFill>
                <a:latin typeface="Consolas" panose="020B0609020204030204" pitchFamily="49" charset="0"/>
              </a:rPr>
              <a:t>;</a:t>
            </a:r>
          </a:p>
        </p:txBody>
      </p:sp>
      <p:sp>
        <p:nvSpPr>
          <p:cNvPr id="19" name="Rectangle 18">
            <a:extLst>
              <a:ext uri="{FF2B5EF4-FFF2-40B4-BE49-F238E27FC236}">
                <a16:creationId xmlns:a16="http://schemas.microsoft.com/office/drawing/2014/main" id="{BCC95577-B2A2-398B-D5DE-7AE2AD8F83F5}"/>
              </a:ext>
            </a:extLst>
          </p:cNvPr>
          <p:cNvSpPr/>
          <p:nvPr/>
        </p:nvSpPr>
        <p:spPr>
          <a:xfrm>
            <a:off x="245706" y="5392926"/>
            <a:ext cx="453374"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20" name="Rectangle: Top Corners Rounded 19">
            <a:extLst>
              <a:ext uri="{FF2B5EF4-FFF2-40B4-BE49-F238E27FC236}">
                <a16:creationId xmlns:a16="http://schemas.microsoft.com/office/drawing/2014/main" id="{68EEC572-D44B-283E-0568-695C10C3CC25}"/>
              </a:ext>
            </a:extLst>
          </p:cNvPr>
          <p:cNvSpPr/>
          <p:nvPr/>
        </p:nvSpPr>
        <p:spPr>
          <a:xfrm>
            <a:off x="245706" y="5072174"/>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- 5</a:t>
            </a:r>
          </a:p>
        </p:txBody>
      </p:sp>
      <p:sp>
        <p:nvSpPr>
          <p:cNvPr id="21" name="Rectangle 20">
            <a:extLst>
              <a:ext uri="{FF2B5EF4-FFF2-40B4-BE49-F238E27FC236}">
                <a16:creationId xmlns:a16="http://schemas.microsoft.com/office/drawing/2014/main" id="{CEAB52AF-E101-5B96-7F63-466E71324EDC}"/>
              </a:ext>
            </a:extLst>
          </p:cNvPr>
          <p:cNvSpPr/>
          <p:nvPr/>
        </p:nvSpPr>
        <p:spPr>
          <a:xfrm>
            <a:off x="699080" y="6208071"/>
            <a:ext cx="5785624" cy="33855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DEALLOCATE </a:t>
            </a:r>
            <a:r>
              <a:rPr lang="en-GB" sz="1600" dirty="0" err="1">
                <a:latin typeface="Consolas" panose="020B0609020204030204" pitchFamily="49" charset="0"/>
              </a:rPr>
              <a:t>cursor_name</a:t>
            </a:r>
            <a:r>
              <a:rPr lang="en-GB" sz="1600" dirty="0">
                <a:latin typeface="Consolas" panose="020B0609020204030204" pitchFamily="49" charset="0"/>
              </a:rPr>
              <a:t>;</a:t>
            </a:r>
            <a:endParaRPr lang="en-US" sz="1600" dirty="0">
              <a:latin typeface="Consolas" panose="020B0609020204030204" pitchFamily="49" charset="0"/>
            </a:endParaRPr>
          </a:p>
        </p:txBody>
      </p:sp>
      <p:sp>
        <p:nvSpPr>
          <p:cNvPr id="22" name="Rectangle 21">
            <a:extLst>
              <a:ext uri="{FF2B5EF4-FFF2-40B4-BE49-F238E27FC236}">
                <a16:creationId xmlns:a16="http://schemas.microsoft.com/office/drawing/2014/main" id="{E9D579E0-A144-20CD-73D2-ADD0A57C43BB}"/>
              </a:ext>
            </a:extLst>
          </p:cNvPr>
          <p:cNvSpPr/>
          <p:nvPr/>
        </p:nvSpPr>
        <p:spPr>
          <a:xfrm>
            <a:off x="245706" y="6207172"/>
            <a:ext cx="453374"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23" name="Rectangle: Top Corners Rounded 22">
            <a:extLst>
              <a:ext uri="{FF2B5EF4-FFF2-40B4-BE49-F238E27FC236}">
                <a16:creationId xmlns:a16="http://schemas.microsoft.com/office/drawing/2014/main" id="{FF1CE0F0-4C36-326A-9742-0ADDD4332915}"/>
              </a:ext>
            </a:extLst>
          </p:cNvPr>
          <p:cNvSpPr/>
          <p:nvPr/>
        </p:nvSpPr>
        <p:spPr>
          <a:xfrm>
            <a:off x="245706" y="5886420"/>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- 6</a:t>
            </a:r>
          </a:p>
        </p:txBody>
      </p:sp>
      <p:sp>
        <p:nvSpPr>
          <p:cNvPr id="26" name="Rectangle 25">
            <a:extLst>
              <a:ext uri="{FF2B5EF4-FFF2-40B4-BE49-F238E27FC236}">
                <a16:creationId xmlns:a16="http://schemas.microsoft.com/office/drawing/2014/main" id="{1FA720E8-5086-EB47-412D-8C64613DA9F9}"/>
              </a:ext>
            </a:extLst>
          </p:cNvPr>
          <p:cNvSpPr/>
          <p:nvPr/>
        </p:nvSpPr>
        <p:spPr>
          <a:xfrm>
            <a:off x="8355562" y="1059316"/>
            <a:ext cx="1334278" cy="54117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DECLARE</a:t>
            </a:r>
            <a:endParaRPr lang="en-GB" dirty="0">
              <a:solidFill>
                <a:schemeClr val="tx1"/>
              </a:solidFill>
            </a:endParaRPr>
          </a:p>
        </p:txBody>
      </p:sp>
      <p:sp>
        <p:nvSpPr>
          <p:cNvPr id="27" name="Rectangle 26">
            <a:extLst>
              <a:ext uri="{FF2B5EF4-FFF2-40B4-BE49-F238E27FC236}">
                <a16:creationId xmlns:a16="http://schemas.microsoft.com/office/drawing/2014/main" id="{1E5B2D59-254B-C604-2960-057B83883511}"/>
              </a:ext>
            </a:extLst>
          </p:cNvPr>
          <p:cNvSpPr/>
          <p:nvPr/>
        </p:nvSpPr>
        <p:spPr>
          <a:xfrm>
            <a:off x="8355562" y="2003503"/>
            <a:ext cx="1334278" cy="54117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OPEN</a:t>
            </a:r>
            <a:endParaRPr lang="en-GB" dirty="0">
              <a:solidFill>
                <a:schemeClr val="tx1"/>
              </a:solidFill>
            </a:endParaRPr>
          </a:p>
        </p:txBody>
      </p:sp>
      <p:sp>
        <p:nvSpPr>
          <p:cNvPr id="28" name="Rectangle 27">
            <a:extLst>
              <a:ext uri="{FF2B5EF4-FFF2-40B4-BE49-F238E27FC236}">
                <a16:creationId xmlns:a16="http://schemas.microsoft.com/office/drawing/2014/main" id="{BF57A25B-98B8-7C59-3DE4-3C19D77366A2}"/>
              </a:ext>
            </a:extLst>
          </p:cNvPr>
          <p:cNvSpPr/>
          <p:nvPr/>
        </p:nvSpPr>
        <p:spPr>
          <a:xfrm>
            <a:off x="8355562" y="2852685"/>
            <a:ext cx="1334278" cy="54117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FETCH</a:t>
            </a:r>
            <a:endParaRPr lang="en-GB" dirty="0">
              <a:solidFill>
                <a:schemeClr val="tx1"/>
              </a:solidFill>
            </a:endParaRPr>
          </a:p>
        </p:txBody>
      </p:sp>
      <p:sp>
        <p:nvSpPr>
          <p:cNvPr id="29" name="Rectangle 28">
            <a:extLst>
              <a:ext uri="{FF2B5EF4-FFF2-40B4-BE49-F238E27FC236}">
                <a16:creationId xmlns:a16="http://schemas.microsoft.com/office/drawing/2014/main" id="{67D20D9F-75D8-FB2D-26BC-8B3748C33A4E}"/>
              </a:ext>
            </a:extLst>
          </p:cNvPr>
          <p:cNvSpPr/>
          <p:nvPr/>
        </p:nvSpPr>
        <p:spPr>
          <a:xfrm>
            <a:off x="8355562" y="5135206"/>
            <a:ext cx="1334278" cy="54117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CLOSE</a:t>
            </a:r>
            <a:endParaRPr lang="en-GB" dirty="0">
              <a:solidFill>
                <a:schemeClr val="tx1"/>
              </a:solidFill>
            </a:endParaRPr>
          </a:p>
        </p:txBody>
      </p:sp>
      <p:sp>
        <p:nvSpPr>
          <p:cNvPr id="30" name="Flowchart: Decision 29">
            <a:extLst>
              <a:ext uri="{FF2B5EF4-FFF2-40B4-BE49-F238E27FC236}">
                <a16:creationId xmlns:a16="http://schemas.microsoft.com/office/drawing/2014/main" id="{AA7A2294-C3B1-51EF-3CAE-D32E64989EFA}"/>
              </a:ext>
            </a:extLst>
          </p:cNvPr>
          <p:cNvSpPr/>
          <p:nvPr/>
        </p:nvSpPr>
        <p:spPr>
          <a:xfrm>
            <a:off x="8178379" y="3734709"/>
            <a:ext cx="1679510" cy="1059024"/>
          </a:xfrm>
          <a:prstGeom prst="flowChartDecision">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EMPTY</a:t>
            </a:r>
            <a:endParaRPr lang="en-GB" dirty="0">
              <a:solidFill>
                <a:schemeClr val="tx1"/>
              </a:solidFill>
            </a:endParaRPr>
          </a:p>
        </p:txBody>
      </p:sp>
      <p:cxnSp>
        <p:nvCxnSpPr>
          <p:cNvPr id="31" name="Straight Arrow Connector 30">
            <a:extLst>
              <a:ext uri="{FF2B5EF4-FFF2-40B4-BE49-F238E27FC236}">
                <a16:creationId xmlns:a16="http://schemas.microsoft.com/office/drawing/2014/main" id="{95859EE9-D0D3-ABAE-EDF3-E792F474BCFB}"/>
              </a:ext>
            </a:extLst>
          </p:cNvPr>
          <p:cNvCxnSpPr>
            <a:cxnSpLocks/>
            <a:stCxn id="26" idx="2"/>
            <a:endCxn id="27" idx="0"/>
          </p:cNvCxnSpPr>
          <p:nvPr/>
        </p:nvCxnSpPr>
        <p:spPr>
          <a:xfrm>
            <a:off x="9022701" y="1600492"/>
            <a:ext cx="0" cy="4030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7DED6B2-C43A-2726-1253-0CCB7E8D84AA}"/>
              </a:ext>
            </a:extLst>
          </p:cNvPr>
          <p:cNvCxnSpPr>
            <a:cxnSpLocks/>
          </p:cNvCxnSpPr>
          <p:nvPr/>
        </p:nvCxnSpPr>
        <p:spPr>
          <a:xfrm>
            <a:off x="9018134" y="2549070"/>
            <a:ext cx="0" cy="3036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37822E9-7B70-152E-4058-3037D235A604}"/>
              </a:ext>
            </a:extLst>
          </p:cNvPr>
          <p:cNvCxnSpPr>
            <a:cxnSpLocks/>
          </p:cNvCxnSpPr>
          <p:nvPr/>
        </p:nvCxnSpPr>
        <p:spPr>
          <a:xfrm>
            <a:off x="9018728" y="3393861"/>
            <a:ext cx="0" cy="3291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5353F86-567F-E593-44B9-131C7CBEEDC7}"/>
              </a:ext>
            </a:extLst>
          </p:cNvPr>
          <p:cNvCxnSpPr>
            <a:cxnSpLocks/>
          </p:cNvCxnSpPr>
          <p:nvPr/>
        </p:nvCxnSpPr>
        <p:spPr>
          <a:xfrm>
            <a:off x="9018134" y="4793733"/>
            <a:ext cx="0" cy="3619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65EBEFFA-CA53-78D1-9D1D-B5A772AF2D22}"/>
              </a:ext>
            </a:extLst>
          </p:cNvPr>
          <p:cNvCxnSpPr>
            <a:cxnSpLocks/>
          </p:cNvCxnSpPr>
          <p:nvPr/>
        </p:nvCxnSpPr>
        <p:spPr>
          <a:xfrm flipH="1" flipV="1">
            <a:off x="9681373" y="3114806"/>
            <a:ext cx="168049" cy="1140948"/>
          </a:xfrm>
          <a:prstGeom prst="bentConnector3">
            <a:avLst>
              <a:gd name="adj1" fmla="val -13603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6AA354E-E1F2-A3B2-E039-8D8065EFC481}"/>
              </a:ext>
            </a:extLst>
          </p:cNvPr>
          <p:cNvSpPr txBox="1"/>
          <p:nvPr/>
        </p:nvSpPr>
        <p:spPr>
          <a:xfrm>
            <a:off x="9042953" y="4826804"/>
            <a:ext cx="474307" cy="307777"/>
          </a:xfrm>
          <a:prstGeom prst="rect">
            <a:avLst/>
          </a:prstGeom>
          <a:noFill/>
        </p:spPr>
        <p:txBody>
          <a:bodyPr wrap="square" rtlCol="0">
            <a:spAutoFit/>
          </a:bodyPr>
          <a:lstStyle/>
          <a:p>
            <a:r>
              <a:rPr lang="en-US" sz="1400" dirty="0"/>
              <a:t>YES</a:t>
            </a:r>
            <a:endParaRPr lang="en-GB" sz="1400" dirty="0"/>
          </a:p>
        </p:txBody>
      </p:sp>
      <p:sp>
        <p:nvSpPr>
          <p:cNvPr id="54" name="Rectangle 53">
            <a:extLst>
              <a:ext uri="{FF2B5EF4-FFF2-40B4-BE49-F238E27FC236}">
                <a16:creationId xmlns:a16="http://schemas.microsoft.com/office/drawing/2014/main" id="{5882CAB6-EB7D-CF98-FB5C-4714667597CF}"/>
              </a:ext>
            </a:extLst>
          </p:cNvPr>
          <p:cNvSpPr/>
          <p:nvPr/>
        </p:nvSpPr>
        <p:spPr>
          <a:xfrm>
            <a:off x="8336936" y="6017855"/>
            <a:ext cx="1412033" cy="54117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DEALLOCATE</a:t>
            </a:r>
            <a:endParaRPr lang="en-GB" dirty="0">
              <a:solidFill>
                <a:schemeClr val="tx1"/>
              </a:solidFill>
            </a:endParaRPr>
          </a:p>
        </p:txBody>
      </p:sp>
      <p:cxnSp>
        <p:nvCxnSpPr>
          <p:cNvPr id="55" name="Straight Arrow Connector 54">
            <a:extLst>
              <a:ext uri="{FF2B5EF4-FFF2-40B4-BE49-F238E27FC236}">
                <a16:creationId xmlns:a16="http://schemas.microsoft.com/office/drawing/2014/main" id="{E4A7FE19-386C-3949-47F8-BF9C6A9E1F31}"/>
              </a:ext>
            </a:extLst>
          </p:cNvPr>
          <p:cNvCxnSpPr>
            <a:cxnSpLocks/>
          </p:cNvCxnSpPr>
          <p:nvPr/>
        </p:nvCxnSpPr>
        <p:spPr>
          <a:xfrm>
            <a:off x="9018134" y="5672444"/>
            <a:ext cx="0" cy="3291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BE26C75-C082-85CF-97DF-FFC2255EB42A}"/>
              </a:ext>
            </a:extLst>
          </p:cNvPr>
          <p:cNvSpPr txBox="1"/>
          <p:nvPr/>
        </p:nvSpPr>
        <p:spPr>
          <a:xfrm>
            <a:off x="10054693" y="3533125"/>
            <a:ext cx="474307" cy="307777"/>
          </a:xfrm>
          <a:prstGeom prst="rect">
            <a:avLst/>
          </a:prstGeom>
          <a:noFill/>
        </p:spPr>
        <p:txBody>
          <a:bodyPr wrap="square" rtlCol="0">
            <a:spAutoFit/>
          </a:bodyPr>
          <a:lstStyle/>
          <a:p>
            <a:r>
              <a:rPr lang="en-US" sz="1400" dirty="0"/>
              <a:t>No</a:t>
            </a:r>
            <a:endParaRPr lang="en-GB" sz="1400" dirty="0"/>
          </a:p>
        </p:txBody>
      </p:sp>
    </p:spTree>
    <p:extLst>
      <p:ext uri="{BB962C8B-B14F-4D97-AF65-F5344CB8AC3E}">
        <p14:creationId xmlns:p14="http://schemas.microsoft.com/office/powerpoint/2010/main" val="318426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up)">
                                      <p:cBhvr>
                                        <p:cTn id="20" dur="500"/>
                                        <p:tgtEl>
                                          <p:spTgt spid="31"/>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up)">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wipe(up)">
                                      <p:cBhvr>
                                        <p:cTn id="36" dur="500"/>
                                        <p:tgtEl>
                                          <p:spTgt spid="32"/>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wipe(up)">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up)">
                                      <p:cBhvr>
                                        <p:cTn id="52" dur="500"/>
                                        <p:tgtEl>
                                          <p:spTgt spid="33"/>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up)">
                                      <p:cBhvr>
                                        <p:cTn id="55" dur="500"/>
                                        <p:tgtEl>
                                          <p:spTgt spid="30"/>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down)">
                                      <p:cBhvr>
                                        <p:cTn id="68" dur="500"/>
                                        <p:tgtEl>
                                          <p:spTgt spid="36"/>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wipe(down)">
                                      <p:cBhvr>
                                        <p:cTn id="71" dur="500"/>
                                        <p:tgtEl>
                                          <p:spTgt spid="5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wipe(up)">
                                      <p:cBhvr>
                                        <p:cTn id="76" dur="500"/>
                                        <p:tgtEl>
                                          <p:spTgt spid="34"/>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up)">
                                      <p:cBhvr>
                                        <p:cTn id="79" dur="500"/>
                                        <p:tgtEl>
                                          <p:spTgt spid="37"/>
                                        </p:tgtEl>
                                      </p:cBhvr>
                                    </p:animEffect>
                                  </p:childTnLst>
                                </p:cTn>
                              </p:par>
                              <p:par>
                                <p:cTn id="80" presetID="22" presetClass="entr" presetSubtype="1"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wipe(up)">
                                      <p:cBhvr>
                                        <p:cTn id="82" dur="500"/>
                                        <p:tgtEl>
                                          <p:spTgt spid="29"/>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nodeType="click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wipe(up)">
                                      <p:cBhvr>
                                        <p:cTn id="95" dur="500"/>
                                        <p:tgtEl>
                                          <p:spTgt spid="55"/>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54"/>
                                        </p:tgtEl>
                                        <p:attrNameLst>
                                          <p:attrName>style.visibility</p:attrName>
                                        </p:attrNameLst>
                                      </p:cBhvr>
                                      <p:to>
                                        <p:strVal val="visible"/>
                                      </p:to>
                                    </p:set>
                                    <p:animEffect transition="in" filter="wipe(up)">
                                      <p:cBhvr>
                                        <p:cTn id="98" dur="500"/>
                                        <p:tgtEl>
                                          <p:spTgt spid="54"/>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6" grpId="0" animBg="1"/>
      <p:bldP spid="27" grpId="0" animBg="1"/>
      <p:bldP spid="28" grpId="0" animBg="1"/>
      <p:bldP spid="29" grpId="0" animBg="1"/>
      <p:bldP spid="30" grpId="0" animBg="1"/>
      <p:bldP spid="37" grpId="0"/>
      <p:bldP spid="54" grpId="0" animBg="1"/>
      <p:bldP spid="5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CDD7-CD84-3862-4ABF-EA723AB62441}"/>
              </a:ext>
            </a:extLst>
          </p:cNvPr>
          <p:cNvSpPr>
            <a:spLocks noGrp="1"/>
          </p:cNvSpPr>
          <p:nvPr>
            <p:ph type="title"/>
          </p:nvPr>
        </p:nvSpPr>
        <p:spPr/>
        <p:txBody>
          <a:bodyPr>
            <a:normAutofit/>
          </a:bodyPr>
          <a:lstStyle/>
          <a:p>
            <a:r>
              <a:rPr lang="en-GB" dirty="0"/>
              <a:t>SQL Cursor Life Cycle</a:t>
            </a:r>
          </a:p>
        </p:txBody>
      </p:sp>
      <p:sp>
        <p:nvSpPr>
          <p:cNvPr id="3" name="Content Placeholder 2">
            <a:extLst>
              <a:ext uri="{FF2B5EF4-FFF2-40B4-BE49-F238E27FC236}">
                <a16:creationId xmlns:a16="http://schemas.microsoft.com/office/drawing/2014/main" id="{70A31607-AC84-1927-EF5B-859F51588C32}"/>
              </a:ext>
            </a:extLst>
          </p:cNvPr>
          <p:cNvSpPr>
            <a:spLocks noGrp="1"/>
          </p:cNvSpPr>
          <p:nvPr>
            <p:ph idx="1"/>
          </p:nvPr>
        </p:nvSpPr>
        <p:spPr/>
        <p:txBody>
          <a:bodyPr>
            <a:normAutofit fontScale="85000" lnSpcReduction="20000"/>
          </a:bodyPr>
          <a:lstStyle/>
          <a:p>
            <a:pPr algn="l">
              <a:lnSpc>
                <a:spcPct val="110000"/>
              </a:lnSpc>
            </a:pPr>
            <a:r>
              <a:rPr lang="en-US" b="0" dirty="0">
                <a:solidFill>
                  <a:srgbClr val="212121"/>
                </a:solidFill>
                <a:effectLst/>
                <a:latin typeface="+mj-lt"/>
              </a:rPr>
              <a:t>The following steps are involved in a SQL cursor life cycle. </a:t>
            </a:r>
          </a:p>
          <a:p>
            <a:pPr lvl="1" algn="l">
              <a:lnSpc>
                <a:spcPct val="120000"/>
              </a:lnSpc>
              <a:buFont typeface="+mj-lt"/>
              <a:buAutoNum type="arabicPeriod"/>
            </a:pPr>
            <a:r>
              <a:rPr lang="en-US" sz="2400" b="1" dirty="0">
                <a:solidFill>
                  <a:srgbClr val="212121"/>
                </a:solidFill>
                <a:effectLst/>
                <a:latin typeface="+mj-lt"/>
              </a:rPr>
              <a:t>Declaring Cursor</a:t>
            </a:r>
            <a:br>
              <a:rPr lang="en-US" sz="2400" b="0" dirty="0">
                <a:solidFill>
                  <a:srgbClr val="212121"/>
                </a:solidFill>
                <a:effectLst/>
                <a:latin typeface="+mj-lt"/>
              </a:rPr>
            </a:br>
            <a:r>
              <a:rPr lang="en-US" sz="2400" b="0" dirty="0">
                <a:solidFill>
                  <a:srgbClr val="212121"/>
                </a:solidFill>
                <a:effectLst/>
                <a:latin typeface="+mj-lt"/>
              </a:rPr>
              <a:t>A cursor is declared by defining the SQL statement.</a:t>
            </a:r>
            <a:br>
              <a:rPr lang="en-US" sz="2400" b="0" dirty="0">
                <a:solidFill>
                  <a:srgbClr val="212121"/>
                </a:solidFill>
                <a:effectLst/>
                <a:latin typeface="+mj-lt"/>
              </a:rPr>
            </a:br>
            <a:r>
              <a:rPr lang="en-US" sz="2400" b="0" dirty="0">
                <a:solidFill>
                  <a:srgbClr val="212121"/>
                </a:solidFill>
                <a:effectLst/>
                <a:latin typeface="+mj-lt"/>
              </a:rPr>
              <a:t> </a:t>
            </a:r>
          </a:p>
          <a:p>
            <a:pPr lvl="1" algn="l">
              <a:lnSpc>
                <a:spcPct val="120000"/>
              </a:lnSpc>
              <a:buFont typeface="+mj-lt"/>
              <a:buAutoNum type="arabicPeriod"/>
            </a:pPr>
            <a:r>
              <a:rPr lang="en-US" sz="2400" b="1" dirty="0">
                <a:solidFill>
                  <a:srgbClr val="212121"/>
                </a:solidFill>
                <a:effectLst/>
                <a:latin typeface="+mj-lt"/>
              </a:rPr>
              <a:t>Opening Cursor</a:t>
            </a:r>
            <a:br>
              <a:rPr lang="en-US" sz="2400" b="0" dirty="0">
                <a:solidFill>
                  <a:srgbClr val="212121"/>
                </a:solidFill>
                <a:effectLst/>
                <a:latin typeface="+mj-lt"/>
              </a:rPr>
            </a:br>
            <a:r>
              <a:rPr lang="en-US" sz="2400" b="0" dirty="0">
                <a:solidFill>
                  <a:srgbClr val="212121"/>
                </a:solidFill>
                <a:effectLst/>
                <a:latin typeface="+mj-lt"/>
              </a:rPr>
              <a:t>A cursor is opened for storing data retrieved from the result set.</a:t>
            </a:r>
            <a:br>
              <a:rPr lang="en-US" sz="2400" b="0" dirty="0">
                <a:solidFill>
                  <a:srgbClr val="212121"/>
                </a:solidFill>
                <a:effectLst/>
                <a:latin typeface="+mj-lt"/>
              </a:rPr>
            </a:br>
            <a:r>
              <a:rPr lang="en-US" sz="2400" b="0" dirty="0">
                <a:solidFill>
                  <a:srgbClr val="212121"/>
                </a:solidFill>
                <a:effectLst/>
                <a:latin typeface="+mj-lt"/>
              </a:rPr>
              <a:t> </a:t>
            </a:r>
          </a:p>
          <a:p>
            <a:pPr lvl="1" algn="l">
              <a:lnSpc>
                <a:spcPct val="120000"/>
              </a:lnSpc>
              <a:buFont typeface="+mj-lt"/>
              <a:buAutoNum type="arabicPeriod"/>
            </a:pPr>
            <a:r>
              <a:rPr lang="en-US" sz="2400" b="1" dirty="0">
                <a:solidFill>
                  <a:srgbClr val="212121"/>
                </a:solidFill>
                <a:effectLst/>
                <a:latin typeface="+mj-lt"/>
              </a:rPr>
              <a:t>Fetching Cursor</a:t>
            </a:r>
            <a:br>
              <a:rPr lang="en-US" sz="2400" b="0" dirty="0">
                <a:solidFill>
                  <a:srgbClr val="212121"/>
                </a:solidFill>
                <a:effectLst/>
                <a:latin typeface="+mj-lt"/>
              </a:rPr>
            </a:br>
            <a:r>
              <a:rPr lang="en-US" sz="2400" b="0" dirty="0">
                <a:solidFill>
                  <a:srgbClr val="212121"/>
                </a:solidFill>
                <a:effectLst/>
                <a:latin typeface="+mj-lt"/>
              </a:rPr>
              <a:t>When a cursor is opened, rows can be fetched from the cursor one by one or in a block to do data manipulation.</a:t>
            </a:r>
            <a:br>
              <a:rPr lang="en-US" sz="2400" b="0" dirty="0">
                <a:solidFill>
                  <a:srgbClr val="212121"/>
                </a:solidFill>
                <a:effectLst/>
                <a:latin typeface="+mj-lt"/>
              </a:rPr>
            </a:br>
            <a:r>
              <a:rPr lang="en-US" sz="2400" b="0" dirty="0">
                <a:solidFill>
                  <a:srgbClr val="212121"/>
                </a:solidFill>
                <a:effectLst/>
                <a:latin typeface="+mj-lt"/>
              </a:rPr>
              <a:t> </a:t>
            </a:r>
          </a:p>
          <a:p>
            <a:pPr lvl="1" algn="l">
              <a:lnSpc>
                <a:spcPct val="120000"/>
              </a:lnSpc>
              <a:buFont typeface="+mj-lt"/>
              <a:buAutoNum type="arabicPeriod"/>
            </a:pPr>
            <a:r>
              <a:rPr lang="en-US" sz="2400" b="1" dirty="0">
                <a:solidFill>
                  <a:srgbClr val="212121"/>
                </a:solidFill>
                <a:effectLst/>
                <a:latin typeface="+mj-lt"/>
              </a:rPr>
              <a:t>Closing Cursor</a:t>
            </a:r>
            <a:br>
              <a:rPr lang="en-US" sz="2400" b="0" dirty="0">
                <a:solidFill>
                  <a:srgbClr val="212121"/>
                </a:solidFill>
                <a:effectLst/>
                <a:latin typeface="+mj-lt"/>
              </a:rPr>
            </a:br>
            <a:r>
              <a:rPr lang="en-US" sz="2400" b="0" dirty="0">
                <a:solidFill>
                  <a:srgbClr val="212121"/>
                </a:solidFill>
                <a:effectLst/>
                <a:latin typeface="+mj-lt"/>
              </a:rPr>
              <a:t>The cursor should be closed explicitly after data manipulation.</a:t>
            </a:r>
            <a:br>
              <a:rPr lang="en-US" sz="2400" b="0" dirty="0">
                <a:solidFill>
                  <a:srgbClr val="212121"/>
                </a:solidFill>
                <a:effectLst/>
                <a:latin typeface="+mj-lt"/>
              </a:rPr>
            </a:br>
            <a:r>
              <a:rPr lang="en-US" sz="2400" b="0" dirty="0">
                <a:solidFill>
                  <a:srgbClr val="212121"/>
                </a:solidFill>
                <a:effectLst/>
                <a:latin typeface="+mj-lt"/>
              </a:rPr>
              <a:t> </a:t>
            </a:r>
          </a:p>
          <a:p>
            <a:pPr lvl="1" algn="l">
              <a:lnSpc>
                <a:spcPct val="120000"/>
              </a:lnSpc>
              <a:buFont typeface="+mj-lt"/>
              <a:buAutoNum type="arabicPeriod"/>
            </a:pPr>
            <a:r>
              <a:rPr lang="en-US" sz="2400" b="1" dirty="0">
                <a:solidFill>
                  <a:srgbClr val="212121"/>
                </a:solidFill>
                <a:effectLst/>
                <a:latin typeface="+mj-lt"/>
              </a:rPr>
              <a:t>Deallocating Cursor</a:t>
            </a:r>
            <a:br>
              <a:rPr lang="en-US" sz="2400" b="0" dirty="0">
                <a:solidFill>
                  <a:srgbClr val="212121"/>
                </a:solidFill>
                <a:effectLst/>
                <a:latin typeface="+mj-lt"/>
              </a:rPr>
            </a:br>
            <a:r>
              <a:rPr lang="en-US" sz="2400" b="0" dirty="0">
                <a:solidFill>
                  <a:srgbClr val="212121"/>
                </a:solidFill>
                <a:effectLst/>
                <a:latin typeface="+mj-lt"/>
              </a:rPr>
              <a:t>Cursors should be deallocated to delete cursor definition and release all the system resources associated with the cursor.</a:t>
            </a:r>
          </a:p>
          <a:p>
            <a:endParaRPr lang="en-GB" dirty="0"/>
          </a:p>
        </p:txBody>
      </p:sp>
    </p:spTree>
    <p:extLst>
      <p:ext uri="{BB962C8B-B14F-4D97-AF65-F5344CB8AC3E}">
        <p14:creationId xmlns:p14="http://schemas.microsoft.com/office/powerpoint/2010/main" val="254070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AAEE-701C-B2C8-19CC-A36B5C90EA7C}"/>
              </a:ext>
            </a:extLst>
          </p:cNvPr>
          <p:cNvSpPr>
            <a:spLocks noGrp="1"/>
          </p:cNvSpPr>
          <p:nvPr>
            <p:ph type="title"/>
          </p:nvPr>
        </p:nvSpPr>
        <p:spPr/>
        <p:txBody>
          <a:bodyPr/>
          <a:lstStyle/>
          <a:p>
            <a:r>
              <a:rPr lang="en-GB" dirty="0"/>
              <a:t>SQL Cursor Life Cycle - Steps (Cont..)</a:t>
            </a:r>
          </a:p>
        </p:txBody>
      </p:sp>
      <p:sp>
        <p:nvSpPr>
          <p:cNvPr id="3" name="Content Placeholder 2">
            <a:extLst>
              <a:ext uri="{FF2B5EF4-FFF2-40B4-BE49-F238E27FC236}">
                <a16:creationId xmlns:a16="http://schemas.microsoft.com/office/drawing/2014/main" id="{C57CF1F4-1C7A-F64A-7D44-C203A0B99AB6}"/>
              </a:ext>
            </a:extLst>
          </p:cNvPr>
          <p:cNvSpPr>
            <a:spLocks noGrp="1"/>
          </p:cNvSpPr>
          <p:nvPr>
            <p:ph idx="1"/>
          </p:nvPr>
        </p:nvSpPr>
        <p:spPr/>
        <p:txBody>
          <a:bodyPr/>
          <a:lstStyle/>
          <a:p>
            <a:pPr marL="457200" indent="-457200">
              <a:buFont typeface="+mj-lt"/>
              <a:buAutoNum type="arabicPeriod"/>
            </a:pPr>
            <a:r>
              <a:rPr lang="en-GB" dirty="0">
                <a:solidFill>
                  <a:srgbClr val="000000"/>
                </a:solidFill>
                <a:latin typeface="+mj-lt"/>
              </a:rPr>
              <a:t>D</a:t>
            </a:r>
            <a:r>
              <a:rPr lang="en-GB" b="0" i="0" dirty="0">
                <a:solidFill>
                  <a:srgbClr val="000000"/>
                </a:solidFill>
                <a:effectLst/>
                <a:latin typeface="+mj-lt"/>
              </a:rPr>
              <a:t>eclare a cursor.</a:t>
            </a:r>
          </a:p>
          <a:p>
            <a:pPr marL="544512" lvl="1" indent="0">
              <a:buNone/>
            </a:pPr>
            <a:r>
              <a:rPr lang="en-GB" dirty="0">
                <a:solidFill>
                  <a:srgbClr val="0000FF"/>
                </a:solidFill>
                <a:latin typeface="Consolas" panose="020B0609020204030204" pitchFamily="49" charset="0"/>
              </a:rPr>
              <a:t>DECLARE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cursor_name</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CURSOR</a:t>
            </a:r>
            <a:endParaRPr lang="en-GB" dirty="0">
              <a:solidFill>
                <a:srgbClr val="000000"/>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FOR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select_statement</a:t>
            </a:r>
            <a:r>
              <a:rPr lang="en-GB" dirty="0">
                <a:solidFill>
                  <a:srgbClr val="808080"/>
                </a:solidFill>
                <a:latin typeface="Consolas" panose="020B0609020204030204" pitchFamily="49" charset="0"/>
              </a:rPr>
              <a:t>;</a:t>
            </a:r>
          </a:p>
          <a:p>
            <a:pPr lvl="1"/>
            <a:r>
              <a:rPr lang="en-US" b="0" i="0" dirty="0">
                <a:solidFill>
                  <a:srgbClr val="000000"/>
                </a:solidFill>
                <a:effectLst/>
                <a:latin typeface="+mj-lt"/>
              </a:rPr>
              <a:t>To declare a cursor, you specify its name after the DECLARE keyword with the CURSOR data type and provide a SELECT statement that defines the result set for the cursor.</a:t>
            </a:r>
          </a:p>
          <a:p>
            <a:pPr marL="457200" indent="-457200">
              <a:buFont typeface="+mj-lt"/>
              <a:buAutoNum type="arabicPeriod"/>
            </a:pPr>
            <a:r>
              <a:rPr lang="en-US" b="0" i="0" dirty="0">
                <a:solidFill>
                  <a:srgbClr val="000000"/>
                </a:solidFill>
                <a:effectLst/>
                <a:latin typeface="+mj-lt"/>
              </a:rPr>
              <a:t>Next, open and populate the cursor by executing the SELECT statement:</a:t>
            </a:r>
          </a:p>
          <a:p>
            <a:pPr marL="544512" lvl="1" indent="0">
              <a:buNone/>
            </a:pPr>
            <a:r>
              <a:rPr lang="en-GB" dirty="0">
                <a:solidFill>
                  <a:srgbClr val="0000FF"/>
                </a:solidFill>
                <a:latin typeface="Consolas" panose="020B0609020204030204" pitchFamily="49" charset="0"/>
              </a:rPr>
              <a:t>OPEN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cursor_name</a:t>
            </a:r>
            <a:r>
              <a:rPr lang="en-GB" dirty="0">
                <a:solidFill>
                  <a:srgbClr val="808080"/>
                </a:solidFill>
                <a:latin typeface="Consolas" panose="020B0609020204030204" pitchFamily="49" charset="0"/>
              </a:rPr>
              <a:t>;</a:t>
            </a:r>
          </a:p>
          <a:p>
            <a:pPr marL="457200" indent="-457200">
              <a:buFont typeface="+mj-lt"/>
              <a:buAutoNum type="arabicPeriod"/>
            </a:pPr>
            <a:r>
              <a:rPr lang="en-US" b="0" i="0" dirty="0">
                <a:solidFill>
                  <a:srgbClr val="000000"/>
                </a:solidFill>
                <a:effectLst/>
                <a:latin typeface="+mj-lt"/>
              </a:rPr>
              <a:t>Then, fetch a row from the cursor into one or more variables</a:t>
            </a:r>
          </a:p>
          <a:p>
            <a:pPr marL="790575" lvl="2" indent="0" algn="l">
              <a:buNone/>
            </a:pPr>
            <a:r>
              <a:rPr lang="en-US" sz="2000" dirty="0">
                <a:solidFill>
                  <a:srgbClr val="0000FF"/>
                </a:solidFill>
                <a:latin typeface="Consolas" panose="020B0609020204030204" pitchFamily="49" charset="0"/>
              </a:rPr>
              <a:t>FETCH</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NEXT</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FROM</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cursor</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INTO</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variable_list</a:t>
            </a:r>
            <a:r>
              <a:rPr lang="en-US" sz="2000" dirty="0">
                <a:solidFill>
                  <a:srgbClr val="808080"/>
                </a:solidFill>
                <a:latin typeface="Consolas" panose="020B0609020204030204" pitchFamily="49" charset="0"/>
              </a:rPr>
              <a:t>;</a:t>
            </a:r>
            <a:endParaRPr lang="en-GB" sz="2000" dirty="0">
              <a:solidFill>
                <a:srgbClr val="000000"/>
              </a:solidFill>
              <a:latin typeface="+mj-lt"/>
            </a:endParaRPr>
          </a:p>
          <a:p>
            <a:pPr marL="457200" indent="-457200">
              <a:buFont typeface="+mj-lt"/>
              <a:buAutoNum type="arabicPeriod"/>
            </a:pPr>
            <a:r>
              <a:rPr lang="en-US" dirty="0">
                <a:solidFill>
                  <a:srgbClr val="000000"/>
                </a:solidFill>
              </a:rPr>
              <a:t>SQL Server provides the @@FETCHSTATUS function that returns the status of the last cursor FETCH statement executed against the cursor; </a:t>
            </a:r>
          </a:p>
          <a:p>
            <a:pPr lvl="1"/>
            <a:r>
              <a:rPr lang="en-US" dirty="0"/>
              <a:t>@ is used for user-defined variables.</a:t>
            </a:r>
          </a:p>
          <a:p>
            <a:pPr lvl="1"/>
            <a:r>
              <a:rPr lang="en-US" dirty="0"/>
              <a:t>@@ is reserved for built-in system functions or global variables.</a:t>
            </a:r>
          </a:p>
          <a:p>
            <a:pPr lvl="1"/>
            <a:r>
              <a:rPr lang="en-US" dirty="0"/>
              <a:t>In the case of @@FETCH_STATUS, it is a global variable in SQL Server that indicates the success or failure of the last cursor FETCH operation. </a:t>
            </a:r>
          </a:p>
          <a:p>
            <a:pPr marL="0" indent="-87312">
              <a:buNone/>
            </a:pPr>
            <a:endParaRPr lang="en-US" sz="2200" dirty="0">
              <a:solidFill>
                <a:srgbClr val="808080"/>
              </a:solidFill>
              <a:latin typeface="Consolas" panose="020B0609020204030204" pitchFamily="49" charset="0"/>
            </a:endParaRPr>
          </a:p>
        </p:txBody>
      </p:sp>
    </p:spTree>
    <p:extLst>
      <p:ext uri="{BB962C8B-B14F-4D97-AF65-F5344CB8AC3E}">
        <p14:creationId xmlns:p14="http://schemas.microsoft.com/office/powerpoint/2010/main" val="312787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AAEE-701C-B2C8-19CC-A36B5C90EA7C}"/>
              </a:ext>
            </a:extLst>
          </p:cNvPr>
          <p:cNvSpPr>
            <a:spLocks noGrp="1"/>
          </p:cNvSpPr>
          <p:nvPr>
            <p:ph type="title"/>
          </p:nvPr>
        </p:nvSpPr>
        <p:spPr/>
        <p:txBody>
          <a:bodyPr/>
          <a:lstStyle/>
          <a:p>
            <a:r>
              <a:rPr lang="en-GB" dirty="0"/>
              <a:t>SQL Cursor Life Cycle - Steps (Cont..)</a:t>
            </a:r>
          </a:p>
        </p:txBody>
      </p:sp>
      <p:sp>
        <p:nvSpPr>
          <p:cNvPr id="3" name="Content Placeholder 2">
            <a:extLst>
              <a:ext uri="{FF2B5EF4-FFF2-40B4-BE49-F238E27FC236}">
                <a16:creationId xmlns:a16="http://schemas.microsoft.com/office/drawing/2014/main" id="{C57CF1F4-1C7A-F64A-7D44-C203A0B99AB6}"/>
              </a:ext>
            </a:extLst>
          </p:cNvPr>
          <p:cNvSpPr>
            <a:spLocks noGrp="1"/>
          </p:cNvSpPr>
          <p:nvPr>
            <p:ph idx="1"/>
          </p:nvPr>
        </p:nvSpPr>
        <p:spPr/>
        <p:txBody>
          <a:bodyPr/>
          <a:lstStyle/>
          <a:p>
            <a:r>
              <a:rPr lang="en-US" dirty="0"/>
              <a:t>It can have the following values:</a:t>
            </a:r>
          </a:p>
          <a:p>
            <a:pPr lvl="1"/>
            <a:r>
              <a:rPr lang="en-US" dirty="0"/>
              <a:t>0: FETCH was successful.</a:t>
            </a:r>
          </a:p>
          <a:p>
            <a:pPr lvl="1"/>
            <a:r>
              <a:rPr lang="en-US" dirty="0"/>
              <a:t>-1: FETCH failed (end of result set or cursor is not open).</a:t>
            </a:r>
          </a:p>
          <a:p>
            <a:pPr lvl="1"/>
            <a:r>
              <a:rPr lang="en-US" dirty="0"/>
              <a:t>-2: Row fetched is missing.</a:t>
            </a:r>
          </a:p>
          <a:p>
            <a:r>
              <a:rPr lang="en-US" b="0" i="0" dirty="0">
                <a:solidFill>
                  <a:srgbClr val="000000"/>
                </a:solidFill>
                <a:effectLst/>
                <a:latin typeface="+mj-lt"/>
              </a:rPr>
              <a:t>If @@FETCHSTATUS returns 0, meaning the FETCH statement was successful. </a:t>
            </a:r>
          </a:p>
          <a:p>
            <a:pPr lvl="1"/>
            <a:r>
              <a:rPr lang="en-US" b="0" i="0" dirty="0">
                <a:solidFill>
                  <a:srgbClr val="000000"/>
                </a:solidFill>
                <a:effectLst/>
                <a:latin typeface="+mj-lt"/>
              </a:rPr>
              <a:t>You can use the WHILE statement to fetch all rows from the cursor as shown in the following code</a:t>
            </a:r>
          </a:p>
          <a:p>
            <a:pPr marL="544512" lvl="1" indent="0">
              <a:buNone/>
            </a:pPr>
            <a:r>
              <a:rPr lang="en-GB" dirty="0">
                <a:solidFill>
                  <a:srgbClr val="0000FF"/>
                </a:solidFill>
                <a:latin typeface="Consolas" panose="020B0609020204030204" pitchFamily="49" charset="0"/>
              </a:rPr>
              <a:t>WHILE</a:t>
            </a:r>
            <a:r>
              <a:rPr lang="en-GB" dirty="0">
                <a:solidFill>
                  <a:srgbClr val="000000"/>
                </a:solidFill>
                <a:latin typeface="Consolas" panose="020B0609020204030204" pitchFamily="49" charset="0"/>
              </a:rPr>
              <a:t> </a:t>
            </a:r>
            <a:r>
              <a:rPr lang="en-GB" dirty="0">
                <a:solidFill>
                  <a:srgbClr val="FF00FF"/>
                </a:solidFill>
                <a:latin typeface="Consolas" panose="020B0609020204030204" pitchFamily="49" charset="0"/>
              </a:rPr>
              <a:t>@@FETCH_STATUS</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0  </a:t>
            </a:r>
          </a:p>
          <a:p>
            <a:pPr marL="544512" lvl="1" indent="0">
              <a:buNone/>
            </a:pP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BEGIN</a:t>
            </a:r>
            <a:endParaRPr lang="en-GB" dirty="0">
              <a:solidFill>
                <a:srgbClr val="000000"/>
              </a:solidFill>
              <a:latin typeface="Consolas" panose="020B0609020204030204" pitchFamily="49" charset="0"/>
            </a:endParaRPr>
          </a:p>
          <a:p>
            <a:pPr marL="544512" lvl="1" indent="0">
              <a:buNone/>
            </a:pP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FETCH</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NEXT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cursor_name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p>
          <a:p>
            <a:pPr marL="544512" lvl="1" indent="0">
              <a:buNone/>
            </a:pP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END</a:t>
            </a:r>
            <a:r>
              <a:rPr lang="en-GB" dirty="0">
                <a:solidFill>
                  <a:srgbClr val="808080"/>
                </a:solidFill>
                <a:latin typeface="Consolas" panose="020B0609020204030204" pitchFamily="49" charset="0"/>
              </a:rPr>
              <a:t>;</a:t>
            </a:r>
          </a:p>
          <a:p>
            <a:pPr marL="457200" indent="-457200">
              <a:buFont typeface="+mj-lt"/>
              <a:buAutoNum type="arabicPeriod" startAt="5"/>
            </a:pPr>
            <a:r>
              <a:rPr lang="en-US" b="0" i="0" dirty="0">
                <a:solidFill>
                  <a:srgbClr val="000000"/>
                </a:solidFill>
                <a:effectLst/>
                <a:latin typeface="+mj-lt"/>
              </a:rPr>
              <a:t>After that, close the cursor</a:t>
            </a:r>
            <a:endParaRPr lang="en-GB" b="0" i="0" dirty="0">
              <a:solidFill>
                <a:srgbClr val="000000"/>
              </a:solidFill>
              <a:effectLst/>
              <a:latin typeface="+mj-lt"/>
            </a:endParaRPr>
          </a:p>
          <a:p>
            <a:pPr marL="544512" lvl="1" indent="0">
              <a:buNone/>
            </a:pPr>
            <a:r>
              <a:rPr lang="en-GB" dirty="0">
                <a:solidFill>
                  <a:srgbClr val="0000FF"/>
                </a:solidFill>
                <a:latin typeface="Consolas" panose="020B0609020204030204" pitchFamily="49" charset="0"/>
              </a:rPr>
              <a:t>CLOSE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cursor_name</a:t>
            </a:r>
            <a:r>
              <a:rPr lang="en-GB" dirty="0">
                <a:solidFill>
                  <a:srgbClr val="808080"/>
                </a:solidFill>
                <a:latin typeface="Consolas" panose="020B0609020204030204" pitchFamily="49" charset="0"/>
              </a:rPr>
              <a:t>;</a:t>
            </a:r>
          </a:p>
          <a:p>
            <a:pPr marL="457200" indent="-457200">
              <a:buFont typeface="+mj-lt"/>
              <a:buAutoNum type="arabicPeriod" startAt="5"/>
            </a:pPr>
            <a:r>
              <a:rPr lang="en-US" b="0" i="0" dirty="0">
                <a:solidFill>
                  <a:srgbClr val="000000"/>
                </a:solidFill>
                <a:effectLst/>
                <a:latin typeface="+mj-lt"/>
              </a:rPr>
              <a:t>Finally, deallocate the cursor</a:t>
            </a:r>
          </a:p>
          <a:p>
            <a:pPr marL="544512" lvl="1" indent="0">
              <a:buNone/>
            </a:pPr>
            <a:r>
              <a:rPr lang="en-GB" dirty="0">
                <a:solidFill>
                  <a:srgbClr val="0000FF"/>
                </a:solidFill>
                <a:latin typeface="Consolas" panose="020B0609020204030204" pitchFamily="49" charset="0"/>
              </a:rPr>
              <a:t>DEALLOCATE </a:t>
            </a:r>
            <a:r>
              <a:rPr lang="en-GB" dirty="0" err="1">
                <a:latin typeface="Consolas" panose="020B0609020204030204" pitchFamily="49" charset="0"/>
              </a:rPr>
              <a:t>cursor_name</a:t>
            </a:r>
            <a:r>
              <a:rPr lang="en-GB" dirty="0">
                <a:latin typeface="Consolas" panose="020B0609020204030204" pitchFamily="49" charset="0"/>
              </a:rPr>
              <a:t>;</a:t>
            </a:r>
            <a:endParaRPr lang="en-US" dirty="0">
              <a:latin typeface="Consolas" panose="020B0609020204030204" pitchFamily="49" charset="0"/>
            </a:endParaRPr>
          </a:p>
          <a:p>
            <a:pPr marL="457200" lvl="1" indent="0">
              <a:buNone/>
            </a:pPr>
            <a:endParaRPr lang="en-GB" sz="1800" b="0" i="0" dirty="0">
              <a:solidFill>
                <a:srgbClr val="000000"/>
              </a:solidFill>
              <a:effectLst/>
              <a:latin typeface="+mj-lt"/>
            </a:endParaRPr>
          </a:p>
        </p:txBody>
      </p:sp>
    </p:spTree>
    <p:extLst>
      <p:ext uri="{BB962C8B-B14F-4D97-AF65-F5344CB8AC3E}">
        <p14:creationId xmlns:p14="http://schemas.microsoft.com/office/powerpoint/2010/main" val="38615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1: Cursor</a:t>
            </a:r>
          </a:p>
        </p:txBody>
      </p:sp>
      <p:sp>
        <p:nvSpPr>
          <p:cNvPr id="4" name="Content Placeholder 2">
            <a:extLst>
              <a:ext uri="{FF2B5EF4-FFF2-40B4-BE49-F238E27FC236}">
                <a16:creationId xmlns:a16="http://schemas.microsoft.com/office/drawing/2014/main" id="{D87DC708-6E64-0AFA-E441-0D0905A1D471}"/>
              </a:ext>
            </a:extLst>
          </p:cNvPr>
          <p:cNvSpPr txBox="1">
            <a:spLocks/>
          </p:cNvSpPr>
          <p:nvPr/>
        </p:nvSpPr>
        <p:spPr>
          <a:xfrm>
            <a:off x="5919270" y="863444"/>
            <a:ext cx="5476518"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700" dirty="0"/>
          </a:p>
        </p:txBody>
      </p:sp>
      <p:sp>
        <p:nvSpPr>
          <p:cNvPr id="7" name="Rectangle 6">
            <a:extLst>
              <a:ext uri="{FF2B5EF4-FFF2-40B4-BE49-F238E27FC236}">
                <a16:creationId xmlns:a16="http://schemas.microsoft.com/office/drawing/2014/main" id="{188AA944-04AA-97EF-DD45-9F4BAB75B2FB}"/>
              </a:ext>
            </a:extLst>
          </p:cNvPr>
          <p:cNvSpPr/>
          <p:nvPr/>
        </p:nvSpPr>
        <p:spPr>
          <a:xfrm>
            <a:off x="681912" y="771390"/>
            <a:ext cx="5123058" cy="5688000"/>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DECLARE</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 </a:t>
            </a:r>
            <a:r>
              <a:rPr lang="en-GB" sz="1600" dirty="0">
                <a:solidFill>
                  <a:srgbClr val="0000FF"/>
                </a:solidFill>
                <a:latin typeface="Consolas" panose="020B0609020204030204" pitchFamily="49" charset="0"/>
              </a:rPr>
              <a:t>VARCHAR</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250</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@Salary    </a:t>
            </a:r>
            <a:r>
              <a:rPr lang="en-GB" sz="1600" dirty="0">
                <a:solidFill>
                  <a:srgbClr val="0000FF"/>
                </a:solidFill>
                <a:latin typeface="Consolas" panose="020B0609020204030204" pitchFamily="49" charset="0"/>
              </a:rPr>
              <a:t>DECIMAL</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8</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2</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DECLARE</a:t>
            </a:r>
            <a:r>
              <a:rPr lang="en-GB" sz="1600"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cursor_person</a:t>
            </a:r>
            <a:r>
              <a:rPr lang="en-GB" sz="1600" b="1"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CURSOR</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FOR</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SELECT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Salary</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FROM</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Person</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OPEN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cursor_person</a:t>
            </a:r>
            <a:r>
              <a:rPr lang="en-GB" sz="1600" dirty="0">
                <a:solidFill>
                  <a:srgbClr val="808080"/>
                </a:solidFill>
                <a:latin typeface="Consolas" panose="020B0609020204030204" pitchFamily="49" charset="0"/>
              </a:rPr>
              <a:t>;</a:t>
            </a:r>
          </a:p>
          <a:p>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cursor_person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@Salary</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WHILE</a:t>
            </a:r>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@@FETCH_STATUS</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0</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PRINT</a:t>
            </a:r>
            <a:r>
              <a:rPr lang="en-GB" sz="1600" dirty="0">
                <a:solidFill>
                  <a:srgbClr val="000000"/>
                </a:solidFill>
                <a:latin typeface="Consolas" panose="020B0609020204030204" pitchFamily="49" charset="0"/>
              </a:rPr>
              <a:t> @FirstName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CAST</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@Salary </a:t>
            </a:r>
            <a:r>
              <a:rPr lang="en-GB" sz="1600" dirty="0">
                <a:solidFill>
                  <a:srgbClr val="0000FF"/>
                </a:solidFill>
                <a:latin typeface="Consolas" panose="020B0609020204030204" pitchFamily="49" charset="0"/>
              </a:rPr>
              <a:t>AS</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varchar</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cursor_person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@Salary</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CLOSE</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cursor_person</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DEALLOCATE</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cursor_person</a:t>
            </a:r>
            <a:r>
              <a:rPr lang="en-GB" sz="1600" dirty="0">
                <a:solidFill>
                  <a:srgbClr val="808080"/>
                </a:solidFill>
                <a:latin typeface="Consolas" panose="020B0609020204030204" pitchFamily="49" charset="0"/>
              </a:rPr>
              <a:t>;</a:t>
            </a:r>
            <a:endParaRPr lang="en-US" sz="1600" dirty="0"/>
          </a:p>
          <a:p>
            <a:endParaRPr lang="en-US" sz="1600" dirty="0"/>
          </a:p>
        </p:txBody>
      </p:sp>
      <p:sp>
        <p:nvSpPr>
          <p:cNvPr id="8" name="Rectangle 7">
            <a:extLst>
              <a:ext uri="{FF2B5EF4-FFF2-40B4-BE49-F238E27FC236}">
                <a16:creationId xmlns:a16="http://schemas.microsoft.com/office/drawing/2014/main" id="{232266E0-6817-FA22-AF14-3A29C7BC2D31}"/>
              </a:ext>
            </a:extLst>
          </p:cNvPr>
          <p:cNvSpPr/>
          <p:nvPr/>
        </p:nvSpPr>
        <p:spPr>
          <a:xfrm>
            <a:off x="232426" y="771390"/>
            <a:ext cx="453374" cy="567847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a:p>
            <a:pPr algn="r"/>
            <a:r>
              <a:rPr lang="en-IN" sz="1650" b="1" dirty="0">
                <a:solidFill>
                  <a:schemeClr val="tx1">
                    <a:lumMod val="75000"/>
                    <a:lumOff val="25000"/>
                  </a:schemeClr>
                </a:solidFill>
                <a:latin typeface="Consolas" panose="020B0609020204030204" pitchFamily="49" charset="0"/>
              </a:rPr>
              <a:t>20</a:t>
            </a:r>
          </a:p>
          <a:p>
            <a:pPr algn="r"/>
            <a:r>
              <a:rPr lang="en-IN" sz="1650" b="1" dirty="0">
                <a:solidFill>
                  <a:schemeClr val="tx1">
                    <a:lumMod val="75000"/>
                    <a:lumOff val="25000"/>
                  </a:schemeClr>
                </a:solidFill>
                <a:latin typeface="Consolas" panose="020B0609020204030204" pitchFamily="49" charset="0"/>
              </a:rPr>
              <a:t>21</a:t>
            </a:r>
          </a:p>
        </p:txBody>
      </p:sp>
      <p:sp>
        <p:nvSpPr>
          <p:cNvPr id="10" name="Rectangle: Top Corners Rounded 9">
            <a:extLst>
              <a:ext uri="{FF2B5EF4-FFF2-40B4-BE49-F238E27FC236}">
                <a16:creationId xmlns:a16="http://schemas.microsoft.com/office/drawing/2014/main" id="{AD90EE71-A3FA-445D-257D-C640198FAC0E}"/>
              </a:ext>
            </a:extLst>
          </p:cNvPr>
          <p:cNvSpPr/>
          <p:nvPr/>
        </p:nvSpPr>
        <p:spPr>
          <a:xfrm>
            <a:off x="6096001" y="771390"/>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1" name="Picture 10">
            <a:extLst>
              <a:ext uri="{FF2B5EF4-FFF2-40B4-BE49-F238E27FC236}">
                <a16:creationId xmlns:a16="http://schemas.microsoft.com/office/drawing/2014/main" id="{38218A02-B623-2DD7-B528-E2D496DFE27C}"/>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6110258" y="1100574"/>
            <a:ext cx="2229948" cy="1450548"/>
          </a:xfrm>
          <a:prstGeom prst="rect">
            <a:avLst/>
          </a:prstGeom>
          <a:solidFill>
            <a:srgbClr val="FFFFFF">
              <a:shade val="85000"/>
            </a:srgbClr>
          </a:solidFill>
          <a:ln w="19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8123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
                                            <p:bg/>
                                          </p:spTgt>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7">
                                            <p:txEl>
                                              <p:pRg st="19" end="19"/>
                                            </p:txEl>
                                          </p:spTgt>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7">
                                            <p:txEl>
                                              <p:pRg st="20" end="20"/>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7">
                                            <p:txEl>
                                              <p:pRg st="21" end="21"/>
                                            </p:txEl>
                                          </p:spTgt>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10"/>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8"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- 2: Cursor</a:t>
            </a:r>
          </a:p>
        </p:txBody>
      </p:sp>
      <p:sp>
        <p:nvSpPr>
          <p:cNvPr id="4" name="Content Placeholder 2">
            <a:extLst>
              <a:ext uri="{FF2B5EF4-FFF2-40B4-BE49-F238E27FC236}">
                <a16:creationId xmlns:a16="http://schemas.microsoft.com/office/drawing/2014/main" id="{D87DC708-6E64-0AFA-E441-0D0905A1D471}"/>
              </a:ext>
            </a:extLst>
          </p:cNvPr>
          <p:cNvSpPr txBox="1">
            <a:spLocks/>
          </p:cNvSpPr>
          <p:nvPr/>
        </p:nvSpPr>
        <p:spPr>
          <a:xfrm>
            <a:off x="5919270" y="863444"/>
            <a:ext cx="5476518"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700" dirty="0"/>
          </a:p>
        </p:txBody>
      </p:sp>
      <p:sp>
        <p:nvSpPr>
          <p:cNvPr id="7" name="Rectangle 6">
            <a:extLst>
              <a:ext uri="{FF2B5EF4-FFF2-40B4-BE49-F238E27FC236}">
                <a16:creationId xmlns:a16="http://schemas.microsoft.com/office/drawing/2014/main" id="{188AA944-04AA-97EF-DD45-9F4BAB75B2FB}"/>
              </a:ext>
            </a:extLst>
          </p:cNvPr>
          <p:cNvSpPr/>
          <p:nvPr/>
        </p:nvSpPr>
        <p:spPr>
          <a:xfrm>
            <a:off x="681912" y="1619115"/>
            <a:ext cx="5123058" cy="3970318"/>
          </a:xfrm>
          <a:prstGeom prst="rect">
            <a:avLst/>
          </a:prstGeom>
          <a:solidFill>
            <a:schemeClr val="bg1">
              <a:lumMod val="95000"/>
            </a:schemeClr>
          </a:solidFill>
          <a:ln>
            <a:noFill/>
          </a:ln>
        </p:spPr>
        <p:txBody>
          <a:bodyPr wrap="square">
            <a:spAutoFit/>
          </a:bodyPr>
          <a:lstStyle/>
          <a:p>
            <a:r>
              <a:rPr lang="en-GB" dirty="0">
                <a:solidFill>
                  <a:srgbClr val="008000"/>
                </a:solidFill>
                <a:latin typeface="Consolas" panose="020B0609020204030204" pitchFamily="49" charset="0"/>
              </a:rPr>
              <a:t>-- declare variables used in cursor</a:t>
            </a:r>
            <a:endParaRPr lang="en-GB"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DECLARE</a:t>
            </a:r>
            <a:r>
              <a:rPr lang="en-GB" dirty="0">
                <a:solidFill>
                  <a:srgbClr val="000000"/>
                </a:solidFill>
                <a:latin typeface="Consolas" panose="020B0609020204030204" pitchFamily="49" charset="0"/>
              </a:rPr>
              <a:t> @city_name </a:t>
            </a:r>
            <a:r>
              <a:rPr lang="en-GB" dirty="0">
                <a:solidFill>
                  <a:srgbClr val="0000FF"/>
                </a:solidFill>
                <a:latin typeface="Consolas" panose="020B0609020204030204" pitchFamily="49" charset="0"/>
              </a:rPr>
              <a:t>VARCHAR</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128</a:t>
            </a:r>
            <a:r>
              <a:rPr lang="en-GB" dirty="0">
                <a:solidFill>
                  <a:srgbClr val="808080"/>
                </a:solidFill>
                <a:latin typeface="Consolas" panose="020B0609020204030204" pitchFamily="49" charset="0"/>
              </a:rPr>
              <a:t>);</a:t>
            </a:r>
            <a:endParaRPr lang="en-GB"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DECLARE</a:t>
            </a:r>
            <a:r>
              <a:rPr lang="en-GB" dirty="0">
                <a:solidFill>
                  <a:srgbClr val="000000"/>
                </a:solidFill>
                <a:latin typeface="Consolas" panose="020B0609020204030204" pitchFamily="49" charset="0"/>
              </a:rPr>
              <a:t> @country_name </a:t>
            </a:r>
            <a:r>
              <a:rPr lang="en-GB" dirty="0">
                <a:solidFill>
                  <a:srgbClr val="0000FF"/>
                </a:solidFill>
                <a:latin typeface="Consolas" panose="020B0609020204030204" pitchFamily="49" charset="0"/>
              </a:rPr>
              <a:t>VARCHAR</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128</a:t>
            </a:r>
            <a:r>
              <a:rPr lang="en-GB" dirty="0">
                <a:solidFill>
                  <a:srgbClr val="808080"/>
                </a:solidFill>
                <a:latin typeface="Consolas" panose="020B0609020204030204" pitchFamily="49" charset="0"/>
              </a:rPr>
              <a:t>);</a:t>
            </a:r>
            <a:endParaRPr lang="en-GB"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DECLARE</a:t>
            </a:r>
            <a:r>
              <a:rPr lang="en-GB" dirty="0">
                <a:solidFill>
                  <a:srgbClr val="000000"/>
                </a:solidFill>
                <a:latin typeface="Consolas" panose="020B0609020204030204" pitchFamily="49" charset="0"/>
              </a:rPr>
              <a:t> @city_id </a:t>
            </a:r>
            <a:r>
              <a:rPr lang="en-GB" dirty="0">
                <a:solidFill>
                  <a:srgbClr val="0000FF"/>
                </a:solidFill>
                <a:latin typeface="Consolas" panose="020B0609020204030204" pitchFamily="49" charset="0"/>
              </a:rPr>
              <a:t>INT</a:t>
            </a:r>
            <a:r>
              <a:rPr lang="en-GB" dirty="0">
                <a:solidFill>
                  <a:srgbClr val="808080"/>
                </a:solidFill>
                <a:latin typeface="Consolas" panose="020B0609020204030204" pitchFamily="49" charset="0"/>
              </a:rPr>
              <a:t>;</a:t>
            </a:r>
            <a:endParaRPr lang="en-GB"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 </a:t>
            </a:r>
          </a:p>
          <a:p>
            <a:r>
              <a:rPr lang="en-GB" dirty="0">
                <a:solidFill>
                  <a:srgbClr val="008000"/>
                </a:solidFill>
                <a:latin typeface="Consolas" panose="020B0609020204030204" pitchFamily="49" charset="0"/>
              </a:rPr>
              <a:t>-- declare cursor</a:t>
            </a:r>
            <a:endParaRPr lang="en-GB"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DECLARE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cursor_city_country</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CURSOR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FOR</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city</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TRIM</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city</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city_name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TRIM</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country</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country_name</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FROM</a:t>
            </a:r>
            <a:r>
              <a:rPr lang="en-GB" dirty="0">
                <a:solidFill>
                  <a:srgbClr val="000000"/>
                </a:solidFill>
                <a:latin typeface="Consolas" panose="020B0609020204030204" pitchFamily="49" charset="0"/>
              </a:rPr>
              <a:t> city</a:t>
            </a:r>
          </a:p>
          <a:p>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INNER</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JOIN</a:t>
            </a:r>
            <a:r>
              <a:rPr lang="en-US" dirty="0">
                <a:solidFill>
                  <a:srgbClr val="000000"/>
                </a:solidFill>
                <a:latin typeface="Consolas" panose="020B0609020204030204" pitchFamily="49" charset="0"/>
              </a:rPr>
              <a:t> country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city</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country_id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country</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 open cursor</a:t>
            </a:r>
            <a:endParaRPr lang="en-GB"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OPEN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cursor_city_country</a:t>
            </a:r>
            <a:r>
              <a:rPr lang="en-GB" dirty="0">
                <a:solidFill>
                  <a:srgbClr val="808080"/>
                </a:solidFill>
                <a:latin typeface="Consolas" panose="020B0609020204030204" pitchFamily="49" charset="0"/>
              </a:rPr>
              <a:t>;</a:t>
            </a:r>
          </a:p>
        </p:txBody>
      </p:sp>
      <p:sp>
        <p:nvSpPr>
          <p:cNvPr id="8" name="Rectangle 7">
            <a:extLst>
              <a:ext uri="{FF2B5EF4-FFF2-40B4-BE49-F238E27FC236}">
                <a16:creationId xmlns:a16="http://schemas.microsoft.com/office/drawing/2014/main" id="{232266E0-6817-FA22-AF14-3A29C7BC2D31}"/>
              </a:ext>
            </a:extLst>
          </p:cNvPr>
          <p:cNvSpPr/>
          <p:nvPr/>
        </p:nvSpPr>
        <p:spPr>
          <a:xfrm>
            <a:off x="232426" y="1619115"/>
            <a:ext cx="453374" cy="3970318"/>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a:p>
            <a:pPr algn="r"/>
            <a:r>
              <a:rPr lang="en-IN" b="1" dirty="0">
                <a:solidFill>
                  <a:schemeClr val="tx1">
                    <a:lumMod val="75000"/>
                    <a:lumOff val="25000"/>
                  </a:schemeClr>
                </a:solidFill>
                <a:latin typeface="Consolas" panose="020B0609020204030204" pitchFamily="49" charset="0"/>
              </a:rPr>
              <a:t>2</a:t>
            </a:r>
          </a:p>
          <a:p>
            <a:pPr algn="r"/>
            <a:r>
              <a:rPr lang="en-IN" b="1" dirty="0">
                <a:solidFill>
                  <a:schemeClr val="tx1">
                    <a:lumMod val="75000"/>
                    <a:lumOff val="25000"/>
                  </a:schemeClr>
                </a:solidFill>
                <a:latin typeface="Consolas" panose="020B0609020204030204" pitchFamily="49" charset="0"/>
              </a:rPr>
              <a:t>3</a:t>
            </a:r>
          </a:p>
          <a:p>
            <a:pPr algn="r"/>
            <a:r>
              <a:rPr lang="en-IN" b="1" dirty="0">
                <a:solidFill>
                  <a:schemeClr val="tx1">
                    <a:lumMod val="75000"/>
                    <a:lumOff val="25000"/>
                  </a:schemeClr>
                </a:solidFill>
                <a:latin typeface="Consolas" panose="020B0609020204030204" pitchFamily="49" charset="0"/>
              </a:rPr>
              <a:t>4</a:t>
            </a:r>
          </a:p>
          <a:p>
            <a:pPr algn="r"/>
            <a:r>
              <a:rPr lang="en-IN" b="1" dirty="0">
                <a:solidFill>
                  <a:schemeClr val="tx1">
                    <a:lumMod val="75000"/>
                    <a:lumOff val="25000"/>
                  </a:schemeClr>
                </a:solidFill>
                <a:latin typeface="Consolas" panose="020B0609020204030204" pitchFamily="49" charset="0"/>
              </a:rPr>
              <a:t>5</a:t>
            </a:r>
          </a:p>
          <a:p>
            <a:pPr algn="r"/>
            <a:r>
              <a:rPr lang="en-IN" b="1" dirty="0">
                <a:solidFill>
                  <a:schemeClr val="tx1">
                    <a:lumMod val="75000"/>
                    <a:lumOff val="25000"/>
                  </a:schemeClr>
                </a:solidFill>
                <a:latin typeface="Consolas" panose="020B0609020204030204" pitchFamily="49" charset="0"/>
              </a:rPr>
              <a:t>6</a:t>
            </a:r>
          </a:p>
          <a:p>
            <a:pPr algn="r"/>
            <a:r>
              <a:rPr lang="en-IN" b="1" dirty="0">
                <a:solidFill>
                  <a:schemeClr val="tx1">
                    <a:lumMod val="75000"/>
                    <a:lumOff val="25000"/>
                  </a:schemeClr>
                </a:solidFill>
                <a:latin typeface="Consolas" panose="020B0609020204030204" pitchFamily="49" charset="0"/>
              </a:rPr>
              <a:t>7</a:t>
            </a:r>
          </a:p>
          <a:p>
            <a:pPr algn="r"/>
            <a:r>
              <a:rPr lang="en-IN" b="1" dirty="0">
                <a:solidFill>
                  <a:schemeClr val="tx1">
                    <a:lumMod val="75000"/>
                    <a:lumOff val="25000"/>
                  </a:schemeClr>
                </a:solidFill>
                <a:latin typeface="Consolas" panose="020B0609020204030204" pitchFamily="49" charset="0"/>
              </a:rPr>
              <a:t>8</a:t>
            </a:r>
          </a:p>
          <a:p>
            <a:pPr algn="r"/>
            <a:r>
              <a:rPr lang="en-IN" b="1" dirty="0">
                <a:solidFill>
                  <a:schemeClr val="tx1">
                    <a:lumMod val="75000"/>
                    <a:lumOff val="25000"/>
                  </a:schemeClr>
                </a:solidFill>
                <a:latin typeface="Consolas" panose="020B0609020204030204" pitchFamily="49" charset="0"/>
              </a:rPr>
              <a:t>8</a:t>
            </a:r>
          </a:p>
          <a:p>
            <a:pPr algn="r"/>
            <a:r>
              <a:rPr lang="en-IN" b="1" dirty="0">
                <a:solidFill>
                  <a:schemeClr val="tx1">
                    <a:lumMod val="75000"/>
                    <a:lumOff val="25000"/>
                  </a:schemeClr>
                </a:solidFill>
                <a:latin typeface="Consolas" panose="020B0609020204030204" pitchFamily="49" charset="0"/>
              </a:rPr>
              <a:t>9</a:t>
            </a:r>
          </a:p>
          <a:p>
            <a:pPr algn="r"/>
            <a:r>
              <a:rPr lang="en-IN" b="1" dirty="0">
                <a:solidFill>
                  <a:schemeClr val="tx1">
                    <a:lumMod val="75000"/>
                    <a:lumOff val="25000"/>
                  </a:schemeClr>
                </a:solidFill>
                <a:latin typeface="Consolas" panose="020B0609020204030204" pitchFamily="49" charset="0"/>
              </a:rPr>
              <a:t>10</a:t>
            </a:r>
          </a:p>
          <a:p>
            <a:pPr algn="r"/>
            <a:r>
              <a:rPr lang="en-IN" b="1" dirty="0">
                <a:solidFill>
                  <a:schemeClr val="tx1">
                    <a:lumMod val="75000"/>
                    <a:lumOff val="25000"/>
                  </a:schemeClr>
                </a:solidFill>
                <a:latin typeface="Consolas" panose="020B0609020204030204" pitchFamily="49" charset="0"/>
              </a:rPr>
              <a:t>11</a:t>
            </a:r>
          </a:p>
          <a:p>
            <a:pPr algn="r"/>
            <a:r>
              <a:rPr lang="en-IN" b="1" dirty="0">
                <a:solidFill>
                  <a:schemeClr val="tx1">
                    <a:lumMod val="75000"/>
                    <a:lumOff val="25000"/>
                  </a:schemeClr>
                </a:solidFill>
                <a:latin typeface="Consolas" panose="020B0609020204030204" pitchFamily="49" charset="0"/>
              </a:rPr>
              <a:t>12</a:t>
            </a:r>
          </a:p>
          <a:p>
            <a:pPr algn="r"/>
            <a:r>
              <a:rPr lang="en-IN" b="1" dirty="0">
                <a:solidFill>
                  <a:schemeClr val="tx1">
                    <a:lumMod val="75000"/>
                    <a:lumOff val="25000"/>
                  </a:schemeClr>
                </a:solidFill>
                <a:latin typeface="Consolas" panose="020B0609020204030204" pitchFamily="49" charset="0"/>
              </a:rPr>
              <a:t>13</a:t>
            </a:r>
          </a:p>
        </p:txBody>
      </p:sp>
      <p:sp>
        <p:nvSpPr>
          <p:cNvPr id="9" name="Rectangle 8">
            <a:extLst>
              <a:ext uri="{FF2B5EF4-FFF2-40B4-BE49-F238E27FC236}">
                <a16:creationId xmlns:a16="http://schemas.microsoft.com/office/drawing/2014/main" id="{43B62EC6-FEA4-645E-8E80-C3D0C5B3C953}"/>
              </a:ext>
            </a:extLst>
          </p:cNvPr>
          <p:cNvSpPr/>
          <p:nvPr/>
        </p:nvSpPr>
        <p:spPr>
          <a:xfrm>
            <a:off x="6614329" y="1619115"/>
            <a:ext cx="5123058" cy="4524315"/>
          </a:xfrm>
          <a:prstGeom prst="rect">
            <a:avLst/>
          </a:prstGeom>
          <a:solidFill>
            <a:schemeClr val="bg1">
              <a:lumMod val="95000"/>
            </a:schemeClr>
          </a:solidFill>
          <a:ln>
            <a:noFill/>
          </a:ln>
        </p:spPr>
        <p:txBody>
          <a:bodyPr wrap="square">
            <a:spAutoFit/>
          </a:bodyPr>
          <a:lstStyle/>
          <a:p>
            <a:r>
              <a:rPr lang="en-US" dirty="0">
                <a:solidFill>
                  <a:srgbClr val="0000FF"/>
                </a:solidFill>
                <a:latin typeface="Consolas" panose="020B0609020204030204" pitchFamily="49" charset="0"/>
              </a:rPr>
              <a:t>FETCH</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NEXT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cursor_city_country</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INTO</a:t>
            </a:r>
            <a:r>
              <a:rPr lang="en-US" dirty="0">
                <a:solidFill>
                  <a:srgbClr val="000000"/>
                </a:solidFill>
                <a:latin typeface="Consolas" panose="020B0609020204030204" pitchFamily="49" charset="0"/>
              </a:rPr>
              <a:t> @city_id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@city_name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@country_name</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WHILE</a:t>
            </a:r>
            <a:r>
              <a:rPr lang="en-GB" dirty="0">
                <a:solidFill>
                  <a:srgbClr val="000000"/>
                </a:solidFill>
                <a:latin typeface="Consolas" panose="020B0609020204030204" pitchFamily="49" charset="0"/>
              </a:rPr>
              <a:t> </a:t>
            </a:r>
            <a:r>
              <a:rPr lang="en-GB" dirty="0">
                <a:solidFill>
                  <a:srgbClr val="FF00FF"/>
                </a:solidFill>
                <a:latin typeface="Consolas" panose="020B0609020204030204" pitchFamily="49" charset="0"/>
              </a:rPr>
              <a:t>@@FETCH_STATUS</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0</a:t>
            </a:r>
          </a:p>
          <a:p>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BEGIN</a:t>
            </a:r>
            <a:endParaRPr lang="en-GB"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PRINT</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CONCAT</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'city id: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@city_id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 - city name: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@city_name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 - country name: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@country_name</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FETCH</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NEXT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cursor_city_country</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INTO</a:t>
            </a:r>
            <a:r>
              <a:rPr lang="en-US" dirty="0">
                <a:solidFill>
                  <a:srgbClr val="000000"/>
                </a:solidFill>
                <a:latin typeface="Consolas" panose="020B0609020204030204" pitchFamily="49" charset="0"/>
              </a:rPr>
              <a:t> @city_id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@city_name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@country_name</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END</a:t>
            </a:r>
            <a:r>
              <a:rPr lang="en-GB" dirty="0">
                <a:solidFill>
                  <a:srgbClr val="808080"/>
                </a:solidFill>
                <a:latin typeface="Consolas" panose="020B0609020204030204" pitchFamily="49" charset="0"/>
              </a:rPr>
              <a:t>;</a:t>
            </a:r>
            <a:endParaRPr lang="en-GB"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 </a:t>
            </a:r>
          </a:p>
          <a:p>
            <a:r>
              <a:rPr lang="en-GB" dirty="0">
                <a:solidFill>
                  <a:srgbClr val="008000"/>
                </a:solidFill>
                <a:latin typeface="Consolas" panose="020B0609020204030204" pitchFamily="49" charset="0"/>
              </a:rPr>
              <a:t>-- close and deallocate cursor</a:t>
            </a:r>
            <a:endParaRPr lang="en-GB"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CLOSE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cursor_city_country</a:t>
            </a:r>
            <a:r>
              <a:rPr lang="en-GB" dirty="0">
                <a:solidFill>
                  <a:srgbClr val="808080"/>
                </a:solidFill>
                <a:latin typeface="Consolas" panose="020B0609020204030204" pitchFamily="49" charset="0"/>
              </a:rPr>
              <a:t>;</a:t>
            </a:r>
            <a:endParaRPr lang="en-GB"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DEALLOCATE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cursor_city_country</a:t>
            </a:r>
            <a:r>
              <a:rPr lang="en-GB" dirty="0">
                <a:solidFill>
                  <a:srgbClr val="808080"/>
                </a:solidFill>
                <a:latin typeface="Consolas" panose="020B0609020204030204" pitchFamily="49" charset="0"/>
              </a:rPr>
              <a:t>;</a:t>
            </a:r>
            <a:endParaRPr lang="en-US" dirty="0"/>
          </a:p>
        </p:txBody>
      </p:sp>
      <p:sp>
        <p:nvSpPr>
          <p:cNvPr id="12" name="Rectangle 11">
            <a:extLst>
              <a:ext uri="{FF2B5EF4-FFF2-40B4-BE49-F238E27FC236}">
                <a16:creationId xmlns:a16="http://schemas.microsoft.com/office/drawing/2014/main" id="{0CEA04DC-3985-1D20-42CB-534DB42F57EA}"/>
              </a:ext>
            </a:extLst>
          </p:cNvPr>
          <p:cNvSpPr/>
          <p:nvPr/>
        </p:nvSpPr>
        <p:spPr>
          <a:xfrm>
            <a:off x="6164843" y="1619115"/>
            <a:ext cx="453374" cy="4524315"/>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14</a:t>
            </a:r>
          </a:p>
          <a:p>
            <a:pPr algn="r"/>
            <a:r>
              <a:rPr lang="en-US" b="1" dirty="0">
                <a:solidFill>
                  <a:schemeClr val="tx1">
                    <a:lumMod val="75000"/>
                    <a:lumOff val="25000"/>
                  </a:schemeClr>
                </a:solidFill>
                <a:latin typeface="Consolas" panose="020B0609020204030204" pitchFamily="49" charset="0"/>
              </a:rPr>
              <a:t>15</a:t>
            </a:r>
          </a:p>
          <a:p>
            <a:pPr algn="r"/>
            <a:r>
              <a:rPr lang="en-US" b="1" dirty="0">
                <a:solidFill>
                  <a:schemeClr val="tx1">
                    <a:lumMod val="75000"/>
                    <a:lumOff val="25000"/>
                  </a:schemeClr>
                </a:solidFill>
                <a:latin typeface="Consolas" panose="020B0609020204030204" pitchFamily="49" charset="0"/>
              </a:rPr>
              <a:t>16</a:t>
            </a:r>
          </a:p>
          <a:p>
            <a:pPr algn="r"/>
            <a:r>
              <a:rPr lang="en-US" b="1" dirty="0">
                <a:solidFill>
                  <a:schemeClr val="tx1">
                    <a:lumMod val="75000"/>
                    <a:lumOff val="25000"/>
                  </a:schemeClr>
                </a:solidFill>
                <a:latin typeface="Consolas" panose="020B0609020204030204" pitchFamily="49" charset="0"/>
              </a:rPr>
              <a:t>17</a:t>
            </a:r>
          </a:p>
          <a:p>
            <a:pPr algn="r"/>
            <a:r>
              <a:rPr lang="en-US" b="1" dirty="0">
                <a:solidFill>
                  <a:schemeClr val="tx1">
                    <a:lumMod val="75000"/>
                    <a:lumOff val="25000"/>
                  </a:schemeClr>
                </a:solidFill>
                <a:latin typeface="Consolas" panose="020B0609020204030204" pitchFamily="49" charset="0"/>
              </a:rPr>
              <a:t>18</a:t>
            </a:r>
          </a:p>
          <a:p>
            <a:pPr algn="r"/>
            <a:r>
              <a:rPr lang="en-US" b="1" dirty="0">
                <a:solidFill>
                  <a:schemeClr val="tx1">
                    <a:lumMod val="75000"/>
                    <a:lumOff val="25000"/>
                  </a:schemeClr>
                </a:solidFill>
                <a:latin typeface="Consolas" panose="020B0609020204030204" pitchFamily="49" charset="0"/>
              </a:rPr>
              <a:t>19</a:t>
            </a:r>
          </a:p>
          <a:p>
            <a:pPr algn="r"/>
            <a:r>
              <a:rPr lang="en-US" b="1" dirty="0">
                <a:solidFill>
                  <a:schemeClr val="tx1">
                    <a:lumMod val="75000"/>
                    <a:lumOff val="25000"/>
                  </a:schemeClr>
                </a:solidFill>
                <a:latin typeface="Consolas" panose="020B0609020204030204" pitchFamily="49" charset="0"/>
              </a:rPr>
              <a:t>20</a:t>
            </a:r>
          </a:p>
          <a:p>
            <a:pPr algn="r"/>
            <a:r>
              <a:rPr lang="en-US" b="1" dirty="0">
                <a:solidFill>
                  <a:schemeClr val="tx1">
                    <a:lumMod val="75000"/>
                    <a:lumOff val="25000"/>
                  </a:schemeClr>
                </a:solidFill>
                <a:latin typeface="Consolas" panose="020B0609020204030204" pitchFamily="49" charset="0"/>
              </a:rPr>
              <a:t>21</a:t>
            </a:r>
          </a:p>
          <a:p>
            <a:pPr algn="r"/>
            <a:r>
              <a:rPr lang="en-US" b="1" dirty="0">
                <a:solidFill>
                  <a:schemeClr val="tx1">
                    <a:lumMod val="75000"/>
                    <a:lumOff val="25000"/>
                  </a:schemeClr>
                </a:solidFill>
                <a:latin typeface="Consolas" panose="020B0609020204030204" pitchFamily="49" charset="0"/>
              </a:rPr>
              <a:t>22</a:t>
            </a:r>
          </a:p>
          <a:p>
            <a:pPr algn="r"/>
            <a:r>
              <a:rPr lang="en-US" b="1" dirty="0">
                <a:solidFill>
                  <a:schemeClr val="tx1">
                    <a:lumMod val="75000"/>
                    <a:lumOff val="25000"/>
                  </a:schemeClr>
                </a:solidFill>
                <a:latin typeface="Consolas" panose="020B0609020204030204" pitchFamily="49" charset="0"/>
              </a:rPr>
              <a:t>23</a:t>
            </a:r>
          </a:p>
          <a:p>
            <a:pPr algn="r"/>
            <a:r>
              <a:rPr lang="en-US" b="1" dirty="0">
                <a:solidFill>
                  <a:schemeClr val="tx1">
                    <a:lumMod val="75000"/>
                    <a:lumOff val="25000"/>
                  </a:schemeClr>
                </a:solidFill>
                <a:latin typeface="Consolas" panose="020B0609020204030204" pitchFamily="49" charset="0"/>
              </a:rPr>
              <a:t>24</a:t>
            </a:r>
          </a:p>
          <a:p>
            <a:pPr algn="r"/>
            <a:r>
              <a:rPr lang="en-US" b="1" dirty="0">
                <a:solidFill>
                  <a:schemeClr val="tx1">
                    <a:lumMod val="75000"/>
                    <a:lumOff val="25000"/>
                  </a:schemeClr>
                </a:solidFill>
                <a:latin typeface="Consolas" panose="020B0609020204030204" pitchFamily="49" charset="0"/>
              </a:rPr>
              <a:t>25</a:t>
            </a:r>
          </a:p>
          <a:p>
            <a:pPr algn="r"/>
            <a:r>
              <a:rPr lang="en-US" b="1" dirty="0">
                <a:solidFill>
                  <a:schemeClr val="tx1">
                    <a:lumMod val="75000"/>
                    <a:lumOff val="25000"/>
                  </a:schemeClr>
                </a:solidFill>
                <a:latin typeface="Consolas" panose="020B0609020204030204" pitchFamily="49" charset="0"/>
              </a:rPr>
              <a:t>26</a:t>
            </a:r>
          </a:p>
          <a:p>
            <a:pPr algn="r"/>
            <a:r>
              <a:rPr lang="en-US" b="1" dirty="0">
                <a:solidFill>
                  <a:schemeClr val="tx1">
                    <a:lumMod val="75000"/>
                    <a:lumOff val="25000"/>
                  </a:schemeClr>
                </a:solidFill>
                <a:latin typeface="Consolas" panose="020B0609020204030204" pitchFamily="49" charset="0"/>
              </a:rPr>
              <a:t>27</a:t>
            </a:r>
          </a:p>
          <a:p>
            <a:pPr algn="r"/>
            <a:r>
              <a:rPr lang="en-US" b="1" dirty="0">
                <a:solidFill>
                  <a:schemeClr val="tx1">
                    <a:lumMod val="75000"/>
                    <a:lumOff val="25000"/>
                  </a:schemeClr>
                </a:solidFill>
                <a:latin typeface="Consolas" panose="020B0609020204030204" pitchFamily="49" charset="0"/>
              </a:rPr>
              <a:t>28</a:t>
            </a:r>
          </a:p>
          <a:p>
            <a:pPr algn="r"/>
            <a:r>
              <a:rPr lang="en-US" b="1" dirty="0">
                <a:solidFill>
                  <a:schemeClr val="tx1">
                    <a:lumMod val="75000"/>
                    <a:lumOff val="25000"/>
                  </a:schemeClr>
                </a:solidFill>
                <a:latin typeface="Consolas" panose="020B0609020204030204" pitchFamily="49" charset="0"/>
              </a:rPr>
              <a:t>29</a:t>
            </a:r>
          </a:p>
        </p:txBody>
      </p:sp>
      <p:sp>
        <p:nvSpPr>
          <p:cNvPr id="13" name="TextBox 12">
            <a:extLst>
              <a:ext uri="{FF2B5EF4-FFF2-40B4-BE49-F238E27FC236}">
                <a16:creationId xmlns:a16="http://schemas.microsoft.com/office/drawing/2014/main" id="{C78920A2-260D-6D7A-D263-23052829BF66}"/>
              </a:ext>
            </a:extLst>
          </p:cNvPr>
          <p:cNvSpPr txBox="1"/>
          <p:nvPr/>
        </p:nvSpPr>
        <p:spPr>
          <a:xfrm>
            <a:off x="164485" y="803160"/>
            <a:ext cx="11572902" cy="769441"/>
          </a:xfrm>
          <a:prstGeom prst="rect">
            <a:avLst/>
          </a:prstGeom>
          <a:noFill/>
        </p:spPr>
        <p:txBody>
          <a:bodyPr wrap="square">
            <a:spAutoFit/>
          </a:bodyPr>
          <a:lstStyle/>
          <a:p>
            <a:pPr marL="285750" indent="-285750">
              <a:buFont typeface="Wingdings" panose="05000000000000000000" pitchFamily="2" charset="2"/>
              <a:buChar char="Ø"/>
            </a:pPr>
            <a:r>
              <a:rPr lang="en-US" sz="2200" b="0" i="0" dirty="0">
                <a:solidFill>
                  <a:srgbClr val="252525"/>
                </a:solidFill>
                <a:effectLst/>
                <a:latin typeface="+mj-lt"/>
              </a:rPr>
              <a:t>We want to get all cities ids and names, together with their related country names. </a:t>
            </a:r>
          </a:p>
          <a:p>
            <a:pPr marL="285750" indent="-285750">
              <a:buFont typeface="Wingdings" panose="05000000000000000000" pitchFamily="2" charset="2"/>
              <a:buChar char="Ø"/>
            </a:pPr>
            <a:r>
              <a:rPr lang="en-US" sz="2200" b="0" i="0" dirty="0">
                <a:solidFill>
                  <a:srgbClr val="252525"/>
                </a:solidFill>
                <a:effectLst/>
                <a:latin typeface="+mj-lt"/>
              </a:rPr>
              <a:t>We will use the PRINT command to print combinations in </a:t>
            </a:r>
            <a:r>
              <a:rPr lang="en-US" sz="2200" b="1" i="0" dirty="0">
                <a:solidFill>
                  <a:srgbClr val="252525"/>
                </a:solidFill>
                <a:effectLst/>
                <a:latin typeface="+mj-lt"/>
              </a:rPr>
              <a:t>each pass of the loop</a:t>
            </a:r>
            <a:r>
              <a:rPr lang="en-US" sz="2200" b="0" i="0" dirty="0">
                <a:solidFill>
                  <a:srgbClr val="252525"/>
                </a:solidFill>
                <a:effectLst/>
                <a:latin typeface="+mj-lt"/>
              </a:rPr>
              <a:t>.</a:t>
            </a:r>
            <a:endParaRPr lang="en-GB" sz="2200" dirty="0">
              <a:latin typeface="+mj-lt"/>
            </a:endParaRPr>
          </a:p>
        </p:txBody>
      </p:sp>
    </p:spTree>
    <p:extLst>
      <p:ext uri="{BB962C8B-B14F-4D97-AF65-F5344CB8AC3E}">
        <p14:creationId xmlns:p14="http://schemas.microsoft.com/office/powerpoint/2010/main" val="3107652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nodePh="1">
                                  <p:stCondLst>
                                    <p:cond delay="0"/>
                                  </p:stCondLst>
                                  <p:endCondLst>
                                    <p:cond evt="begin" delay="0">
                                      <p:tn val="9"/>
                                    </p:cond>
                                  </p:end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7">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
                                            <p:txEl>
                                              <p:pRg st="12" end="12"/>
                                            </p:txEl>
                                          </p:spTgt>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9">
                                            <p:bg/>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8" grpId="0" animBg="1"/>
      <p:bldP spid="9" grpId="0" build="p" animBg="1"/>
      <p:bldP spid="12" grpId="0" animBg="1"/>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0C660-A772-6422-4A12-E91F7CF472A9}"/>
              </a:ext>
            </a:extLst>
          </p:cNvPr>
          <p:cNvSpPr>
            <a:spLocks noGrp="1"/>
          </p:cNvSpPr>
          <p:nvPr>
            <p:ph type="title"/>
          </p:nvPr>
        </p:nvSpPr>
        <p:spPr/>
        <p:txBody>
          <a:bodyPr/>
          <a:lstStyle/>
          <a:p>
            <a:r>
              <a:rPr lang="en-US" dirty="0"/>
              <a:t>Applications of Cursor</a:t>
            </a:r>
            <a:endParaRPr lang="en-IN" dirty="0"/>
          </a:p>
        </p:txBody>
      </p:sp>
      <p:sp>
        <p:nvSpPr>
          <p:cNvPr id="3" name="Content Placeholder 2">
            <a:extLst>
              <a:ext uri="{FF2B5EF4-FFF2-40B4-BE49-F238E27FC236}">
                <a16:creationId xmlns:a16="http://schemas.microsoft.com/office/drawing/2014/main" id="{22D72C45-9EE9-16FE-FC8F-FB38AAA0973C}"/>
              </a:ext>
            </a:extLst>
          </p:cNvPr>
          <p:cNvSpPr>
            <a:spLocks noGrp="1"/>
          </p:cNvSpPr>
          <p:nvPr>
            <p:ph idx="1"/>
          </p:nvPr>
        </p:nvSpPr>
        <p:spPr>
          <a:xfrm>
            <a:off x="131179" y="711201"/>
            <a:ext cx="11929641" cy="5590565"/>
          </a:xfrm>
        </p:spPr>
        <p:txBody>
          <a:bodyPr/>
          <a:lstStyle/>
          <a:p>
            <a:r>
              <a:rPr lang="en-US" dirty="0"/>
              <a:t>Some primary applications of cursors are:</a:t>
            </a:r>
          </a:p>
          <a:p>
            <a:pPr marL="369888" indent="-457200">
              <a:buFont typeface="+mj-lt"/>
              <a:buAutoNum type="arabicPeriod"/>
            </a:pPr>
            <a:r>
              <a:rPr lang="en-US" sz="2800" dirty="0">
                <a:solidFill>
                  <a:schemeClr val="tx2"/>
                </a:solidFill>
              </a:rPr>
              <a:t>Processing Row-by-Row Logic</a:t>
            </a:r>
          </a:p>
          <a:p>
            <a:pPr lvl="1"/>
            <a:r>
              <a:rPr lang="en-US" b="1" dirty="0"/>
              <a:t>Example</a:t>
            </a:r>
            <a:r>
              <a:rPr lang="en-US" dirty="0"/>
              <a:t>: Applying different tax rates based on employee salary slabs.</a:t>
            </a:r>
          </a:p>
          <a:p>
            <a:pPr marL="369888" indent="-457200">
              <a:buFont typeface="+mj-lt"/>
              <a:buAutoNum type="arabicPeriod"/>
            </a:pPr>
            <a:r>
              <a:rPr lang="en-US" sz="2800" dirty="0">
                <a:solidFill>
                  <a:schemeClr val="tx2"/>
                </a:solidFill>
              </a:rPr>
              <a:t>Complex Row-Based Operations</a:t>
            </a:r>
          </a:p>
          <a:p>
            <a:pPr lvl="1"/>
            <a:r>
              <a:rPr lang="en-US" b="1" dirty="0"/>
              <a:t>Example</a:t>
            </a:r>
            <a:r>
              <a:rPr lang="en-US" dirty="0"/>
              <a:t>: Updating one table based on the sequential processing of another table.</a:t>
            </a:r>
          </a:p>
          <a:p>
            <a:pPr marL="369888" indent="-457200">
              <a:buFont typeface="+mj-lt"/>
              <a:buAutoNum type="arabicPeriod"/>
            </a:pPr>
            <a:r>
              <a:rPr lang="en-US" sz="2800" dirty="0">
                <a:solidFill>
                  <a:schemeClr val="tx2"/>
                </a:solidFill>
              </a:rPr>
              <a:t>Handling Multiple Result Sets</a:t>
            </a:r>
          </a:p>
          <a:p>
            <a:pPr lvl="1"/>
            <a:r>
              <a:rPr lang="en-US" b="1" dirty="0"/>
              <a:t>Example</a:t>
            </a:r>
            <a:r>
              <a:rPr lang="en-US" dirty="0"/>
              <a:t>: Combining records from different tables dynamically.</a:t>
            </a:r>
          </a:p>
          <a:p>
            <a:pPr marL="369888" indent="-457200">
              <a:buFont typeface="+mj-lt"/>
              <a:buAutoNum type="arabicPeriod"/>
            </a:pPr>
            <a:r>
              <a:rPr lang="en-US" sz="2800" dirty="0">
                <a:solidFill>
                  <a:schemeClr val="tx2"/>
                </a:solidFill>
              </a:rPr>
              <a:t>Debugging and Testing</a:t>
            </a:r>
          </a:p>
          <a:p>
            <a:pPr lvl="1"/>
            <a:r>
              <a:rPr lang="en-US" b="1" dirty="0"/>
              <a:t>Example</a:t>
            </a:r>
            <a:r>
              <a:rPr lang="en-US" dirty="0"/>
              <a:t>: Checking intermediate results while developing a complex query.</a:t>
            </a:r>
          </a:p>
          <a:p>
            <a:endParaRPr lang="en-IN" dirty="0"/>
          </a:p>
        </p:txBody>
      </p:sp>
    </p:spTree>
    <p:extLst>
      <p:ext uri="{BB962C8B-B14F-4D97-AF65-F5344CB8AC3E}">
        <p14:creationId xmlns:p14="http://schemas.microsoft.com/office/powerpoint/2010/main" val="165324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B22D7-F07B-1547-DB4C-E67D724E6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23597-AB2D-3BF4-06AA-36574DEBD0F3}"/>
              </a:ext>
            </a:extLst>
          </p:cNvPr>
          <p:cNvSpPr>
            <a:spLocks noGrp="1"/>
          </p:cNvSpPr>
          <p:nvPr>
            <p:ph type="title"/>
          </p:nvPr>
        </p:nvSpPr>
        <p:spPr/>
        <p:txBody>
          <a:bodyPr/>
          <a:lstStyle/>
          <a:p>
            <a:r>
              <a:rPr lang="en-US" sz="6000" dirty="0"/>
              <a:t>Exception Handling</a:t>
            </a:r>
            <a:endParaRPr lang="en-US" dirty="0"/>
          </a:p>
        </p:txBody>
      </p:sp>
      <p:sp>
        <p:nvSpPr>
          <p:cNvPr id="3" name="Text Placeholder 2">
            <a:extLst>
              <a:ext uri="{FF2B5EF4-FFF2-40B4-BE49-F238E27FC236}">
                <a16:creationId xmlns:a16="http://schemas.microsoft.com/office/drawing/2014/main" id="{701AF1CE-A8F4-6F24-4A0C-08CC630DCBF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22915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Introduction : Error/Exception Handling</a:t>
            </a:r>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pPr fontAlgn="base"/>
            <a:r>
              <a:rPr lang="en-US" dirty="0"/>
              <a:t>An </a:t>
            </a:r>
            <a:r>
              <a:rPr lang="en-US" dirty="0">
                <a:solidFill>
                  <a:srgbClr val="C00000"/>
                </a:solidFill>
              </a:rPr>
              <a:t>error condition during a program execution </a:t>
            </a:r>
            <a:r>
              <a:rPr lang="en-US" dirty="0"/>
              <a:t>is called an </a:t>
            </a:r>
            <a:r>
              <a:rPr lang="en-US" b="1" dirty="0">
                <a:solidFill>
                  <a:schemeClr val="tx2">
                    <a:lumMod val="75000"/>
                  </a:schemeClr>
                </a:solidFill>
              </a:rPr>
              <a:t>exception</a:t>
            </a:r>
            <a:r>
              <a:rPr lang="en-US" dirty="0"/>
              <a:t> and the mechanism for </a:t>
            </a:r>
            <a:r>
              <a:rPr lang="en-US" dirty="0">
                <a:solidFill>
                  <a:srgbClr val="C00000"/>
                </a:solidFill>
              </a:rPr>
              <a:t>resolving such an exception </a:t>
            </a:r>
            <a:r>
              <a:rPr lang="en-US" dirty="0"/>
              <a:t>is known as </a:t>
            </a:r>
            <a:r>
              <a:rPr lang="en-US" b="1" dirty="0">
                <a:solidFill>
                  <a:schemeClr val="tx2">
                    <a:lumMod val="75000"/>
                  </a:schemeClr>
                </a:solidFill>
              </a:rPr>
              <a:t>exception handling</a:t>
            </a:r>
            <a:r>
              <a:rPr lang="en-US" dirty="0"/>
              <a:t>. </a:t>
            </a:r>
          </a:p>
          <a:p>
            <a:pPr fontAlgn="base"/>
            <a:r>
              <a:rPr lang="en-US" dirty="0"/>
              <a:t>SQL Server provides TRY, CATCH blocks for exception handling. </a:t>
            </a:r>
          </a:p>
          <a:p>
            <a:pPr fontAlgn="base"/>
            <a:r>
              <a:rPr lang="en-US" dirty="0"/>
              <a:t>We can put all T-SQL statements into a TRY BLOCK and the code for exception handling can be put into a CATCH block. </a:t>
            </a:r>
          </a:p>
          <a:p>
            <a:pPr fontAlgn="base"/>
            <a:r>
              <a:rPr lang="en-US" dirty="0"/>
              <a:t>We can also generate user-defined errors using a THROW block.</a:t>
            </a:r>
          </a:p>
          <a:p>
            <a:pPr fontAlgn="base"/>
            <a:r>
              <a:rPr lang="en-US" dirty="0"/>
              <a:t>Error handling in SQL Server gives us control over the Transact-SQL code.</a:t>
            </a:r>
          </a:p>
          <a:p>
            <a:pPr fontAlgn="base"/>
            <a:r>
              <a:rPr lang="en-US" dirty="0">
                <a:solidFill>
                  <a:srgbClr val="C00000"/>
                </a:solidFill>
              </a:rPr>
              <a:t>In exception handling all T-SQL statements are put into a try block. If all statements execute without any error, then everything is OK else control will go to the catch block.</a:t>
            </a:r>
          </a:p>
          <a:p>
            <a:pPr fontAlgn="base"/>
            <a:endParaRPr lang="en-GB" dirty="0"/>
          </a:p>
        </p:txBody>
      </p:sp>
    </p:spTree>
    <p:extLst>
      <p:ext uri="{BB962C8B-B14F-4D97-AF65-F5344CB8AC3E}">
        <p14:creationId xmlns:p14="http://schemas.microsoft.com/office/powerpoint/2010/main" val="924288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Types of SQL Server Exceptions</a:t>
            </a:r>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r>
              <a:rPr lang="en-US" dirty="0"/>
              <a:t>SQL Server contains the following two types of exceptions:</a:t>
            </a:r>
          </a:p>
          <a:p>
            <a:pPr marL="914400" lvl="1" indent="-457200">
              <a:buFont typeface="+mj-lt"/>
              <a:buAutoNum type="arabicPeriod"/>
            </a:pPr>
            <a:r>
              <a:rPr lang="en-US" dirty="0"/>
              <a:t>System Defined</a:t>
            </a:r>
          </a:p>
          <a:p>
            <a:pPr marL="914400" lvl="1" indent="-457200">
              <a:buFont typeface="+mj-lt"/>
              <a:buAutoNum type="arabicPeriod"/>
            </a:pPr>
            <a:r>
              <a:rPr lang="en-US" dirty="0"/>
              <a:t>User Defined</a:t>
            </a:r>
          </a:p>
          <a:p>
            <a:pPr marL="457200" lvl="1" indent="0">
              <a:buNone/>
            </a:pPr>
            <a:endParaRPr lang="en-US" dirty="0"/>
          </a:p>
          <a:p>
            <a:pPr fontAlgn="base"/>
            <a:r>
              <a:rPr lang="en-GB" b="1" dirty="0">
                <a:solidFill>
                  <a:schemeClr val="tx2"/>
                </a:solidFill>
              </a:rPr>
              <a:t>System Defined Exception</a:t>
            </a:r>
          </a:p>
          <a:p>
            <a:pPr lvl="1" fontAlgn="base"/>
            <a:r>
              <a:rPr lang="en-US" dirty="0"/>
              <a:t>In a System Defined Exception the exceptions (errors) are generated by the system.</a:t>
            </a:r>
          </a:p>
          <a:p>
            <a:pPr lvl="1" fontAlgn="base"/>
            <a:endParaRPr lang="en-US" dirty="0"/>
          </a:p>
          <a:p>
            <a:pPr fontAlgn="base"/>
            <a:r>
              <a:rPr lang="en-GB" b="1" dirty="0">
                <a:solidFill>
                  <a:schemeClr val="tx2"/>
                </a:solidFill>
              </a:rPr>
              <a:t>User Defined Exception</a:t>
            </a:r>
          </a:p>
          <a:p>
            <a:pPr lvl="1" fontAlgn="base"/>
            <a:r>
              <a:rPr lang="en-US" dirty="0"/>
              <a:t>This type of exception is user generated, not system generated.</a:t>
            </a:r>
            <a:endParaRPr lang="en-GB" dirty="0"/>
          </a:p>
          <a:p>
            <a:pPr marL="457200" lvl="1" indent="0" fontAlgn="base">
              <a:buNone/>
            </a:pPr>
            <a:endParaRPr lang="en-GB" dirty="0"/>
          </a:p>
        </p:txBody>
      </p:sp>
    </p:spTree>
    <p:extLst>
      <p:ext uri="{BB962C8B-B14F-4D97-AF65-F5344CB8AC3E}">
        <p14:creationId xmlns:p14="http://schemas.microsoft.com/office/powerpoint/2010/main" val="255175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Handling Errors using TRY…CATCH</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pPr marL="0" indent="0">
              <a:buNone/>
            </a:pPr>
            <a:r>
              <a:rPr lang="en-US" dirty="0"/>
              <a:t>Here’s how the syntax looks like.</a:t>
            </a:r>
            <a:endParaRPr lang="en-GB" sz="1800" dirty="0">
              <a:solidFill>
                <a:srgbClr val="0000FF"/>
              </a:solidFill>
              <a:latin typeface="Consolas" panose="020B0609020204030204" pitchFamily="49" charset="0"/>
            </a:endParaRPr>
          </a:p>
          <a:p>
            <a:endParaRPr lang="en-US" dirty="0"/>
          </a:p>
          <a:p>
            <a:endParaRPr lang="en-US" dirty="0"/>
          </a:p>
          <a:p>
            <a:endParaRPr lang="en-US" dirty="0"/>
          </a:p>
          <a:p>
            <a:endParaRPr lang="en-US" dirty="0"/>
          </a:p>
          <a:p>
            <a:endParaRPr lang="en-US" dirty="0"/>
          </a:p>
          <a:p>
            <a:r>
              <a:rPr lang="en-US" dirty="0"/>
              <a:t>Anything between the BEGIN TRY and END TRY is the code that we want to monitor for an error. </a:t>
            </a:r>
          </a:p>
          <a:p>
            <a:r>
              <a:rPr lang="en-US" dirty="0"/>
              <a:t>So, if an error would have happened inside this TRY statement, the control would have immediately get transferred to the CATCH statement and then it would have started executing code line by line.</a:t>
            </a:r>
          </a:p>
          <a:p>
            <a:r>
              <a:rPr lang="en-US" dirty="0"/>
              <a:t>Now, inside the CATCH statement, we can try to fix the error, report the error or even log the error, so we know when it happened, who did it by logging the username, all the useful stuff. </a:t>
            </a:r>
            <a:endParaRPr lang="en-GB" dirty="0"/>
          </a:p>
        </p:txBody>
      </p:sp>
      <p:sp>
        <p:nvSpPr>
          <p:cNvPr id="7" name="Rectangle 6">
            <a:extLst>
              <a:ext uri="{FF2B5EF4-FFF2-40B4-BE49-F238E27FC236}">
                <a16:creationId xmlns:a16="http://schemas.microsoft.com/office/drawing/2014/main" id="{D327444D-2D4C-A2A5-DEE9-0445D0429A94}"/>
              </a:ext>
            </a:extLst>
          </p:cNvPr>
          <p:cNvSpPr/>
          <p:nvPr/>
        </p:nvSpPr>
        <p:spPr>
          <a:xfrm>
            <a:off x="931521" y="1687321"/>
            <a:ext cx="8370741" cy="1810784"/>
          </a:xfrm>
          <a:prstGeom prst="rect">
            <a:avLst/>
          </a:prstGeom>
          <a:solidFill>
            <a:schemeClr val="bg1">
              <a:lumMod val="95000"/>
            </a:schemeClr>
          </a:solidFill>
          <a:ln>
            <a:noFill/>
          </a:ln>
        </p:spPr>
        <p:txBody>
          <a:bodyPr wrap="square">
            <a:spAutoFit/>
          </a:bodyPr>
          <a:lstStyle/>
          <a:p>
            <a:pPr marL="544512" lvl="1" indent="0">
              <a:buNone/>
            </a:pPr>
            <a:r>
              <a:rPr lang="en-GB" dirty="0">
                <a:solidFill>
                  <a:srgbClr val="0000FF"/>
                </a:solidFill>
                <a:latin typeface="Consolas" panose="020B0609020204030204" pitchFamily="49" charset="0"/>
              </a:rPr>
              <a:t>BEGIN</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TRY</a:t>
            </a:r>
            <a:r>
              <a:rPr lang="en-GB" dirty="0">
                <a:solidFill>
                  <a:srgbClr val="000000"/>
                </a:solidFill>
                <a:latin typeface="Consolas" panose="020B0609020204030204" pitchFamily="49" charset="0"/>
              </a:rPr>
              <a:t>  </a:t>
            </a:r>
          </a:p>
          <a:p>
            <a:pPr marL="544512" lvl="1" indent="0">
              <a:buNone/>
            </a:pPr>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--code to try </a:t>
            </a:r>
            <a:endParaRPr lang="en-GB" dirty="0">
              <a:solidFill>
                <a:srgbClr val="000000"/>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END</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TRY</a:t>
            </a:r>
            <a:r>
              <a:rPr lang="en-GB" dirty="0">
                <a:solidFill>
                  <a:srgbClr val="000000"/>
                </a:solidFill>
                <a:latin typeface="Consolas" panose="020B0609020204030204" pitchFamily="49" charset="0"/>
              </a:rPr>
              <a:t>  </a:t>
            </a:r>
          </a:p>
          <a:p>
            <a:pPr marL="544512" lvl="1" indent="0">
              <a:buNone/>
            </a:pPr>
            <a:r>
              <a:rPr lang="en-GB" dirty="0">
                <a:solidFill>
                  <a:srgbClr val="0000FF"/>
                </a:solidFill>
                <a:latin typeface="Consolas" panose="020B0609020204030204" pitchFamily="49" charset="0"/>
              </a:rPr>
              <a:t>BEGIN</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CATCH</a:t>
            </a:r>
            <a:r>
              <a:rPr lang="en-GB" dirty="0">
                <a:solidFill>
                  <a:srgbClr val="000000"/>
                </a:solidFill>
                <a:latin typeface="Consolas" panose="020B0609020204030204" pitchFamily="49" charset="0"/>
              </a:rPr>
              <a:t>  </a:t>
            </a:r>
          </a:p>
          <a:p>
            <a:pPr marL="544512" lvl="1" indent="0">
              <a:buNone/>
            </a:pP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--code to run if an error occurs is generated in try</a:t>
            </a:r>
            <a:endParaRPr lang="en-US" dirty="0">
              <a:solidFill>
                <a:srgbClr val="000000"/>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END</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CATCH</a:t>
            </a:r>
          </a:p>
        </p:txBody>
      </p:sp>
      <p:sp>
        <p:nvSpPr>
          <p:cNvPr id="8" name="Rectangle 7">
            <a:extLst>
              <a:ext uri="{FF2B5EF4-FFF2-40B4-BE49-F238E27FC236}">
                <a16:creationId xmlns:a16="http://schemas.microsoft.com/office/drawing/2014/main" id="{BC6414EC-A367-D9E8-0F5B-839572D50B52}"/>
              </a:ext>
            </a:extLst>
          </p:cNvPr>
          <p:cNvSpPr/>
          <p:nvPr/>
        </p:nvSpPr>
        <p:spPr>
          <a:xfrm>
            <a:off x="474784" y="1682223"/>
            <a:ext cx="456737"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p:txBody>
      </p:sp>
      <p:sp>
        <p:nvSpPr>
          <p:cNvPr id="9" name="Rectangle: Top Corners Rounded 8">
            <a:extLst>
              <a:ext uri="{FF2B5EF4-FFF2-40B4-BE49-F238E27FC236}">
                <a16:creationId xmlns:a16="http://schemas.microsoft.com/office/drawing/2014/main" id="{2FD5F525-2944-027A-3FBC-CFEA64D6972F}"/>
              </a:ext>
            </a:extLst>
          </p:cNvPr>
          <p:cNvSpPr/>
          <p:nvPr/>
        </p:nvSpPr>
        <p:spPr>
          <a:xfrm>
            <a:off x="488243" y="1365388"/>
            <a:ext cx="12965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Tree>
    <p:extLst>
      <p:ext uri="{BB962C8B-B14F-4D97-AF65-F5344CB8AC3E}">
        <p14:creationId xmlns:p14="http://schemas.microsoft.com/office/powerpoint/2010/main" val="58912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91639-6A1F-C708-5CE0-31F82853D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BB450-F5FB-BD14-E7B3-E338B653FC7E}"/>
              </a:ext>
            </a:extLst>
          </p:cNvPr>
          <p:cNvSpPr>
            <a:spLocks noGrp="1"/>
          </p:cNvSpPr>
          <p:nvPr>
            <p:ph type="title"/>
          </p:nvPr>
        </p:nvSpPr>
        <p:spPr/>
        <p:txBody>
          <a:bodyPr/>
          <a:lstStyle/>
          <a:p>
            <a:r>
              <a:rPr lang="en-US" dirty="0"/>
              <a:t>System Defined Exception</a:t>
            </a:r>
          </a:p>
        </p:txBody>
      </p:sp>
      <p:sp>
        <p:nvSpPr>
          <p:cNvPr id="3" name="Text Placeholder 2">
            <a:extLst>
              <a:ext uri="{FF2B5EF4-FFF2-40B4-BE49-F238E27FC236}">
                <a16:creationId xmlns:a16="http://schemas.microsoft.com/office/drawing/2014/main" id="{6DC7B2B8-EAC1-6A3C-D381-67A794C85D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1125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Defined Exception – Example | </a:t>
            </a:r>
            <a:r>
              <a:rPr lang="en-US" sz="3600" dirty="0"/>
              <a:t>Divide by zero error </a:t>
            </a:r>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2377574"/>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Set</a:t>
            </a:r>
            <a:r>
              <a:rPr lang="en-GB" sz="1650" dirty="0">
                <a:solidFill>
                  <a:prstClr val="black"/>
                </a:solidFill>
                <a:latin typeface="Consolas" panose="020B0609020204030204" pitchFamily="49" charset="0"/>
              </a:rPr>
              <a:t> @val1</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8</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Set</a:t>
            </a:r>
            <a:r>
              <a:rPr lang="en-US" sz="1650" dirty="0">
                <a:solidFill>
                  <a:prstClr val="black"/>
                </a:solidFill>
                <a:latin typeface="Consolas" panose="020B0609020204030204" pitchFamily="49" charset="0"/>
              </a:rPr>
              <a:t> @val2</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@val1</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0</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r>
              <a:rPr lang="en-US" sz="1650" dirty="0">
                <a:solidFill>
                  <a:srgbClr val="008000"/>
                </a:solidFill>
                <a:latin typeface="Consolas" panose="020B0609020204030204" pitchFamily="49" charset="0"/>
              </a:rPr>
              <a:t>/* Error Occur Here */</a:t>
            </a:r>
            <a:r>
              <a:rPr lang="en-US"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Print</a:t>
            </a:r>
            <a:r>
              <a:rPr lang="en-US" sz="1650" dirty="0">
                <a:solidFill>
                  <a:prstClr val="black"/>
                </a:solidFill>
                <a:latin typeface="Consolas" panose="020B0609020204030204" pitchFamily="49" charset="0"/>
              </a:rPr>
              <a:t> </a:t>
            </a:r>
            <a:r>
              <a:rPr lang="en-US" sz="1650" dirty="0">
                <a:solidFill>
                  <a:srgbClr val="FF0000"/>
                </a:solidFill>
                <a:latin typeface="Consolas" panose="020B0609020204030204" pitchFamily="49" charset="0"/>
              </a:rPr>
              <a:t>'Error Occur that is:'</a:t>
            </a:r>
            <a:r>
              <a:rPr lang="en-US" sz="1650" dirty="0">
                <a:solidFill>
                  <a:prstClr val="black"/>
                </a:solidFill>
                <a:latin typeface="Consolas" panose="020B0609020204030204" pitchFamily="49" charset="0"/>
              </a:rPr>
              <a:t> + </a:t>
            </a:r>
            <a:r>
              <a:rPr lang="en-GB" sz="1650" dirty="0" err="1">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endParaRPr lang="en-GB" sz="1650" dirty="0">
              <a:solidFill>
                <a:prstClr val="black"/>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23388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System Defined Exception</a:t>
            </a:r>
          </a:p>
        </p:txBody>
      </p:sp>
      <p:sp>
        <p:nvSpPr>
          <p:cNvPr id="10" name="TextBox 9">
            <a:extLst>
              <a:ext uri="{FF2B5EF4-FFF2-40B4-BE49-F238E27FC236}">
                <a16:creationId xmlns:a16="http://schemas.microsoft.com/office/drawing/2014/main" id="{32B22FC2-89AD-88D1-40DD-E3B85E875C40}"/>
              </a:ext>
            </a:extLst>
          </p:cNvPr>
          <p:cNvSpPr txBox="1"/>
          <p:nvPr/>
        </p:nvSpPr>
        <p:spPr>
          <a:xfrm>
            <a:off x="432317" y="3901327"/>
            <a:ext cx="10692883" cy="646331"/>
          </a:xfrm>
          <a:prstGeom prst="rect">
            <a:avLst/>
          </a:prstGeom>
          <a:noFill/>
        </p:spPr>
        <p:txBody>
          <a:bodyPr wrap="square">
            <a:spAutoFit/>
          </a:bodyPr>
          <a:lstStyle/>
          <a:p>
            <a:pPr marL="0" indent="-87312" fontAlgn="base">
              <a:buNone/>
            </a:pPr>
            <a:r>
              <a:rPr lang="en-US" sz="1800" b="1" dirty="0"/>
              <a:t>O/P:</a:t>
            </a:r>
          </a:p>
          <a:p>
            <a:pPr marL="0" indent="-87312" fontAlgn="base">
              <a:buNone/>
            </a:pPr>
            <a:r>
              <a:rPr lang="en-US" sz="1800" dirty="0"/>
              <a:t>Error Occur that is: Divide by zero error encountered.</a:t>
            </a:r>
            <a:endParaRPr lang="en-GB" sz="1800" dirty="0"/>
          </a:p>
        </p:txBody>
      </p:sp>
    </p:spTree>
    <p:extLst>
      <p:ext uri="{BB962C8B-B14F-4D97-AF65-F5344CB8AC3E}">
        <p14:creationId xmlns:p14="http://schemas.microsoft.com/office/powerpoint/2010/main" val="5107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49DB-C02A-7A13-903C-AD05687DEB22}"/>
              </a:ext>
            </a:extLst>
          </p:cNvPr>
          <p:cNvSpPr>
            <a:spLocks noGrp="1"/>
          </p:cNvSpPr>
          <p:nvPr>
            <p:ph type="title"/>
          </p:nvPr>
        </p:nvSpPr>
        <p:spPr/>
        <p:txBody>
          <a:bodyPr/>
          <a:lstStyle/>
          <a:p>
            <a:r>
              <a:rPr lang="en-US" dirty="0"/>
              <a:t>Nested TRY Block</a:t>
            </a:r>
            <a:endParaRPr lang="en-GB" dirty="0"/>
          </a:p>
        </p:txBody>
      </p:sp>
      <p:sp>
        <p:nvSpPr>
          <p:cNvPr id="4" name="Rectangle 3">
            <a:extLst>
              <a:ext uri="{FF2B5EF4-FFF2-40B4-BE49-F238E27FC236}">
                <a16:creationId xmlns:a16="http://schemas.microsoft.com/office/drawing/2014/main" id="{8178FCF9-29FD-C366-CA94-56EDFF58FF6E}"/>
              </a:ext>
            </a:extLst>
          </p:cNvPr>
          <p:cNvSpPr/>
          <p:nvPr/>
        </p:nvSpPr>
        <p:spPr>
          <a:xfrm>
            <a:off x="834036" y="1251155"/>
            <a:ext cx="7233496" cy="3046988"/>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Statements that may cause exceptions</a:t>
            </a:r>
            <a:endParaRPr lang="en-US"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Statements to handle exception</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Nested TRY block</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Nested CATCH block</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p>
        </p:txBody>
      </p:sp>
      <p:sp>
        <p:nvSpPr>
          <p:cNvPr id="5" name="Rectangle 4">
            <a:extLst>
              <a:ext uri="{FF2B5EF4-FFF2-40B4-BE49-F238E27FC236}">
                <a16:creationId xmlns:a16="http://schemas.microsoft.com/office/drawing/2014/main" id="{CDE23A95-BD5D-0B77-11EC-C0A5FFD305A7}"/>
              </a:ext>
            </a:extLst>
          </p:cNvPr>
          <p:cNvSpPr/>
          <p:nvPr/>
        </p:nvSpPr>
        <p:spPr>
          <a:xfrm>
            <a:off x="254518" y="1252111"/>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CD7251AE-2233-D6B0-25E9-B33AB8519CB1}"/>
              </a:ext>
            </a:extLst>
          </p:cNvPr>
          <p:cNvSpPr/>
          <p:nvPr/>
        </p:nvSpPr>
        <p:spPr>
          <a:xfrm>
            <a:off x="254517" y="922927"/>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Tree>
    <p:extLst>
      <p:ext uri="{BB962C8B-B14F-4D97-AF65-F5344CB8AC3E}">
        <p14:creationId xmlns:p14="http://schemas.microsoft.com/office/powerpoint/2010/main" val="261775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Error Functions in SQL</a:t>
            </a:r>
            <a:endParaRPr lang="en-GB" dirty="0"/>
          </a:p>
        </p:txBody>
      </p:sp>
      <p:graphicFrame>
        <p:nvGraphicFramePr>
          <p:cNvPr id="5" name="Content Placeholder 4">
            <a:extLst>
              <a:ext uri="{FF2B5EF4-FFF2-40B4-BE49-F238E27FC236}">
                <a16:creationId xmlns:a16="http://schemas.microsoft.com/office/drawing/2014/main" id="{C9B80827-E7F4-C3CF-B58E-871D9B1534DB}"/>
              </a:ext>
            </a:extLst>
          </p:cNvPr>
          <p:cNvGraphicFramePr>
            <a:graphicFrameLocks/>
          </p:cNvGraphicFramePr>
          <p:nvPr/>
        </p:nvGraphicFramePr>
        <p:xfrm>
          <a:off x="369683" y="2341325"/>
          <a:ext cx="11467412" cy="73152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20000"/>
                    </a:ext>
                  </a:extLst>
                </a:gridCol>
                <a:gridCol w="9148216">
                  <a:extLst>
                    <a:ext uri="{9D8B030D-6E8A-4147-A177-3AD203B41FA5}">
                      <a16:colId xmlns:a16="http://schemas.microsoft.com/office/drawing/2014/main" val="20001"/>
                    </a:ext>
                  </a:extLst>
                </a:gridCol>
              </a:tblGrid>
              <a:tr h="360000">
                <a:tc>
                  <a:txBody>
                    <a:bodyPr/>
                    <a:lstStyle/>
                    <a:p>
                      <a:pPr algn="l"/>
                      <a:r>
                        <a:rPr lang="en-US" b="1" u="none" dirty="0">
                          <a:solidFill>
                            <a:schemeClr val="tx1"/>
                          </a:solidFill>
                        </a:rPr>
                        <a:t>Error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Details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r>
                        <a:rPr lang="en-GB" sz="1800" dirty="0">
                          <a:solidFill>
                            <a:srgbClr val="FF00FF"/>
                          </a:solidFill>
                          <a:latin typeface="Consolas" panose="020B0609020204030204" pitchFamily="49" charset="0"/>
                        </a:rPr>
                        <a:t>ERROR_NUMBER</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internal number of the error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6" name="Picture 5">
            <a:extLst>
              <a:ext uri="{FF2B5EF4-FFF2-40B4-BE49-F238E27FC236}">
                <a16:creationId xmlns:a16="http://schemas.microsoft.com/office/drawing/2014/main" id="{E8B33A2E-CFF2-C04B-A4D5-4ACE57065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683" y="863444"/>
            <a:ext cx="11452633" cy="1403287"/>
          </a:xfrm>
          <a:prstGeom prst="rect">
            <a:avLst/>
          </a:prstGeom>
          <a:ln w="38100">
            <a:solidFill>
              <a:srgbClr val="F54337"/>
            </a:solidFill>
          </a:ln>
        </p:spPr>
      </p:pic>
      <p:graphicFrame>
        <p:nvGraphicFramePr>
          <p:cNvPr id="3" name="Table 2">
            <a:extLst>
              <a:ext uri="{FF2B5EF4-FFF2-40B4-BE49-F238E27FC236}">
                <a16:creationId xmlns:a16="http://schemas.microsoft.com/office/drawing/2014/main" id="{A30E32B6-38B7-41B7-F71D-CB91A5C8A9DC}"/>
              </a:ext>
            </a:extLst>
          </p:cNvPr>
          <p:cNvGraphicFramePr>
            <a:graphicFrameLocks noGrp="1"/>
          </p:cNvGraphicFramePr>
          <p:nvPr/>
        </p:nvGraphicFramePr>
        <p:xfrm>
          <a:off x="369683" y="3072845"/>
          <a:ext cx="11467412" cy="109728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105740101"/>
                    </a:ext>
                  </a:extLst>
                </a:gridCol>
                <a:gridCol w="9148216">
                  <a:extLst>
                    <a:ext uri="{9D8B030D-6E8A-4147-A177-3AD203B41FA5}">
                      <a16:colId xmlns:a16="http://schemas.microsoft.com/office/drawing/2014/main" val="3056535892"/>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ERROR_SEVERITY</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severity of the error.</a:t>
                      </a:r>
                    </a:p>
                    <a:p>
                      <a:r>
                        <a:rPr lang="en-US" sz="1200" b="0" i="0" kern="1200" dirty="0">
                          <a:solidFill>
                            <a:schemeClr val="dk1"/>
                          </a:solidFill>
                          <a:effectLst/>
                          <a:latin typeface="+mn-lt"/>
                          <a:ea typeface="+mn-ea"/>
                          <a:cs typeface="+mn-cs"/>
                        </a:rPr>
                        <a:t>13 - </a:t>
                      </a:r>
                      <a:r>
                        <a:rPr lang="en-GB" sz="1200" b="0" i="0" kern="1200" dirty="0">
                          <a:solidFill>
                            <a:schemeClr val="dk1"/>
                          </a:solidFill>
                          <a:effectLst/>
                          <a:latin typeface="+mn-lt"/>
                          <a:ea typeface="+mn-ea"/>
                          <a:cs typeface="+mn-cs"/>
                        </a:rPr>
                        <a:t>Indicates transaction deadlock errors.</a:t>
                      </a:r>
                    </a:p>
                    <a:p>
                      <a:r>
                        <a:rPr lang="en-US" sz="1200" b="0" i="0" kern="1200" dirty="0">
                          <a:solidFill>
                            <a:schemeClr val="dk1"/>
                          </a:solidFill>
                          <a:effectLst/>
                          <a:latin typeface="+mn-lt"/>
                          <a:ea typeface="+mn-ea"/>
                          <a:cs typeface="+mn-cs"/>
                        </a:rPr>
                        <a:t>14 - Indicates security-related errors, such as permission denied.</a:t>
                      </a:r>
                    </a:p>
                    <a:p>
                      <a:r>
                        <a:rPr lang="en-US" sz="1200" b="0" i="0" kern="1200" dirty="0">
                          <a:solidFill>
                            <a:schemeClr val="dk1"/>
                          </a:solidFill>
                          <a:effectLst/>
                          <a:latin typeface="+mn-lt"/>
                          <a:ea typeface="+mn-ea"/>
                          <a:cs typeface="+mn-cs"/>
                        </a:rPr>
                        <a:t>15 - Indicates syntax errors in the Transact-SQL command.</a:t>
                      </a:r>
                    </a:p>
                    <a:p>
                      <a:r>
                        <a:rPr lang="en-US" sz="1200" b="0" i="0" kern="1200" dirty="0">
                          <a:solidFill>
                            <a:schemeClr val="dk1"/>
                          </a:solidFill>
                          <a:effectLst/>
                          <a:latin typeface="+mn-lt"/>
                          <a:ea typeface="+mn-ea"/>
                          <a:cs typeface="+mn-cs"/>
                        </a:rPr>
                        <a:t>16 - Indicates general errors that can be corrected by the user.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41395706"/>
                  </a:ext>
                </a:extLst>
              </a:tr>
            </a:tbl>
          </a:graphicData>
        </a:graphic>
      </p:graphicFrame>
      <p:graphicFrame>
        <p:nvGraphicFramePr>
          <p:cNvPr id="4" name="Table 3">
            <a:extLst>
              <a:ext uri="{FF2B5EF4-FFF2-40B4-BE49-F238E27FC236}">
                <a16:creationId xmlns:a16="http://schemas.microsoft.com/office/drawing/2014/main" id="{C248866B-F648-8659-8ECB-BE344FC5FAF6}"/>
              </a:ext>
            </a:extLst>
          </p:cNvPr>
          <p:cNvGraphicFramePr>
            <a:graphicFrameLocks noGrp="1"/>
          </p:cNvGraphicFramePr>
          <p:nvPr/>
        </p:nvGraphicFramePr>
        <p:xfrm>
          <a:off x="369683" y="4170125"/>
          <a:ext cx="11467412" cy="36576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1977787634"/>
                    </a:ext>
                  </a:extLst>
                </a:gridCol>
                <a:gridCol w="9148216">
                  <a:extLst>
                    <a:ext uri="{9D8B030D-6E8A-4147-A177-3AD203B41FA5}">
                      <a16:colId xmlns:a16="http://schemas.microsoft.com/office/drawing/2014/main" val="1743436162"/>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FF00FF"/>
                          </a:solidFill>
                          <a:latin typeface="Consolas" panose="020B0609020204030204" pitchFamily="49" charset="0"/>
                        </a:rPr>
                        <a:t>ERROR_STATE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state number of the error (</a:t>
                      </a:r>
                      <a:r>
                        <a:rPr lang="en-US" sz="1800" kern="1200" dirty="0">
                          <a:solidFill>
                            <a:schemeClr val="dk1"/>
                          </a:solidFill>
                          <a:latin typeface="+mn-lt"/>
                          <a:ea typeface="+mn-ea"/>
                          <a:cs typeface="+mn-cs"/>
                        </a:rPr>
                        <a:t>Helps narrow down the root cause of an error</a:t>
                      </a:r>
                      <a:r>
                        <a:rPr lang="en-US" sz="1800" b="0" i="0" kern="1200" dirty="0">
                          <a:solidFill>
                            <a:schemeClr val="dk1"/>
                          </a:solidFill>
                          <a:effectLst/>
                          <a:latin typeface="+mn-lt"/>
                          <a:ea typeface="+mn-ea"/>
                          <a:cs typeface="+mn-cs"/>
                        </a:rPr>
                        <a:t>)</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63904131"/>
                  </a:ext>
                </a:extLst>
              </a:tr>
            </a:tbl>
          </a:graphicData>
        </a:graphic>
      </p:graphicFrame>
      <p:graphicFrame>
        <p:nvGraphicFramePr>
          <p:cNvPr id="7" name="Table 6">
            <a:extLst>
              <a:ext uri="{FF2B5EF4-FFF2-40B4-BE49-F238E27FC236}">
                <a16:creationId xmlns:a16="http://schemas.microsoft.com/office/drawing/2014/main" id="{A19EBA3E-AAC6-8A44-E557-379A39A8B6B5}"/>
              </a:ext>
            </a:extLst>
          </p:cNvPr>
          <p:cNvGraphicFramePr>
            <a:graphicFrameLocks noGrp="1"/>
          </p:cNvGraphicFramePr>
          <p:nvPr/>
        </p:nvGraphicFramePr>
        <p:xfrm>
          <a:off x="369683" y="4535885"/>
          <a:ext cx="11467412" cy="36576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3124287060"/>
                    </a:ext>
                  </a:extLst>
                </a:gridCol>
                <a:gridCol w="9148216">
                  <a:extLst>
                    <a:ext uri="{9D8B030D-6E8A-4147-A177-3AD203B41FA5}">
                      <a16:colId xmlns:a16="http://schemas.microsoft.com/office/drawing/2014/main" val="2577661225"/>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ERROR_LINE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line number at which an error happened on</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72727186"/>
                  </a:ext>
                </a:extLst>
              </a:tr>
            </a:tbl>
          </a:graphicData>
        </a:graphic>
      </p:graphicFrame>
      <p:graphicFrame>
        <p:nvGraphicFramePr>
          <p:cNvPr id="8" name="Table 7">
            <a:extLst>
              <a:ext uri="{FF2B5EF4-FFF2-40B4-BE49-F238E27FC236}">
                <a16:creationId xmlns:a16="http://schemas.microsoft.com/office/drawing/2014/main" id="{36B0364A-7948-8F6B-C996-A8DB13EB3D2C}"/>
              </a:ext>
            </a:extLst>
          </p:cNvPr>
          <p:cNvGraphicFramePr>
            <a:graphicFrameLocks noGrp="1"/>
          </p:cNvGraphicFramePr>
          <p:nvPr/>
        </p:nvGraphicFramePr>
        <p:xfrm>
          <a:off x="369683" y="4901645"/>
          <a:ext cx="11467412" cy="36576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967280484"/>
                    </a:ext>
                  </a:extLst>
                </a:gridCol>
                <a:gridCol w="9148216">
                  <a:extLst>
                    <a:ext uri="{9D8B030D-6E8A-4147-A177-3AD203B41FA5}">
                      <a16:colId xmlns:a16="http://schemas.microsoft.com/office/drawing/2014/main" val="3576392129"/>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ERROR_MESSAGE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most essential information and that is the message text of the error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42100583"/>
                  </a:ext>
                </a:extLst>
              </a:tr>
            </a:tbl>
          </a:graphicData>
        </a:graphic>
      </p:graphicFrame>
      <p:graphicFrame>
        <p:nvGraphicFramePr>
          <p:cNvPr id="9" name="Table 8">
            <a:extLst>
              <a:ext uri="{FF2B5EF4-FFF2-40B4-BE49-F238E27FC236}">
                <a16:creationId xmlns:a16="http://schemas.microsoft.com/office/drawing/2014/main" id="{8114249C-54F3-C13E-1B95-7428A24856BB}"/>
              </a:ext>
            </a:extLst>
          </p:cNvPr>
          <p:cNvGraphicFramePr>
            <a:graphicFrameLocks noGrp="1"/>
          </p:cNvGraphicFramePr>
          <p:nvPr/>
        </p:nvGraphicFramePr>
        <p:xfrm>
          <a:off x="369683" y="5267405"/>
          <a:ext cx="11467412" cy="365760"/>
        </p:xfrm>
        <a:graphic>
          <a:graphicData uri="http://schemas.openxmlformats.org/drawingml/2006/table">
            <a:tbl>
              <a:tblPr firstRow="1" bandRow="1">
                <a:tableStyleId>{8EC20E35-A176-4012-BC5E-935CFFF8708E}</a:tableStyleId>
              </a:tblPr>
              <a:tblGrid>
                <a:gridCol w="2319196">
                  <a:extLst>
                    <a:ext uri="{9D8B030D-6E8A-4147-A177-3AD203B41FA5}">
                      <a16:colId xmlns:a16="http://schemas.microsoft.com/office/drawing/2014/main" val="2934021761"/>
                    </a:ext>
                  </a:extLst>
                </a:gridCol>
                <a:gridCol w="9148216">
                  <a:extLst>
                    <a:ext uri="{9D8B030D-6E8A-4147-A177-3AD203B41FA5}">
                      <a16:colId xmlns:a16="http://schemas.microsoft.com/office/drawing/2014/main" val="2709252830"/>
                    </a:ext>
                  </a:extLst>
                </a:gridCol>
              </a:tblGrid>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rgbClr val="FF00FF"/>
                          </a:solidFill>
                          <a:latin typeface="Consolas" panose="020B0609020204030204" pitchFamily="49" charset="0"/>
                          <a:ea typeface="+mn-ea"/>
                          <a:cs typeface="+mn-cs"/>
                        </a:rPr>
                        <a:t>ERROR_PROCEDURE</a:t>
                      </a:r>
                      <a:r>
                        <a:rPr lang="en-GB" sz="1800" dirty="0">
                          <a:solidFill>
                            <a:schemeClr val="tx1"/>
                          </a:solidFill>
                          <a:latin typeface="Consolas" panose="020B0609020204030204" pitchFamily="49" charset="0"/>
                        </a:rPr>
                        <a:t>()</a:t>
                      </a:r>
                      <a:endParaRPr lang="en-GB"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name of the stored procedure or function</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83642778"/>
                  </a:ext>
                </a:extLst>
              </a:tr>
            </a:tbl>
          </a:graphicData>
        </a:graphic>
      </p:graphicFrame>
    </p:spTree>
    <p:extLst>
      <p:ext uri="{BB962C8B-B14F-4D97-AF65-F5344CB8AC3E}">
        <p14:creationId xmlns:p14="http://schemas.microsoft.com/office/powerpoint/2010/main" val="359471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Example: Error Functions</a:t>
            </a:r>
            <a:endParaRPr lang="en-GB" dirty="0"/>
          </a:p>
        </p:txBody>
      </p:sp>
      <p:pic>
        <p:nvPicPr>
          <p:cNvPr id="5" name="Picture 4">
            <a:extLst>
              <a:ext uri="{FF2B5EF4-FFF2-40B4-BE49-F238E27FC236}">
                <a16:creationId xmlns:a16="http://schemas.microsoft.com/office/drawing/2014/main" id="{41FEE4F0-F4ED-3B73-6E47-62B5393CA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25" y="4988344"/>
            <a:ext cx="7844566" cy="1325337"/>
          </a:xfrm>
          <a:prstGeom prst="rect">
            <a:avLst/>
          </a:prstGeom>
          <a:ln>
            <a:solidFill>
              <a:schemeClr val="tx1"/>
            </a:solidFill>
          </a:ln>
        </p:spPr>
      </p:pic>
      <p:sp>
        <p:nvSpPr>
          <p:cNvPr id="4" name="Rectangle 3">
            <a:extLst>
              <a:ext uri="{FF2B5EF4-FFF2-40B4-BE49-F238E27FC236}">
                <a16:creationId xmlns:a16="http://schemas.microsoft.com/office/drawing/2014/main" id="{DE1519F5-C79D-6887-B31D-F606FAEB0707}"/>
              </a:ext>
            </a:extLst>
          </p:cNvPr>
          <p:cNvSpPr/>
          <p:nvPr/>
        </p:nvSpPr>
        <p:spPr>
          <a:xfrm>
            <a:off x="793942" y="1206987"/>
            <a:ext cx="6726532" cy="3647152"/>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8000"/>
                </a:solidFill>
                <a:latin typeface="Consolas" panose="020B0609020204030204" pitchFamily="49" charset="0"/>
              </a:rPr>
              <a:t>-- Generate a divide-by-zero error  </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Error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ERROR_PROCEDURE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ErrorProcedure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ERROR_LINE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ErrorLine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endParaRPr lang="en-GB" sz="1650" dirty="0"/>
          </a:p>
        </p:txBody>
      </p:sp>
      <p:sp>
        <p:nvSpPr>
          <p:cNvPr id="6" name="Rectangle 5">
            <a:extLst>
              <a:ext uri="{FF2B5EF4-FFF2-40B4-BE49-F238E27FC236}">
                <a16:creationId xmlns:a16="http://schemas.microsoft.com/office/drawing/2014/main" id="{4147AAE7-99C5-CA95-6646-BA4B7E3235AE}"/>
              </a:ext>
            </a:extLst>
          </p:cNvPr>
          <p:cNvSpPr/>
          <p:nvPr/>
        </p:nvSpPr>
        <p:spPr>
          <a:xfrm>
            <a:off x="230156" y="1206987"/>
            <a:ext cx="579518"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7" name="Rectangle: Top Corners Rounded 6">
            <a:extLst>
              <a:ext uri="{FF2B5EF4-FFF2-40B4-BE49-F238E27FC236}">
                <a16:creationId xmlns:a16="http://schemas.microsoft.com/office/drawing/2014/main" id="{D8D6D822-2C4A-FD6B-DF59-D4B6A669A879}"/>
              </a:ext>
            </a:extLst>
          </p:cNvPr>
          <p:cNvSpPr/>
          <p:nvPr/>
        </p:nvSpPr>
        <p:spPr>
          <a:xfrm>
            <a:off x="230154" y="877803"/>
            <a:ext cx="225178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Divide by Zero Exception</a:t>
            </a:r>
          </a:p>
        </p:txBody>
      </p:sp>
    </p:spTree>
    <p:extLst>
      <p:ext uri="{BB962C8B-B14F-4D97-AF65-F5344CB8AC3E}">
        <p14:creationId xmlns:p14="http://schemas.microsoft.com/office/powerpoint/2010/main" val="35035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82E6-977A-A688-1CA3-449AFEA7D0A9}"/>
              </a:ext>
            </a:extLst>
          </p:cNvPr>
          <p:cNvSpPr>
            <a:spLocks noGrp="1"/>
          </p:cNvSpPr>
          <p:nvPr>
            <p:ph type="title"/>
          </p:nvPr>
        </p:nvSpPr>
        <p:spPr/>
        <p:txBody>
          <a:bodyPr/>
          <a:lstStyle/>
          <a:p>
            <a:r>
              <a:rPr lang="en-US" dirty="0"/>
              <a:t>Procedure with TRY…CATCH Example</a:t>
            </a:r>
            <a:endParaRPr lang="en-GB" dirty="0"/>
          </a:p>
        </p:txBody>
      </p:sp>
      <p:sp>
        <p:nvSpPr>
          <p:cNvPr id="4" name="Content Placeholder 2">
            <a:extLst>
              <a:ext uri="{FF2B5EF4-FFF2-40B4-BE49-F238E27FC236}">
                <a16:creationId xmlns:a16="http://schemas.microsoft.com/office/drawing/2014/main" id="{4082E14A-1D0F-B460-9CF6-A1ACDC9D5043}"/>
              </a:ext>
            </a:extLst>
          </p:cNvPr>
          <p:cNvSpPr txBox="1">
            <a:spLocks/>
          </p:cNvSpPr>
          <p:nvPr/>
        </p:nvSpPr>
        <p:spPr>
          <a:xfrm>
            <a:off x="6925189" y="1225399"/>
            <a:ext cx="4795383" cy="13350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--Executing a procedure </a:t>
            </a:r>
            <a:r>
              <a:rPr lang="en-GB" sz="1400" dirty="0" err="1">
                <a:solidFill>
                  <a:srgbClr val="008000"/>
                </a:solidFill>
                <a:latin typeface="Consolas" panose="020B0609020204030204" pitchFamily="49" charset="0"/>
              </a:rPr>
              <a:t>PR_divide</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DECLARE</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decimal</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EXEC</a:t>
            </a:r>
            <a:r>
              <a:rPr lang="en-GB" sz="1400" dirty="0">
                <a:solidFill>
                  <a:srgbClr val="000000"/>
                </a:solidFill>
                <a:latin typeface="Consolas" panose="020B0609020204030204" pitchFamily="49" charset="0"/>
              </a:rPr>
              <a:t> </a:t>
            </a:r>
            <a:r>
              <a:rPr lang="en-GB" sz="1400" dirty="0" err="1">
                <a:solidFill>
                  <a:srgbClr val="000000"/>
                </a:solidFill>
                <a:latin typeface="Consolas" panose="020B0609020204030204" pitchFamily="49" charset="0"/>
              </a:rPr>
              <a:t>PR_divide</a:t>
            </a:r>
            <a:r>
              <a:rPr lang="en-GB" sz="1400" dirty="0">
                <a:solidFill>
                  <a:srgbClr val="0000FF"/>
                </a:solidFill>
                <a:latin typeface="Consolas" panose="020B0609020204030204" pitchFamily="49" charset="0"/>
              </a:rPr>
              <a:t> </a:t>
            </a:r>
            <a:r>
              <a:rPr lang="en-GB" sz="1400" dirty="0">
                <a:solidFill>
                  <a:srgbClr val="000000"/>
                </a:solidFill>
                <a:latin typeface="Consolas" panose="020B0609020204030204" pitchFamily="49" charset="0"/>
              </a:rPr>
              <a:t>10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2</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output</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PRINT</a:t>
            </a:r>
            <a:r>
              <a:rPr lang="en-GB" sz="1400" dirty="0">
                <a:solidFill>
                  <a:srgbClr val="000000"/>
                </a:solidFill>
                <a:latin typeface="Consolas" panose="020B0609020204030204" pitchFamily="49" charset="0"/>
              </a:rPr>
              <a:t> @r</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p:txBody>
      </p:sp>
      <p:sp>
        <p:nvSpPr>
          <p:cNvPr id="5" name="Content Placeholder 2">
            <a:extLst>
              <a:ext uri="{FF2B5EF4-FFF2-40B4-BE49-F238E27FC236}">
                <a16:creationId xmlns:a16="http://schemas.microsoft.com/office/drawing/2014/main" id="{364E832C-91FF-A066-8EF3-E0191B001D47}"/>
              </a:ext>
            </a:extLst>
          </p:cNvPr>
          <p:cNvSpPr txBox="1">
            <a:spLocks/>
          </p:cNvSpPr>
          <p:nvPr/>
        </p:nvSpPr>
        <p:spPr>
          <a:xfrm>
            <a:off x="10894979" y="1243440"/>
            <a:ext cx="1067879" cy="71120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--Output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5</a:t>
            </a:r>
            <a:endParaRPr lang="en-GB" sz="1400" dirty="0">
              <a:solidFill>
                <a:srgbClr val="000000"/>
              </a:solidFill>
              <a:latin typeface="Consolas" panose="020B0609020204030204" pitchFamily="49" charset="0"/>
            </a:endParaRPr>
          </a:p>
        </p:txBody>
      </p:sp>
      <p:sp>
        <p:nvSpPr>
          <p:cNvPr id="6" name="Content Placeholder 2">
            <a:extLst>
              <a:ext uri="{FF2B5EF4-FFF2-40B4-BE49-F238E27FC236}">
                <a16:creationId xmlns:a16="http://schemas.microsoft.com/office/drawing/2014/main" id="{99581603-BDE6-2A88-5DCD-258E0318923C}"/>
              </a:ext>
            </a:extLst>
          </p:cNvPr>
          <p:cNvSpPr txBox="1">
            <a:spLocks/>
          </p:cNvSpPr>
          <p:nvPr/>
        </p:nvSpPr>
        <p:spPr>
          <a:xfrm>
            <a:off x="6925189" y="3078774"/>
            <a:ext cx="4795383" cy="13350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--Executing a procedure </a:t>
            </a:r>
            <a:r>
              <a:rPr lang="en-GB" sz="1400" dirty="0" err="1">
                <a:solidFill>
                  <a:srgbClr val="008000"/>
                </a:solidFill>
                <a:latin typeface="Consolas" panose="020B0609020204030204" pitchFamily="49" charset="0"/>
              </a:rPr>
              <a:t>PR_divide</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DECLARE</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decimal</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EXEC</a:t>
            </a:r>
            <a:r>
              <a:rPr lang="en-GB" sz="1400" dirty="0">
                <a:solidFill>
                  <a:srgbClr val="000000"/>
                </a:solidFill>
                <a:latin typeface="Consolas" panose="020B0609020204030204" pitchFamily="49" charset="0"/>
              </a:rPr>
              <a:t> </a:t>
            </a:r>
            <a:r>
              <a:rPr lang="en-GB" sz="1400" dirty="0" err="1">
                <a:solidFill>
                  <a:srgbClr val="000000"/>
                </a:solidFill>
                <a:latin typeface="Consolas" panose="020B0609020204030204" pitchFamily="49" charset="0"/>
              </a:rPr>
              <a:t>PR_divide</a:t>
            </a:r>
            <a:r>
              <a:rPr lang="en-GB" sz="1400" dirty="0">
                <a:solidFill>
                  <a:srgbClr val="0000FF"/>
                </a:solidFill>
                <a:latin typeface="Consolas" panose="020B0609020204030204" pitchFamily="49" charset="0"/>
              </a:rPr>
              <a:t> </a:t>
            </a:r>
            <a:r>
              <a:rPr lang="en-GB" sz="1400" dirty="0">
                <a:solidFill>
                  <a:srgbClr val="000000"/>
                </a:solidFill>
                <a:latin typeface="Consolas" panose="020B0609020204030204" pitchFamily="49" charset="0"/>
              </a:rPr>
              <a:t>10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output</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PRINT</a:t>
            </a:r>
            <a:r>
              <a:rPr lang="en-GB" sz="1400" dirty="0">
                <a:solidFill>
                  <a:srgbClr val="000000"/>
                </a:solidFill>
                <a:latin typeface="Consolas" panose="020B0609020204030204" pitchFamily="49" charset="0"/>
              </a:rPr>
              <a:t> @r</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p:txBody>
      </p:sp>
      <p:pic>
        <p:nvPicPr>
          <p:cNvPr id="8" name="Picture 7">
            <a:extLst>
              <a:ext uri="{FF2B5EF4-FFF2-40B4-BE49-F238E27FC236}">
                <a16:creationId xmlns:a16="http://schemas.microsoft.com/office/drawing/2014/main" id="{129DB1DB-7F8F-F7F8-64D2-63B26DCF1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5189" y="4493077"/>
            <a:ext cx="5133932" cy="455739"/>
          </a:xfrm>
          <a:prstGeom prst="rect">
            <a:avLst/>
          </a:prstGeom>
          <a:ln>
            <a:solidFill>
              <a:schemeClr val="tx1"/>
            </a:solidFill>
          </a:ln>
        </p:spPr>
      </p:pic>
      <p:sp>
        <p:nvSpPr>
          <p:cNvPr id="7" name="Rectangle 6">
            <a:extLst>
              <a:ext uri="{FF2B5EF4-FFF2-40B4-BE49-F238E27FC236}">
                <a16:creationId xmlns:a16="http://schemas.microsoft.com/office/drawing/2014/main" id="{00C72D7B-5E68-7F99-A339-40ED9F5487A8}"/>
              </a:ext>
            </a:extLst>
          </p:cNvPr>
          <p:cNvSpPr/>
          <p:nvPr/>
        </p:nvSpPr>
        <p:spPr>
          <a:xfrm>
            <a:off x="696666" y="1225399"/>
            <a:ext cx="5986237" cy="4916731"/>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PR_divide</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 </a:t>
            </a:r>
            <a:r>
              <a:rPr lang="en-GB" sz="1650" dirty="0">
                <a:solidFill>
                  <a:srgbClr val="0000FF"/>
                </a:solidFill>
                <a:latin typeface="Consolas" panose="020B0609020204030204" pitchFamily="49" charset="0"/>
              </a:rPr>
              <a:t>decimal</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@b </a:t>
            </a:r>
            <a:r>
              <a:rPr lang="en-GB" sz="1650" dirty="0">
                <a:solidFill>
                  <a:srgbClr val="0000FF"/>
                </a:solidFill>
                <a:latin typeface="Consolas" panose="020B0609020204030204" pitchFamily="49" charset="0"/>
              </a:rPr>
              <a:t>decimal</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@c </a:t>
            </a:r>
            <a:r>
              <a:rPr lang="en-GB" sz="1650" dirty="0">
                <a:solidFill>
                  <a:srgbClr val="0000FF"/>
                </a:solidFill>
                <a:latin typeface="Consolas" panose="020B0609020204030204" pitchFamily="49" charset="0"/>
              </a:rPr>
              <a:t>decimal</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output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@c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@b</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ErrorNumber</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ErrorSeverity</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ErrorState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ERROR_PROCEDURE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ErrorProcedure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ERROR_LINE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ErrorLine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6D226FBD-0188-DAA5-9E07-5A8803998659}"/>
              </a:ext>
            </a:extLst>
          </p:cNvPr>
          <p:cNvSpPr/>
          <p:nvPr/>
        </p:nvSpPr>
        <p:spPr>
          <a:xfrm>
            <a:off x="132880" y="1225399"/>
            <a:ext cx="579518" cy="491673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p:txBody>
      </p:sp>
      <p:sp>
        <p:nvSpPr>
          <p:cNvPr id="10" name="Rectangle: Top Corners Rounded 9">
            <a:extLst>
              <a:ext uri="{FF2B5EF4-FFF2-40B4-BE49-F238E27FC236}">
                <a16:creationId xmlns:a16="http://schemas.microsoft.com/office/drawing/2014/main" id="{25D68103-BB31-BAF2-ADEB-8CA08ADBD596}"/>
              </a:ext>
            </a:extLst>
          </p:cNvPr>
          <p:cNvSpPr/>
          <p:nvPr/>
        </p:nvSpPr>
        <p:spPr>
          <a:xfrm>
            <a:off x="132878" y="896215"/>
            <a:ext cx="383600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Divide by Zero Exception in Stored Procedure</a:t>
            </a:r>
          </a:p>
        </p:txBody>
      </p:sp>
      <p:cxnSp>
        <p:nvCxnSpPr>
          <p:cNvPr id="11" name="Straight Connector 10"/>
          <p:cNvCxnSpPr/>
          <p:nvPr/>
        </p:nvCxnSpPr>
        <p:spPr>
          <a:xfrm flipV="1">
            <a:off x="6989275" y="2752253"/>
            <a:ext cx="4852658" cy="181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97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9"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 – Exception Example</a:t>
            </a:r>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2885405"/>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Sample_Proc</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Salary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FirstName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  </a:t>
            </a:r>
          </a:p>
          <a:p>
            <a:r>
              <a:rPr lang="en-GB" sz="1650" dirty="0">
                <a:solidFill>
                  <a:srgbClr val="0000FF"/>
                </a:solidFill>
                <a:latin typeface="Consolas" panose="020B0609020204030204" pitchFamily="49" charset="0"/>
              </a:rPr>
              <a:t>	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ERROR_PROCEDURE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ProcName</a:t>
            </a:r>
            <a:r>
              <a:rPr lang="en-US" sz="1650" dirty="0">
                <a:solidFill>
                  <a:srgbClr val="808080"/>
                </a:solidFill>
                <a:latin typeface="Consolas" panose="020B0609020204030204" pitchFamily="49" charset="0"/>
              </a:rPr>
              <a:t>;</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ERROR_MESSAGE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Message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2885405"/>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343988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Handling Exception in Stored Procedure</a:t>
            </a:r>
          </a:p>
        </p:txBody>
      </p:sp>
      <p:sp>
        <p:nvSpPr>
          <p:cNvPr id="3" name="TextBox 2">
            <a:extLst>
              <a:ext uri="{FF2B5EF4-FFF2-40B4-BE49-F238E27FC236}">
                <a16:creationId xmlns:a16="http://schemas.microsoft.com/office/drawing/2014/main" id="{7D4BE6F7-007E-94AC-682A-8F954A7EC735}"/>
              </a:ext>
            </a:extLst>
          </p:cNvPr>
          <p:cNvSpPr txBox="1"/>
          <p:nvPr/>
        </p:nvSpPr>
        <p:spPr>
          <a:xfrm>
            <a:off x="-70094" y="4186128"/>
            <a:ext cx="8814044" cy="1200329"/>
          </a:xfrm>
          <a:prstGeom prst="rect">
            <a:avLst/>
          </a:prstGeom>
          <a:noFill/>
        </p:spPr>
        <p:txBody>
          <a:bodyPr wrap="square">
            <a:spAutoFit/>
          </a:bodyPr>
          <a:lstStyle/>
          <a:p>
            <a:pPr lvl="1" fontAlgn="base"/>
            <a:r>
              <a:rPr lang="en-GB" dirty="0">
                <a:latin typeface="Consolas" panose="020B0609020204030204" pitchFamily="49" charset="0"/>
              </a:rPr>
              <a:t>Execute Procedure : </a:t>
            </a:r>
            <a:r>
              <a:rPr lang="en-GB" dirty="0">
                <a:solidFill>
                  <a:srgbClr val="0000FF"/>
                </a:solidFill>
                <a:latin typeface="Consolas" panose="020B0609020204030204" pitchFamily="49" charset="0"/>
              </a:rPr>
              <a:t>Exec</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Sample_Proc</a:t>
            </a:r>
            <a:r>
              <a:rPr lang="en-GB" dirty="0">
                <a:solidFill>
                  <a:srgbClr val="000000"/>
                </a:solidFill>
                <a:latin typeface="Consolas" panose="020B0609020204030204" pitchFamily="49" charset="0"/>
              </a:rPr>
              <a:t> </a:t>
            </a:r>
          </a:p>
          <a:p>
            <a:pPr lvl="1" fontAlgn="base"/>
            <a:endParaRPr lang="en-GB" dirty="0">
              <a:solidFill>
                <a:srgbClr val="000000"/>
              </a:solidFill>
              <a:latin typeface="Consolas" panose="020B0609020204030204" pitchFamily="49" charset="0"/>
            </a:endParaRPr>
          </a:p>
          <a:p>
            <a:pPr lvl="1" fontAlgn="base"/>
            <a:r>
              <a:rPr lang="en-US" b="1" dirty="0"/>
              <a:t>O/P: </a:t>
            </a:r>
            <a:endParaRPr lang="en-GB" dirty="0">
              <a:solidFill>
                <a:srgbClr val="000000"/>
              </a:solidFill>
              <a:latin typeface="Consolas" panose="020B0609020204030204" pitchFamily="49" charset="0"/>
            </a:endParaRPr>
          </a:p>
          <a:p>
            <a:pPr lvl="1" fontAlgn="base"/>
            <a:r>
              <a:rPr lang="en-GB" dirty="0" err="1">
                <a:solidFill>
                  <a:srgbClr val="000000"/>
                </a:solidFill>
                <a:latin typeface="Consolas" panose="020B0609020204030204" pitchFamily="49" charset="0"/>
              </a:rPr>
              <a:t>Sample_Proc</a:t>
            </a:r>
            <a:r>
              <a:rPr lang="en-GB" dirty="0">
                <a:solidFill>
                  <a:srgbClr val="000000"/>
                </a:solidFill>
                <a:latin typeface="Consolas" panose="020B0609020204030204" pitchFamily="49" charset="0"/>
              </a:rPr>
              <a:t> | </a:t>
            </a:r>
            <a:r>
              <a:rPr lang="en-US" dirty="0">
                <a:solidFill>
                  <a:srgbClr val="FF0000"/>
                </a:solidFill>
                <a:latin typeface="Consolas" panose="020B0609020204030204" pitchFamily="49" charset="0"/>
              </a:rPr>
              <a:t>Error converting data type varchar to numeric.</a:t>
            </a:r>
            <a:endParaRPr lang="en-US" dirty="0">
              <a:solidFill>
                <a:srgbClr val="FF0000"/>
              </a:solidFill>
            </a:endParaRPr>
          </a:p>
        </p:txBody>
      </p:sp>
    </p:spTree>
    <p:extLst>
      <p:ext uri="{BB962C8B-B14F-4D97-AF65-F5344CB8AC3E}">
        <p14:creationId xmlns:p14="http://schemas.microsoft.com/office/powerpoint/2010/main" val="222483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8A584-6EF1-D4C0-2B3D-1E9B640C0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BDB29-390F-B395-4ED5-3E5160630B7B}"/>
              </a:ext>
            </a:extLst>
          </p:cNvPr>
          <p:cNvSpPr>
            <a:spLocks noGrp="1"/>
          </p:cNvSpPr>
          <p:nvPr>
            <p:ph type="title"/>
          </p:nvPr>
        </p:nvSpPr>
        <p:spPr/>
        <p:txBody>
          <a:bodyPr/>
          <a:lstStyle/>
          <a:p>
            <a:r>
              <a:rPr lang="en-US" dirty="0"/>
              <a:t>Throw</a:t>
            </a:r>
          </a:p>
        </p:txBody>
      </p:sp>
      <p:sp>
        <p:nvSpPr>
          <p:cNvPr id="3" name="Text Placeholder 2">
            <a:extLst>
              <a:ext uri="{FF2B5EF4-FFF2-40B4-BE49-F238E27FC236}">
                <a16:creationId xmlns:a16="http://schemas.microsoft.com/office/drawing/2014/main" id="{A8FD36A3-B072-698D-826D-BA17C37A348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40405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a:t>
            </a:r>
            <a:endParaRPr lang="en-GB" dirty="0"/>
          </a:p>
        </p:txBody>
      </p:sp>
      <p:sp>
        <p:nvSpPr>
          <p:cNvPr id="3" name="Content Placeholder 2">
            <a:extLst>
              <a:ext uri="{FF2B5EF4-FFF2-40B4-BE49-F238E27FC236}">
                <a16:creationId xmlns:a16="http://schemas.microsoft.com/office/drawing/2014/main" id="{05504016-A3A7-2E5C-9AB3-DFDD349BEBB8}"/>
              </a:ext>
            </a:extLst>
          </p:cNvPr>
          <p:cNvSpPr>
            <a:spLocks noGrp="1"/>
          </p:cNvSpPr>
          <p:nvPr>
            <p:ph idx="1"/>
          </p:nvPr>
        </p:nvSpPr>
        <p:spPr>
          <a:xfrm>
            <a:off x="131181" y="863444"/>
            <a:ext cx="11936994" cy="5590565"/>
          </a:xfrm>
        </p:spPr>
        <p:txBody>
          <a:bodyPr/>
          <a:lstStyle/>
          <a:p>
            <a:r>
              <a:rPr lang="en-US" dirty="0"/>
              <a:t>The THROW statement raises an exception and transfers execution to a CATCH block of a TRY...CATCH.</a:t>
            </a:r>
          </a:p>
          <a:p>
            <a:r>
              <a:rPr lang="en-US" dirty="0"/>
              <a:t>THROW is either used to create a </a:t>
            </a:r>
            <a:r>
              <a:rPr lang="en-US" dirty="0">
                <a:solidFill>
                  <a:srgbClr val="C00000"/>
                </a:solidFill>
              </a:rPr>
              <a:t>custom error </a:t>
            </a:r>
            <a:r>
              <a:rPr lang="en-US" dirty="0"/>
              <a:t>or to </a:t>
            </a:r>
            <a:r>
              <a:rPr lang="en-US" dirty="0">
                <a:solidFill>
                  <a:srgbClr val="C00000"/>
                </a:solidFill>
              </a:rPr>
              <a:t>re-throw</a:t>
            </a:r>
            <a:r>
              <a:rPr lang="en-US" dirty="0"/>
              <a:t> an existing error.</a:t>
            </a:r>
          </a:p>
          <a:p>
            <a:pPr lvl="1"/>
            <a:r>
              <a:rPr lang="en-US" dirty="0"/>
              <a:t>You can define your own error message and error number.</a:t>
            </a:r>
          </a:p>
          <a:p>
            <a:pPr lvl="1"/>
            <a:r>
              <a:rPr lang="en-US" dirty="0"/>
              <a:t>THROW statement used to raise a System Exception.</a:t>
            </a:r>
          </a:p>
          <a:p>
            <a:r>
              <a:rPr lang="en-US" dirty="0"/>
              <a:t>The syntax of the THROW statement is:</a:t>
            </a:r>
          </a:p>
          <a:p>
            <a:endParaRPr lang="en-US" dirty="0"/>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pPr marL="0" indent="0">
              <a:buNone/>
            </a:pPr>
            <a:endParaRPr lang="en-GB" sz="140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6BD1329B-00AB-BF14-D651-805980AD5447}"/>
              </a:ext>
            </a:extLst>
          </p:cNvPr>
          <p:cNvSpPr/>
          <p:nvPr/>
        </p:nvSpPr>
        <p:spPr>
          <a:xfrm>
            <a:off x="1030826" y="3502799"/>
            <a:ext cx="5702496" cy="346249"/>
          </a:xfrm>
          <a:prstGeom prst="rect">
            <a:avLst/>
          </a:prstGeom>
          <a:solidFill>
            <a:schemeClr val="bg1">
              <a:lumMod val="95000"/>
            </a:schemeClr>
          </a:solidFill>
          <a:ln>
            <a:noFill/>
          </a:ln>
        </p:spPr>
        <p:txBody>
          <a:bodyPr wrap="square">
            <a:spAutoFit/>
          </a:bodyPr>
          <a:lstStyle/>
          <a:p>
            <a:r>
              <a:rPr lang="en-US" sz="1650" dirty="0">
                <a:solidFill>
                  <a:srgbClr val="301B92"/>
                </a:solidFill>
                <a:latin typeface="Consolas" panose="020B0609020204030204" pitchFamily="49" charset="0"/>
              </a:rPr>
              <a:t>THROW</a:t>
            </a:r>
            <a:r>
              <a:rPr lang="en-US" sz="1650" dirty="0">
                <a:solidFill>
                  <a:srgbClr val="FF00FF"/>
                </a:solidFill>
                <a:latin typeface="Consolas" panose="020B0609020204030204" pitchFamily="49" charset="0"/>
              </a:rPr>
              <a:t> </a:t>
            </a:r>
            <a:r>
              <a:rPr lang="en-US" sz="1650" dirty="0" err="1">
                <a:latin typeface="Consolas" panose="020B0609020204030204" pitchFamily="49" charset="0"/>
              </a:rPr>
              <a:t>error_number</a:t>
            </a:r>
            <a:r>
              <a:rPr lang="en-US" sz="1650" dirty="0">
                <a:latin typeface="Consolas" panose="020B0609020204030204" pitchFamily="49" charset="0"/>
              </a:rPr>
              <a:t>, message, state;</a:t>
            </a:r>
            <a:endParaRPr lang="en-GB" sz="1650" dirty="0">
              <a:latin typeface="Consolas" panose="020B0609020204030204" pitchFamily="49" charset="0"/>
            </a:endParaRPr>
          </a:p>
        </p:txBody>
      </p:sp>
      <p:sp>
        <p:nvSpPr>
          <p:cNvPr id="10" name="Rectangle 9">
            <a:extLst>
              <a:ext uri="{FF2B5EF4-FFF2-40B4-BE49-F238E27FC236}">
                <a16:creationId xmlns:a16="http://schemas.microsoft.com/office/drawing/2014/main" id="{751DE1C1-8715-92A3-768C-67989D59E3F4}"/>
              </a:ext>
            </a:extLst>
          </p:cNvPr>
          <p:cNvSpPr/>
          <p:nvPr/>
        </p:nvSpPr>
        <p:spPr>
          <a:xfrm>
            <a:off x="467040" y="3502799"/>
            <a:ext cx="579518"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11" name="Rectangle: Top Corners Rounded 6">
            <a:extLst>
              <a:ext uri="{FF2B5EF4-FFF2-40B4-BE49-F238E27FC236}">
                <a16:creationId xmlns:a16="http://schemas.microsoft.com/office/drawing/2014/main" id="{3C5BFDCD-1E98-F044-22BB-16207F348FC3}"/>
              </a:ext>
            </a:extLst>
          </p:cNvPr>
          <p:cNvSpPr/>
          <p:nvPr/>
        </p:nvSpPr>
        <p:spPr>
          <a:xfrm>
            <a:off x="467039" y="3173615"/>
            <a:ext cx="92164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12" name="Table 11"/>
          <p:cNvGraphicFramePr>
            <a:graphicFrameLocks noGrp="1"/>
          </p:cNvGraphicFramePr>
          <p:nvPr/>
        </p:nvGraphicFramePr>
        <p:xfrm>
          <a:off x="467037" y="3998117"/>
          <a:ext cx="11509116" cy="1010920"/>
        </p:xfrm>
        <a:graphic>
          <a:graphicData uri="http://schemas.openxmlformats.org/drawingml/2006/table">
            <a:tbl>
              <a:tblPr firstRow="1" bandRow="1">
                <a:tableStyleId>{5940675A-B579-460E-94D1-54222C63F5DA}</a:tableStyleId>
              </a:tblPr>
              <a:tblGrid>
                <a:gridCol w="2241292">
                  <a:extLst>
                    <a:ext uri="{9D8B030D-6E8A-4147-A177-3AD203B41FA5}">
                      <a16:colId xmlns:a16="http://schemas.microsoft.com/office/drawing/2014/main" val="20000"/>
                    </a:ext>
                  </a:extLst>
                </a:gridCol>
                <a:gridCol w="9267824">
                  <a:extLst>
                    <a:ext uri="{9D8B030D-6E8A-4147-A177-3AD203B41FA5}">
                      <a16:colId xmlns:a16="http://schemas.microsoft.com/office/drawing/2014/main" val="20001"/>
                    </a:ext>
                  </a:extLst>
                </a:gridCol>
              </a:tblGrid>
              <a:tr h="370840">
                <a:tc>
                  <a:txBody>
                    <a:bodyPr/>
                    <a:lstStyle/>
                    <a:p>
                      <a:r>
                        <a:rPr lang="en-US" dirty="0"/>
                        <a:t>Parameters</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dirty="0" err="1"/>
                        <a:t>error_number</a:t>
                      </a:r>
                      <a:endParaRPr lang="en-US" b="1" dirty="0"/>
                    </a:p>
                  </a:txBody>
                  <a:tcPr/>
                </a:tc>
                <a:tc>
                  <a:txBody>
                    <a:bodyPr/>
                    <a:lstStyle/>
                    <a:p>
                      <a:pPr marL="285750" indent="-285750">
                        <a:buFont typeface="Arial" panose="020B0604020202020204" pitchFamily="34" charset="0"/>
                        <a:buChar char="•"/>
                      </a:pPr>
                      <a:r>
                        <a:rPr lang="en-US" sz="1800" b="0" kern="1200" dirty="0">
                          <a:solidFill>
                            <a:schemeClr val="dk1"/>
                          </a:solidFill>
                          <a:effectLst/>
                        </a:rPr>
                        <a:t>The </a:t>
                      </a:r>
                      <a:r>
                        <a:rPr lang="en-US" dirty="0" err="1"/>
                        <a:t>error_number</a:t>
                      </a:r>
                      <a:r>
                        <a:rPr lang="en-US" sz="1800" b="0" kern="1200" dirty="0">
                          <a:solidFill>
                            <a:schemeClr val="dk1"/>
                          </a:solidFill>
                          <a:effectLst/>
                        </a:rPr>
                        <a:t> is an integer that represents the exception. </a:t>
                      </a:r>
                    </a:p>
                    <a:p>
                      <a:pPr marL="285750" indent="-285750">
                        <a:buFont typeface="Arial" panose="020B0604020202020204" pitchFamily="34" charset="0"/>
                        <a:buChar char="•"/>
                      </a:pPr>
                      <a:r>
                        <a:rPr lang="en-US" sz="1800" b="0" kern="1200" dirty="0">
                          <a:solidFill>
                            <a:schemeClr val="dk1"/>
                          </a:solidFill>
                          <a:effectLst/>
                        </a:rPr>
                        <a:t>The </a:t>
                      </a:r>
                      <a:r>
                        <a:rPr lang="en-US" dirty="0" err="1"/>
                        <a:t>error_number</a:t>
                      </a:r>
                      <a:r>
                        <a:rPr lang="en-US" sz="1800" b="0" kern="1200" dirty="0">
                          <a:solidFill>
                            <a:schemeClr val="dk1"/>
                          </a:solidFill>
                          <a:effectLst/>
                        </a:rPr>
                        <a:t> must be greater than </a:t>
                      </a:r>
                      <a:r>
                        <a:rPr lang="en-US" dirty="0"/>
                        <a:t>50,000</a:t>
                      </a:r>
                      <a:r>
                        <a:rPr lang="en-US" sz="1800" b="0" kern="1200" dirty="0">
                          <a:solidFill>
                            <a:schemeClr val="dk1"/>
                          </a:solidFill>
                          <a:effectLst/>
                        </a:rPr>
                        <a:t> and less than or equal to </a:t>
                      </a:r>
                      <a:r>
                        <a:rPr lang="en-US" dirty="0"/>
                        <a:t>2,147,483,647</a:t>
                      </a:r>
                      <a:r>
                        <a:rPr lang="en-US" sz="1800" b="0" kern="1200" dirty="0">
                          <a:solidFill>
                            <a:schemeClr val="dk1"/>
                          </a:solidFill>
                          <a:effectLst/>
                        </a:rPr>
                        <a:t>.</a:t>
                      </a:r>
                      <a:endParaRPr lang="en-US" dirty="0"/>
                    </a:p>
                  </a:txBody>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35AF741-1E4D-999D-BB5E-3CA4EA6B2B70}"/>
              </a:ext>
            </a:extLst>
          </p:cNvPr>
          <p:cNvGraphicFramePr>
            <a:graphicFrameLocks noGrp="1"/>
          </p:cNvGraphicFramePr>
          <p:nvPr/>
        </p:nvGraphicFramePr>
        <p:xfrm>
          <a:off x="467037" y="5012164"/>
          <a:ext cx="11509116" cy="370840"/>
        </p:xfrm>
        <a:graphic>
          <a:graphicData uri="http://schemas.openxmlformats.org/drawingml/2006/table">
            <a:tbl>
              <a:tblPr firstRow="1" bandRow="1">
                <a:tableStyleId>{5940675A-B579-460E-94D1-54222C63F5DA}</a:tableStyleId>
              </a:tblPr>
              <a:tblGrid>
                <a:gridCol w="2241292">
                  <a:extLst>
                    <a:ext uri="{9D8B030D-6E8A-4147-A177-3AD203B41FA5}">
                      <a16:colId xmlns:a16="http://schemas.microsoft.com/office/drawing/2014/main" val="519919650"/>
                    </a:ext>
                  </a:extLst>
                </a:gridCol>
                <a:gridCol w="9267824">
                  <a:extLst>
                    <a:ext uri="{9D8B030D-6E8A-4147-A177-3AD203B41FA5}">
                      <a16:colId xmlns:a16="http://schemas.microsoft.com/office/drawing/2014/main" val="3872445675"/>
                    </a:ext>
                  </a:extLst>
                </a:gridCol>
              </a:tblGrid>
              <a:tr h="370840">
                <a:tc>
                  <a:txBody>
                    <a:bodyPr/>
                    <a:lstStyle/>
                    <a:p>
                      <a:r>
                        <a:rPr lang="en-US" b="1" dirty="0"/>
                        <a:t>message</a:t>
                      </a:r>
                    </a:p>
                  </a:txBody>
                  <a:tcPr/>
                </a:tc>
                <a:tc>
                  <a:txBody>
                    <a:bodyPr/>
                    <a:lstStyle/>
                    <a:p>
                      <a:pPr marL="285750" indent="-285750">
                        <a:buFont typeface="Arial" panose="020B0604020202020204" pitchFamily="34" charset="0"/>
                        <a:buChar char="•"/>
                      </a:pPr>
                      <a:r>
                        <a:rPr lang="en-US" sz="1800" b="0" kern="1200" dirty="0">
                          <a:solidFill>
                            <a:schemeClr val="dk1"/>
                          </a:solidFill>
                          <a:effectLst/>
                        </a:rPr>
                        <a:t>The </a:t>
                      </a:r>
                      <a:r>
                        <a:rPr lang="en-US" dirty="0"/>
                        <a:t>message</a:t>
                      </a:r>
                      <a:r>
                        <a:rPr lang="en-US" sz="1800" b="0" kern="1200" dirty="0">
                          <a:solidFill>
                            <a:schemeClr val="dk1"/>
                          </a:solidFill>
                          <a:effectLst/>
                        </a:rPr>
                        <a:t> is a string of type </a:t>
                      </a:r>
                      <a:r>
                        <a:rPr lang="en-US" dirty="0"/>
                        <a:t>NVARCHAR(2048)</a:t>
                      </a:r>
                      <a:r>
                        <a:rPr lang="en-US" sz="1800" b="0" kern="1200" dirty="0">
                          <a:solidFill>
                            <a:schemeClr val="dk1"/>
                          </a:solidFill>
                          <a:effectLst/>
                        </a:rPr>
                        <a:t> that describes the exception.</a:t>
                      </a:r>
                      <a:endParaRPr lang="en-US" dirty="0"/>
                    </a:p>
                  </a:txBody>
                  <a:tcPr/>
                </a:tc>
                <a:extLst>
                  <a:ext uri="{0D108BD9-81ED-4DB2-BD59-A6C34878D82A}">
                    <a16:rowId xmlns:a16="http://schemas.microsoft.com/office/drawing/2014/main" val="2291148849"/>
                  </a:ext>
                </a:extLst>
              </a:tr>
            </a:tbl>
          </a:graphicData>
        </a:graphic>
      </p:graphicFrame>
      <p:graphicFrame>
        <p:nvGraphicFramePr>
          <p:cNvPr id="5" name="Table 4">
            <a:extLst>
              <a:ext uri="{FF2B5EF4-FFF2-40B4-BE49-F238E27FC236}">
                <a16:creationId xmlns:a16="http://schemas.microsoft.com/office/drawing/2014/main" id="{B06E0C7A-EB0B-DFBF-00EE-42AF8AEEE14A}"/>
              </a:ext>
            </a:extLst>
          </p:cNvPr>
          <p:cNvGraphicFramePr>
            <a:graphicFrameLocks noGrp="1"/>
          </p:cNvGraphicFramePr>
          <p:nvPr/>
        </p:nvGraphicFramePr>
        <p:xfrm>
          <a:off x="467037" y="5383004"/>
          <a:ext cx="11509116" cy="640080"/>
        </p:xfrm>
        <a:graphic>
          <a:graphicData uri="http://schemas.openxmlformats.org/drawingml/2006/table">
            <a:tbl>
              <a:tblPr firstRow="1" bandRow="1">
                <a:tableStyleId>{5940675A-B579-460E-94D1-54222C63F5DA}</a:tableStyleId>
              </a:tblPr>
              <a:tblGrid>
                <a:gridCol w="2241292">
                  <a:extLst>
                    <a:ext uri="{9D8B030D-6E8A-4147-A177-3AD203B41FA5}">
                      <a16:colId xmlns:a16="http://schemas.microsoft.com/office/drawing/2014/main" val="797430612"/>
                    </a:ext>
                  </a:extLst>
                </a:gridCol>
                <a:gridCol w="9267824">
                  <a:extLst>
                    <a:ext uri="{9D8B030D-6E8A-4147-A177-3AD203B41FA5}">
                      <a16:colId xmlns:a16="http://schemas.microsoft.com/office/drawing/2014/main" val="237154959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rPr>
                        <a:t>state</a:t>
                      </a:r>
                      <a:endParaRPr lang="en-US" sz="1800" b="1" i="0" kern="1200" dirty="0">
                        <a:solidFill>
                          <a:schemeClr val="dk1"/>
                        </a:solidFill>
                        <a:effectLst/>
                        <a:latin typeface="+mn-lt"/>
                        <a:ea typeface="+mn-ea"/>
                        <a:cs typeface="+mn-cs"/>
                      </a:endParaRPr>
                    </a:p>
                  </a:txBody>
                  <a:tcPr/>
                </a:tc>
                <a:tc>
                  <a:txBody>
                    <a:bodyPr/>
                    <a:lstStyle/>
                    <a:p>
                      <a:pPr marL="285750" indent="-285750">
                        <a:buFont typeface="Arial" panose="020B0604020202020204" pitchFamily="34" charset="0"/>
                        <a:buChar char="•"/>
                      </a:pPr>
                      <a:r>
                        <a:rPr lang="en-US" sz="1800" b="0" kern="1200" dirty="0">
                          <a:solidFill>
                            <a:schemeClr val="dk1"/>
                          </a:solidFill>
                          <a:effectLst/>
                        </a:rPr>
                        <a:t>The </a:t>
                      </a:r>
                      <a:r>
                        <a:rPr lang="en-US" dirty="0"/>
                        <a:t>state</a:t>
                      </a:r>
                      <a:r>
                        <a:rPr lang="en-US" sz="1800" b="0" kern="1200" dirty="0">
                          <a:solidFill>
                            <a:schemeClr val="dk1"/>
                          </a:solidFill>
                          <a:effectLst/>
                        </a:rPr>
                        <a:t> is a</a:t>
                      </a:r>
                      <a:r>
                        <a:rPr lang="en-US" sz="1800" b="0" kern="1200" baseline="0" dirty="0">
                          <a:solidFill>
                            <a:schemeClr val="dk1"/>
                          </a:solidFill>
                          <a:effectLst/>
                        </a:rPr>
                        <a:t> </a:t>
                      </a:r>
                      <a:r>
                        <a:rPr lang="en-US" dirty="0"/>
                        <a:t>INT</a:t>
                      </a:r>
                      <a:r>
                        <a:rPr lang="en-US" sz="1800" b="0" kern="1200" dirty="0">
                          <a:solidFill>
                            <a:schemeClr val="dk1"/>
                          </a:solidFill>
                          <a:effectLst/>
                        </a:rPr>
                        <a:t> with the value between 0 and 255. </a:t>
                      </a:r>
                    </a:p>
                    <a:p>
                      <a:pPr marL="285750" indent="-285750">
                        <a:buFont typeface="Arial" panose="020B0604020202020204" pitchFamily="34" charset="0"/>
                        <a:buChar char="•"/>
                      </a:pPr>
                      <a:r>
                        <a:rPr lang="en-US" sz="1800" b="0" kern="1200" dirty="0">
                          <a:solidFill>
                            <a:schemeClr val="dk1"/>
                          </a:solidFill>
                          <a:effectLst/>
                        </a:rPr>
                        <a:t>The </a:t>
                      </a:r>
                      <a:r>
                        <a:rPr lang="en-US" dirty="0"/>
                        <a:t>state</a:t>
                      </a:r>
                      <a:r>
                        <a:rPr lang="en-US" sz="1800" b="0" kern="1200" dirty="0">
                          <a:solidFill>
                            <a:schemeClr val="dk1"/>
                          </a:solidFill>
                          <a:effectLst/>
                        </a:rPr>
                        <a:t> indicates the state associated with the message.</a:t>
                      </a:r>
                      <a:endParaRPr lang="en-US" dirty="0"/>
                    </a:p>
                  </a:txBody>
                  <a:tcPr/>
                </a:tc>
                <a:extLst>
                  <a:ext uri="{0D108BD9-81ED-4DB2-BD59-A6C34878D82A}">
                    <a16:rowId xmlns:a16="http://schemas.microsoft.com/office/drawing/2014/main" val="3221697198"/>
                  </a:ext>
                </a:extLst>
              </a:tr>
            </a:tbl>
          </a:graphicData>
        </a:graphic>
      </p:graphicFrame>
    </p:spTree>
    <p:extLst>
      <p:ext uri="{BB962C8B-B14F-4D97-AF65-F5344CB8AC3E}">
        <p14:creationId xmlns:p14="http://schemas.microsoft.com/office/powerpoint/2010/main" val="77005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0" grpId="0" animBg="1"/>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 Example</a:t>
            </a:r>
            <a:endParaRPr lang="en-GB" dirty="0"/>
          </a:p>
        </p:txBody>
      </p:sp>
      <p:sp>
        <p:nvSpPr>
          <p:cNvPr id="4" name="Rectangle 3">
            <a:extLst>
              <a:ext uri="{FF2B5EF4-FFF2-40B4-BE49-F238E27FC236}">
                <a16:creationId xmlns:a16="http://schemas.microsoft.com/office/drawing/2014/main" id="{DCEA5C01-BD87-6B64-2483-EB419AC3C480}"/>
              </a:ext>
            </a:extLst>
          </p:cNvPr>
          <p:cNvSpPr/>
          <p:nvPr/>
        </p:nvSpPr>
        <p:spPr>
          <a:xfrm>
            <a:off x="696666" y="1089604"/>
            <a:ext cx="7526451" cy="5470728"/>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spDivideBy2</a:t>
            </a:r>
            <a:endParaRPr lang="en-GB" sz="1650" dirty="0">
              <a:solidFill>
                <a:srgbClr val="808080"/>
              </a:solidFill>
              <a:latin typeface="Consolas" panose="020B0609020204030204" pitchFamily="49" charset="0"/>
            </a:endParaRPr>
          </a:p>
          <a:p>
            <a:pPr lvl="1"/>
            <a:r>
              <a:rPr lang="en-GB" sz="1650" dirty="0">
                <a:solidFill>
                  <a:srgbClr val="000000"/>
                </a:solidFill>
                <a:latin typeface="Consolas" panose="020B0609020204030204" pitchFamily="49" charset="0"/>
              </a:rPr>
              <a:t>@No1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pPr lvl="1"/>
            <a:r>
              <a:rPr lang="en-GB" sz="1650" dirty="0">
                <a:solidFill>
                  <a:srgbClr val="000000"/>
                </a:solidFill>
                <a:latin typeface="Consolas" panose="020B0609020204030204" pitchFamily="49" charset="0"/>
              </a:rPr>
              <a:t>@No2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THROW</a:t>
            </a:r>
            <a:r>
              <a:rPr lang="en-US" dirty="0">
                <a:solidFill>
                  <a:srgbClr val="000000"/>
                </a:solidFill>
                <a:latin typeface="Consolas" panose="020B0609020204030204" pitchFamily="49" charset="0"/>
              </a:rPr>
              <a:t> 50001</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'DIVISOR CANNOT BE 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1</a:t>
            </a:r>
          </a:p>
          <a:p>
            <a:r>
              <a:rPr lang="en-US"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089604"/>
            <a:ext cx="579518" cy="542456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a:p>
            <a:pPr algn="r"/>
            <a:r>
              <a:rPr lang="en-IN" sz="1650" b="1" dirty="0">
                <a:solidFill>
                  <a:schemeClr val="tx1">
                    <a:lumMod val="75000"/>
                    <a:lumOff val="25000"/>
                  </a:schemeClr>
                </a:solidFill>
                <a:latin typeface="Consolas" panose="020B0609020204030204" pitchFamily="49" charset="0"/>
              </a:rPr>
              <a:t>20</a:t>
            </a:r>
          </a:p>
          <a:p>
            <a:pPr algn="r"/>
            <a:r>
              <a:rPr lang="en-IN" sz="1650" b="1" dirty="0">
                <a:solidFill>
                  <a:schemeClr val="tx1">
                    <a:lumMod val="75000"/>
                    <a:lumOff val="25000"/>
                  </a:schemeClr>
                </a:solidFill>
                <a:latin typeface="Consolas" panose="020B0609020204030204" pitchFamily="49" charset="0"/>
              </a:rPr>
              <a:t>21</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760420"/>
            <a:ext cx="178164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of THROW </a:t>
            </a:r>
          </a:p>
        </p:txBody>
      </p:sp>
      <p:sp>
        <p:nvSpPr>
          <p:cNvPr id="3" name="TextBox 2">
            <a:extLst>
              <a:ext uri="{FF2B5EF4-FFF2-40B4-BE49-F238E27FC236}">
                <a16:creationId xmlns:a16="http://schemas.microsoft.com/office/drawing/2014/main" id="{224BBFF6-8387-BFAB-68F2-38763B95C2CB}"/>
              </a:ext>
            </a:extLst>
          </p:cNvPr>
          <p:cNvSpPr txBox="1"/>
          <p:nvPr/>
        </p:nvSpPr>
        <p:spPr>
          <a:xfrm>
            <a:off x="8398135" y="1225399"/>
            <a:ext cx="3953846" cy="1569660"/>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10,1</a:t>
            </a:r>
            <a:endParaRPr lang="en-GB" sz="1600" dirty="0">
              <a:solidFill>
                <a:srgbClr val="000000"/>
              </a:solidFill>
              <a:latin typeface="Consolas" panose="020B0609020204030204" pitchFamily="49" charset="0"/>
            </a:endParaRPr>
          </a:p>
          <a:p>
            <a:r>
              <a:rPr lang="en-GB" sz="1600" b="1" dirty="0">
                <a:solidFill>
                  <a:schemeClr val="accent6"/>
                </a:solidFill>
                <a:latin typeface="Consolas" panose="020B0609020204030204" pitchFamily="49" charset="0"/>
              </a:rPr>
              <a:t>50001</a:t>
            </a:r>
          </a:p>
          <a:p>
            <a:r>
              <a:rPr lang="en-GB" sz="1600" b="1" dirty="0">
                <a:solidFill>
                  <a:schemeClr val="accent6"/>
                </a:solidFill>
                <a:latin typeface="Consolas" panose="020B0609020204030204" pitchFamily="49" charset="0"/>
              </a:rPr>
              <a:t>DIVISOR CANNOT BE ONE</a:t>
            </a:r>
          </a:p>
          <a:p>
            <a:r>
              <a:rPr lang="en-GB" sz="1600" b="1" dirty="0">
                <a:solidFill>
                  <a:schemeClr val="accent6"/>
                </a:solidFill>
                <a:latin typeface="Consolas" panose="020B0609020204030204" pitchFamily="49" charset="0"/>
              </a:rPr>
              <a:t>16</a:t>
            </a:r>
            <a:r>
              <a:rPr lang="en-GB"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The severity of the exception is always set to 16</a:t>
            </a:r>
            <a:r>
              <a:rPr lang="en-US" sz="1600" dirty="0">
                <a:solidFill>
                  <a:srgbClr val="00000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b="1" dirty="0">
                <a:solidFill>
                  <a:schemeClr val="accent6"/>
                </a:solidFill>
                <a:latin typeface="Consolas" panose="020B0609020204030204" pitchFamily="49" charset="0"/>
              </a:rPr>
              <a:t>1</a:t>
            </a:r>
          </a:p>
        </p:txBody>
      </p:sp>
      <p:sp>
        <p:nvSpPr>
          <p:cNvPr id="9" name="TextBox 8">
            <a:extLst>
              <a:ext uri="{FF2B5EF4-FFF2-40B4-BE49-F238E27FC236}">
                <a16:creationId xmlns:a16="http://schemas.microsoft.com/office/drawing/2014/main" id="{0053F059-DD56-167C-6BB5-9CF3007F0B70}"/>
              </a:ext>
            </a:extLst>
          </p:cNvPr>
          <p:cNvSpPr txBox="1"/>
          <p:nvPr/>
        </p:nvSpPr>
        <p:spPr>
          <a:xfrm>
            <a:off x="8332718" y="3143249"/>
            <a:ext cx="3953846" cy="584775"/>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10,2</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THE RESULT IS: </a:t>
            </a:r>
            <a:r>
              <a:rPr lang="en-GB" sz="1600" b="1" dirty="0">
                <a:solidFill>
                  <a:schemeClr val="accent6"/>
                </a:solidFill>
                <a:latin typeface="Consolas" panose="020B0609020204030204" pitchFamily="49" charset="0"/>
              </a:rPr>
              <a:t>5</a:t>
            </a:r>
          </a:p>
        </p:txBody>
      </p:sp>
      <p:sp>
        <p:nvSpPr>
          <p:cNvPr id="5" name="Rounded Rectangle 4"/>
          <p:cNvSpPr/>
          <p:nvPr/>
        </p:nvSpPr>
        <p:spPr>
          <a:xfrm>
            <a:off x="2876550" y="2989349"/>
            <a:ext cx="1181100" cy="2381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Number</a:t>
            </a:r>
          </a:p>
        </p:txBody>
      </p:sp>
      <p:sp>
        <p:nvSpPr>
          <p:cNvPr id="10" name="Rounded Rectangle 9"/>
          <p:cNvSpPr/>
          <p:nvPr/>
        </p:nvSpPr>
        <p:spPr>
          <a:xfrm>
            <a:off x="4232668" y="2989348"/>
            <a:ext cx="1291832" cy="2381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Message</a:t>
            </a:r>
          </a:p>
        </p:txBody>
      </p:sp>
      <p:sp>
        <p:nvSpPr>
          <p:cNvPr id="11" name="Rounded Rectangle 10"/>
          <p:cNvSpPr/>
          <p:nvPr/>
        </p:nvSpPr>
        <p:spPr>
          <a:xfrm>
            <a:off x="5756668" y="2989348"/>
            <a:ext cx="1291832" cy="2381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Error State</a:t>
            </a:r>
          </a:p>
        </p:txBody>
      </p:sp>
      <p:cxnSp>
        <p:nvCxnSpPr>
          <p:cNvPr id="12" name="Straight Arrow Connector 11"/>
          <p:cNvCxnSpPr/>
          <p:nvPr/>
        </p:nvCxnSpPr>
        <p:spPr>
          <a:xfrm flipH="1">
            <a:off x="3058051" y="3227474"/>
            <a:ext cx="380474"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582051" y="3227474"/>
            <a:ext cx="329870"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6402584" y="3227474"/>
            <a:ext cx="324044" cy="2095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707849" y="3728024"/>
            <a:ext cx="47720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Rectangle: Top Corners Rounded 7">
            <a:extLst>
              <a:ext uri="{FF2B5EF4-FFF2-40B4-BE49-F238E27FC236}">
                <a16:creationId xmlns:a16="http://schemas.microsoft.com/office/drawing/2014/main" id="{966C164A-A2A5-0F65-3213-BDEA651D4A38}"/>
              </a:ext>
            </a:extLst>
          </p:cNvPr>
          <p:cNvSpPr/>
          <p:nvPr/>
        </p:nvSpPr>
        <p:spPr>
          <a:xfrm>
            <a:off x="8398135" y="925012"/>
            <a:ext cx="763972" cy="300387"/>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16566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1"/>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7" grpId="0" animBg="1"/>
      <p:bldP spid="8" grpId="0" animBg="1"/>
      <p:bldP spid="3" grpId="0"/>
      <p:bldP spid="9" grpId="0"/>
      <p:bldP spid="5" grpId="0" animBg="1"/>
      <p:bldP spid="10" grpId="0" animBg="1"/>
      <p:bldP spid="11" grpId="0" animBg="1"/>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 Example</a:t>
            </a:r>
            <a:endParaRPr lang="en-GB" dirty="0"/>
          </a:p>
        </p:txBody>
      </p:sp>
      <p:sp>
        <p:nvSpPr>
          <p:cNvPr id="4" name="Rectangle 3">
            <a:extLst>
              <a:ext uri="{FF2B5EF4-FFF2-40B4-BE49-F238E27FC236}">
                <a16:creationId xmlns:a16="http://schemas.microsoft.com/office/drawing/2014/main" id="{DCEA5C01-BD87-6B64-2483-EB419AC3C480}"/>
              </a:ext>
            </a:extLst>
          </p:cNvPr>
          <p:cNvSpPr/>
          <p:nvPr/>
        </p:nvSpPr>
        <p:spPr>
          <a:xfrm>
            <a:off x="696666" y="1089604"/>
            <a:ext cx="7526451" cy="5470728"/>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spDivideBy2</a:t>
            </a:r>
            <a:endParaRPr lang="en-GB" sz="1650" dirty="0">
              <a:solidFill>
                <a:srgbClr val="808080"/>
              </a:solidFill>
              <a:latin typeface="Consolas" panose="020B0609020204030204" pitchFamily="49" charset="0"/>
            </a:endParaRPr>
          </a:p>
          <a:p>
            <a:pPr lvl="1"/>
            <a:r>
              <a:rPr lang="en-GB" sz="1650" dirty="0">
                <a:solidFill>
                  <a:srgbClr val="000000"/>
                </a:solidFill>
                <a:latin typeface="Consolas" panose="020B0609020204030204" pitchFamily="49" charset="0"/>
              </a:rPr>
              <a:t>@No1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pPr lvl="1"/>
            <a:r>
              <a:rPr lang="en-GB" sz="1650" dirty="0">
                <a:solidFill>
                  <a:srgbClr val="000000"/>
                </a:solidFill>
                <a:latin typeface="Consolas" panose="020B0609020204030204" pitchFamily="49" charset="0"/>
              </a:rPr>
              <a:t>@No2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THROW</a:t>
            </a:r>
            <a:r>
              <a:rPr lang="en-US" dirty="0">
                <a:solidFill>
                  <a:srgbClr val="000000"/>
                </a:solidFill>
                <a:latin typeface="Consolas" panose="020B0609020204030204" pitchFamily="49" charset="0"/>
              </a:rPr>
              <a:t> </a:t>
            </a:r>
            <a:r>
              <a:rPr lang="en-US" b="1" dirty="0">
                <a:solidFill>
                  <a:srgbClr val="FF0000"/>
                </a:solidFill>
                <a:latin typeface="Consolas" panose="020B0609020204030204" pitchFamily="49" charset="0"/>
              </a:rPr>
              <a:t>48000</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'DIVISOR CANNOT BE 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1</a:t>
            </a:r>
          </a:p>
          <a:p>
            <a:r>
              <a:rPr lang="en-US"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089604"/>
            <a:ext cx="579518" cy="542456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a:p>
            <a:pPr algn="r"/>
            <a:r>
              <a:rPr lang="en-IN" sz="1650" b="1" dirty="0">
                <a:solidFill>
                  <a:schemeClr val="tx1">
                    <a:lumMod val="75000"/>
                    <a:lumOff val="25000"/>
                  </a:schemeClr>
                </a:solidFill>
                <a:latin typeface="Consolas" panose="020B0609020204030204" pitchFamily="49" charset="0"/>
              </a:rPr>
              <a:t>20</a:t>
            </a:r>
          </a:p>
          <a:p>
            <a:pPr algn="r"/>
            <a:r>
              <a:rPr lang="en-IN" sz="1650" b="1" dirty="0">
                <a:solidFill>
                  <a:schemeClr val="tx1">
                    <a:lumMod val="75000"/>
                    <a:lumOff val="25000"/>
                  </a:schemeClr>
                </a:solidFill>
                <a:latin typeface="Consolas" panose="020B0609020204030204" pitchFamily="49" charset="0"/>
              </a:rPr>
              <a:t>21</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760420"/>
            <a:ext cx="178164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of THROW </a:t>
            </a:r>
          </a:p>
        </p:txBody>
      </p:sp>
      <p:sp>
        <p:nvSpPr>
          <p:cNvPr id="3" name="TextBox 2">
            <a:extLst>
              <a:ext uri="{FF2B5EF4-FFF2-40B4-BE49-F238E27FC236}">
                <a16:creationId xmlns:a16="http://schemas.microsoft.com/office/drawing/2014/main" id="{224BBFF6-8387-BFAB-68F2-38763B95C2CB}"/>
              </a:ext>
            </a:extLst>
          </p:cNvPr>
          <p:cNvSpPr txBox="1"/>
          <p:nvPr/>
        </p:nvSpPr>
        <p:spPr>
          <a:xfrm>
            <a:off x="8398135" y="1225399"/>
            <a:ext cx="3953846" cy="2308324"/>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10,1</a:t>
            </a:r>
          </a:p>
          <a:p>
            <a:r>
              <a:rPr lang="en-US" sz="1600" dirty="0">
                <a:latin typeface="Consolas" panose="020B0609020204030204" pitchFamily="49" charset="0"/>
              </a:rPr>
              <a:t>35100</a:t>
            </a:r>
          </a:p>
          <a:p>
            <a:r>
              <a:rPr lang="en-US" sz="1600" dirty="0">
                <a:latin typeface="Consolas" panose="020B0609020204030204" pitchFamily="49" charset="0"/>
              </a:rPr>
              <a:t>Error number 48000 in the THROW statement is outside the valid range. Specify an error number in the valid range of 50000 to 2147483647.</a:t>
            </a:r>
          </a:p>
          <a:p>
            <a:r>
              <a:rPr lang="en-US" sz="1600" dirty="0">
                <a:latin typeface="Consolas" panose="020B0609020204030204" pitchFamily="49" charset="0"/>
              </a:rPr>
              <a:t>16</a:t>
            </a:r>
          </a:p>
          <a:p>
            <a:r>
              <a:rPr lang="en-US" sz="1600" dirty="0">
                <a:latin typeface="Consolas" panose="020B0609020204030204" pitchFamily="49" charset="0"/>
              </a:rPr>
              <a:t>10</a:t>
            </a:r>
            <a:endParaRPr lang="en-GB" sz="1600" dirty="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0053F059-DD56-167C-6BB5-9CF3007F0B70}"/>
              </a:ext>
            </a:extLst>
          </p:cNvPr>
          <p:cNvSpPr txBox="1"/>
          <p:nvPr/>
        </p:nvSpPr>
        <p:spPr>
          <a:xfrm>
            <a:off x="8398135" y="4095749"/>
            <a:ext cx="3953846" cy="584775"/>
          </a:xfrm>
          <a:prstGeom prst="rect">
            <a:avLst/>
          </a:prstGeom>
          <a:noFill/>
        </p:spPr>
        <p:txBody>
          <a:bodyPr wrap="square">
            <a:spAutoFit/>
          </a:bodyPr>
          <a:lstStyle/>
          <a:p>
            <a:r>
              <a:rPr lang="en-GB" sz="1600" dirty="0">
                <a:solidFill>
                  <a:srgbClr val="008000"/>
                </a:solidFill>
                <a:latin typeface="Consolas" panose="020B0609020204030204" pitchFamily="49" charset="0"/>
              </a:rPr>
              <a:t>--Exec spDivideBy2 10,2</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THE RESULT IS: </a:t>
            </a:r>
            <a:r>
              <a:rPr lang="en-GB" sz="1600" b="1" dirty="0">
                <a:solidFill>
                  <a:schemeClr val="accent6"/>
                </a:solidFill>
                <a:latin typeface="Consolas" panose="020B0609020204030204" pitchFamily="49" charset="0"/>
              </a:rPr>
              <a:t>5</a:t>
            </a:r>
          </a:p>
        </p:txBody>
      </p:sp>
      <p:cxnSp>
        <p:nvCxnSpPr>
          <p:cNvPr id="20" name="Straight Connector 19"/>
          <p:cNvCxnSpPr/>
          <p:nvPr/>
        </p:nvCxnSpPr>
        <p:spPr>
          <a:xfrm>
            <a:off x="1697706" y="3702086"/>
            <a:ext cx="477202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Rectangle: Top Corners Rounded 7">
            <a:extLst>
              <a:ext uri="{FF2B5EF4-FFF2-40B4-BE49-F238E27FC236}">
                <a16:creationId xmlns:a16="http://schemas.microsoft.com/office/drawing/2014/main" id="{966C164A-A2A5-0F65-3213-BDEA651D4A38}"/>
              </a:ext>
            </a:extLst>
          </p:cNvPr>
          <p:cNvSpPr/>
          <p:nvPr/>
        </p:nvSpPr>
        <p:spPr>
          <a:xfrm>
            <a:off x="8398135" y="925012"/>
            <a:ext cx="763972" cy="300387"/>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169427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animBg="1"/>
      <p:bldP spid="8" grpId="0" animBg="1"/>
      <p:bldP spid="3" grpId="0"/>
      <p:bldP spid="9" grpId="0"/>
      <p:bldP spid="1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THROW statement to raise a System Exception</a:t>
            </a:r>
          </a:p>
        </p:txBody>
      </p:sp>
      <p:sp>
        <p:nvSpPr>
          <p:cNvPr id="3" name="Content Placeholder 2"/>
          <p:cNvSpPr>
            <a:spLocks noGrp="1"/>
          </p:cNvSpPr>
          <p:nvPr>
            <p:ph idx="1"/>
          </p:nvPr>
        </p:nvSpPr>
        <p:spPr/>
        <p:txBody>
          <a:bodyPr/>
          <a:lstStyle/>
          <a:p>
            <a:r>
              <a:rPr lang="en-US" dirty="0"/>
              <a:t>If you don’t specify any parameter for the THROW statement, you must place the THROW statement inside a CATCH block:</a:t>
            </a:r>
          </a:p>
          <a:p>
            <a:endParaRPr lang="en-US" dirty="0"/>
          </a:p>
        </p:txBody>
      </p:sp>
      <p:sp>
        <p:nvSpPr>
          <p:cNvPr id="6" name="Rectangle 5">
            <a:extLst>
              <a:ext uri="{FF2B5EF4-FFF2-40B4-BE49-F238E27FC236}">
                <a16:creationId xmlns:a16="http://schemas.microsoft.com/office/drawing/2014/main" id="{DCEA5C01-BD87-6B64-2483-EB419AC3C480}"/>
              </a:ext>
            </a:extLst>
          </p:cNvPr>
          <p:cNvSpPr/>
          <p:nvPr/>
        </p:nvSpPr>
        <p:spPr>
          <a:xfrm>
            <a:off x="982416" y="1949299"/>
            <a:ext cx="7526451" cy="2246769"/>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BEGIN</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TRY</a:t>
            </a:r>
          </a:p>
          <a:p>
            <a:r>
              <a:rPr lang="en-US" sz="2000" dirty="0">
                <a:solidFill>
                  <a:srgbClr val="008000"/>
                </a:solidFill>
                <a:latin typeface="Consolas" panose="020B0609020204030204" pitchFamily="49" charset="0"/>
              </a:rPr>
              <a:t>--statements that may cause an errors</a:t>
            </a:r>
          </a:p>
          <a:p>
            <a:r>
              <a:rPr lang="en-GB" sz="2000" dirty="0">
                <a:solidFill>
                  <a:srgbClr val="0000FF"/>
                </a:solidFill>
                <a:latin typeface="Consolas" panose="020B0609020204030204" pitchFamily="49" charset="0"/>
              </a:rPr>
              <a:t>END</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TRY</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BEGIN</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CATCH</a:t>
            </a:r>
          </a:p>
          <a:p>
            <a:r>
              <a:rPr lang="en-US" sz="2000" dirty="0">
                <a:solidFill>
                  <a:srgbClr val="008000"/>
                </a:solidFill>
                <a:latin typeface="Consolas" panose="020B0609020204030204" pitchFamily="49" charset="0"/>
              </a:rPr>
              <a:t>--statement to handle errors</a:t>
            </a:r>
          </a:p>
          <a:p>
            <a:r>
              <a:rPr lang="en-GB" sz="2000" dirty="0">
                <a:solidFill>
                  <a:srgbClr val="0000FF"/>
                </a:solidFill>
                <a:latin typeface="Consolas" panose="020B0609020204030204" pitchFamily="49" charset="0"/>
              </a:rPr>
              <a:t>THROW;</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END</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CATCH</a:t>
            </a:r>
            <a:endParaRPr lang="en-GB" sz="200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418630" y="1949299"/>
            <a:ext cx="579518" cy="2246769"/>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a:p>
            <a:pPr algn="r"/>
            <a:r>
              <a:rPr lang="en-IN" sz="2000" b="1" dirty="0">
                <a:solidFill>
                  <a:schemeClr val="tx1">
                    <a:lumMod val="75000"/>
                    <a:lumOff val="25000"/>
                  </a:schemeClr>
                </a:solidFill>
                <a:latin typeface="Consolas" panose="020B0609020204030204" pitchFamily="49" charset="0"/>
              </a:rPr>
              <a:t>6</a:t>
            </a:r>
          </a:p>
          <a:p>
            <a:pPr algn="r"/>
            <a:r>
              <a:rPr lang="en-IN" sz="2000" b="1" dirty="0">
                <a:solidFill>
                  <a:schemeClr val="tx1">
                    <a:lumMod val="75000"/>
                    <a:lumOff val="25000"/>
                  </a:schemeClr>
                </a:solidFill>
                <a:latin typeface="Consolas" panose="020B0609020204030204" pitchFamily="49" charset="0"/>
              </a:rPr>
              <a:t>7</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418629" y="1620115"/>
            <a:ext cx="114330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THROW </a:t>
            </a:r>
          </a:p>
        </p:txBody>
      </p:sp>
    </p:spTree>
    <p:extLst>
      <p:ext uri="{BB962C8B-B14F-4D97-AF65-F5344CB8AC3E}">
        <p14:creationId xmlns:p14="http://schemas.microsoft.com/office/powerpoint/2010/main" val="289632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THROW statement to raise a System Exception</a:t>
            </a:r>
          </a:p>
        </p:txBody>
      </p:sp>
      <p:pic>
        <p:nvPicPr>
          <p:cNvPr id="6" name="Picture 5"/>
          <p:cNvPicPr>
            <a:picLocks noChangeAspect="1"/>
          </p:cNvPicPr>
          <p:nvPr/>
        </p:nvPicPr>
        <p:blipFill>
          <a:blip r:embed="rId2"/>
          <a:stretch>
            <a:fillRect/>
          </a:stretch>
        </p:blipFill>
        <p:spPr>
          <a:xfrm>
            <a:off x="76200" y="768351"/>
            <a:ext cx="12061852" cy="4098924"/>
          </a:xfrm>
          <a:prstGeom prst="rect">
            <a:avLst/>
          </a:prstGeom>
          <a:ln>
            <a:solidFill>
              <a:schemeClr val="tx1"/>
            </a:solidFill>
          </a:ln>
        </p:spPr>
      </p:pic>
    </p:spTree>
    <p:extLst>
      <p:ext uri="{BB962C8B-B14F-4D97-AF65-F5344CB8AC3E}">
        <p14:creationId xmlns:p14="http://schemas.microsoft.com/office/powerpoint/2010/main" val="3952322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57475-3E6B-577B-69BF-9AC7D3001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B76A7-9355-5DEC-7DC4-1DCEA8F0178F}"/>
              </a:ext>
            </a:extLst>
          </p:cNvPr>
          <p:cNvSpPr>
            <a:spLocks noGrp="1"/>
          </p:cNvSpPr>
          <p:nvPr>
            <p:ph type="title"/>
          </p:nvPr>
        </p:nvSpPr>
        <p:spPr/>
        <p:txBody>
          <a:bodyPr/>
          <a:lstStyle/>
          <a:p>
            <a:r>
              <a:rPr lang="en-US" dirty="0" err="1"/>
              <a:t>RaiseError</a:t>
            </a:r>
            <a:r>
              <a:rPr lang="en-US" dirty="0"/>
              <a:t>()</a:t>
            </a:r>
          </a:p>
        </p:txBody>
      </p:sp>
      <p:sp>
        <p:nvSpPr>
          <p:cNvPr id="3" name="Text Placeholder 2">
            <a:extLst>
              <a:ext uri="{FF2B5EF4-FFF2-40B4-BE49-F238E27FC236}">
                <a16:creationId xmlns:a16="http://schemas.microsoft.com/office/drawing/2014/main" id="{FE9BA471-D78A-2815-0DEE-A4A74FF532F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78432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RAISERROR()</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r>
              <a:rPr lang="en-US" dirty="0"/>
              <a:t>We use the RAISERROR inside a TRY block to cause execution to jump to the associated CATCH block.</a:t>
            </a:r>
          </a:p>
          <a:p>
            <a:r>
              <a:rPr lang="en-US" dirty="0"/>
              <a:t>If you need more control over severity RAISEERROR() is a better option.</a:t>
            </a:r>
          </a:p>
          <a:p>
            <a:endParaRPr lang="en-US" dirty="0"/>
          </a:p>
          <a:p>
            <a:endParaRPr lang="en-GB" dirty="0"/>
          </a:p>
        </p:txBody>
      </p:sp>
      <p:sp>
        <p:nvSpPr>
          <p:cNvPr id="6" name="Rectangle 5">
            <a:extLst>
              <a:ext uri="{FF2B5EF4-FFF2-40B4-BE49-F238E27FC236}">
                <a16:creationId xmlns:a16="http://schemas.microsoft.com/office/drawing/2014/main" id="{6BD1329B-00AB-BF14-D651-805980AD5447}"/>
              </a:ext>
            </a:extLst>
          </p:cNvPr>
          <p:cNvSpPr/>
          <p:nvPr/>
        </p:nvSpPr>
        <p:spPr>
          <a:xfrm>
            <a:off x="1028540" y="2750084"/>
            <a:ext cx="6178018" cy="338554"/>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RAISERROR</a:t>
            </a:r>
            <a:r>
              <a:rPr lang="en-US" sz="1600" dirty="0">
                <a:solidFill>
                  <a:srgbClr val="808080"/>
                </a:solidFill>
                <a:latin typeface="Consolas" panose="020B0609020204030204" pitchFamily="49" charset="0"/>
              </a:rPr>
              <a:t>(</a:t>
            </a:r>
            <a:r>
              <a:rPr lang="en-US" sz="1600" dirty="0">
                <a:latin typeface="Consolas" panose="020B0609020204030204" pitchFamily="49" charset="0"/>
              </a:rPr>
              <a:t>Error Message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latin typeface="Consolas" panose="020B0609020204030204" pitchFamily="49" charset="0"/>
              </a:rPr>
              <a:t>Severity, state</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751DE1C1-8715-92A3-768C-67989D59E3F4}"/>
              </a:ext>
            </a:extLst>
          </p:cNvPr>
          <p:cNvSpPr/>
          <p:nvPr/>
        </p:nvSpPr>
        <p:spPr>
          <a:xfrm>
            <a:off x="464754" y="2750084"/>
            <a:ext cx="579518"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8" name="Rectangle: Top Corners Rounded 6">
            <a:extLst>
              <a:ext uri="{FF2B5EF4-FFF2-40B4-BE49-F238E27FC236}">
                <a16:creationId xmlns:a16="http://schemas.microsoft.com/office/drawing/2014/main" id="{3C5BFDCD-1E98-F044-22BB-16207F348FC3}"/>
              </a:ext>
            </a:extLst>
          </p:cNvPr>
          <p:cNvSpPr/>
          <p:nvPr/>
        </p:nvSpPr>
        <p:spPr>
          <a:xfrm>
            <a:off x="464753" y="2420900"/>
            <a:ext cx="92164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1" name="Rectangle 10">
            <a:extLst>
              <a:ext uri="{FF2B5EF4-FFF2-40B4-BE49-F238E27FC236}">
                <a16:creationId xmlns:a16="http://schemas.microsoft.com/office/drawing/2014/main" id="{6BD1329B-00AB-BF14-D651-805980AD5447}"/>
              </a:ext>
            </a:extLst>
          </p:cNvPr>
          <p:cNvSpPr/>
          <p:nvPr/>
        </p:nvSpPr>
        <p:spPr>
          <a:xfrm>
            <a:off x="1028539" y="3570065"/>
            <a:ext cx="7364023" cy="230832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	RAISERROR</a:t>
            </a:r>
            <a:r>
              <a:rPr lang="en-US" sz="1600" dirty="0">
                <a:solidFill>
                  <a:srgbClr val="808080"/>
                </a:solidFill>
                <a:latin typeface="Consolas" panose="020B0609020204030204" pitchFamily="49" charset="0"/>
              </a:rPr>
              <a:t>(</a:t>
            </a:r>
            <a:r>
              <a:rPr lang="en-US" sz="1600" dirty="0">
                <a:solidFill>
                  <a:srgbClr val="FF0000"/>
                </a:solidFill>
                <a:latin typeface="Consolas" panose="020B0609020204030204" pitchFamily="49" charset="0"/>
              </a:rPr>
              <a:t>'Error occurred in the TRY block.'</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16</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1</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TRY</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SELECT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ERROR_MESSAGE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ERROR_SEVERITY</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ERROR_STATE</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CATCH</a:t>
            </a:r>
            <a:r>
              <a:rPr lang="en-GB" sz="1600" dirty="0">
                <a:solidFill>
                  <a:srgbClr val="808080"/>
                </a:solidFill>
                <a:latin typeface="Consolas" panose="020B0609020204030204" pitchFamily="49" charset="0"/>
              </a:rPr>
              <a:t>;</a:t>
            </a:r>
            <a:endParaRPr lang="en-GB" sz="1600" dirty="0"/>
          </a:p>
        </p:txBody>
      </p:sp>
      <p:sp>
        <p:nvSpPr>
          <p:cNvPr id="12" name="Rectangle 11">
            <a:extLst>
              <a:ext uri="{FF2B5EF4-FFF2-40B4-BE49-F238E27FC236}">
                <a16:creationId xmlns:a16="http://schemas.microsoft.com/office/drawing/2014/main" id="{751DE1C1-8715-92A3-768C-67989D59E3F4}"/>
              </a:ext>
            </a:extLst>
          </p:cNvPr>
          <p:cNvSpPr/>
          <p:nvPr/>
        </p:nvSpPr>
        <p:spPr>
          <a:xfrm>
            <a:off x="464754" y="3570065"/>
            <a:ext cx="579518"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US" sz="1650" b="1" dirty="0">
                <a:solidFill>
                  <a:schemeClr val="tx1">
                    <a:lumMod val="75000"/>
                    <a:lumOff val="25000"/>
                  </a:schemeClr>
                </a:solidFill>
                <a:latin typeface="Consolas" panose="020B0609020204030204" pitchFamily="49" charset="0"/>
              </a:rPr>
              <a:t>2</a:t>
            </a:r>
          </a:p>
          <a:p>
            <a:pPr algn="r"/>
            <a:r>
              <a:rPr lang="en-US" sz="1650" b="1" dirty="0">
                <a:solidFill>
                  <a:schemeClr val="tx1">
                    <a:lumMod val="75000"/>
                    <a:lumOff val="25000"/>
                  </a:schemeClr>
                </a:solidFill>
                <a:latin typeface="Consolas" panose="020B0609020204030204" pitchFamily="49" charset="0"/>
              </a:rPr>
              <a:t>3</a:t>
            </a:r>
          </a:p>
          <a:p>
            <a:pPr algn="r"/>
            <a:r>
              <a:rPr lang="en-US" sz="1650" b="1" dirty="0">
                <a:solidFill>
                  <a:schemeClr val="tx1">
                    <a:lumMod val="75000"/>
                    <a:lumOff val="25000"/>
                  </a:schemeClr>
                </a:solidFill>
                <a:latin typeface="Consolas" panose="020B0609020204030204" pitchFamily="49" charset="0"/>
              </a:rPr>
              <a:t>4</a:t>
            </a:r>
          </a:p>
          <a:p>
            <a:pPr algn="r"/>
            <a:r>
              <a:rPr lang="en-US" sz="1650" b="1" dirty="0">
                <a:solidFill>
                  <a:schemeClr val="tx1">
                    <a:lumMod val="75000"/>
                    <a:lumOff val="25000"/>
                  </a:schemeClr>
                </a:solidFill>
                <a:latin typeface="Consolas" panose="020B0609020204030204" pitchFamily="49" charset="0"/>
              </a:rPr>
              <a:t>5</a:t>
            </a:r>
          </a:p>
          <a:p>
            <a:pPr algn="r"/>
            <a:r>
              <a:rPr lang="en-US" sz="1650" b="1" dirty="0">
                <a:solidFill>
                  <a:schemeClr val="tx1">
                    <a:lumMod val="75000"/>
                    <a:lumOff val="25000"/>
                  </a:schemeClr>
                </a:solidFill>
                <a:latin typeface="Consolas" panose="020B0609020204030204" pitchFamily="49" charset="0"/>
              </a:rPr>
              <a:t>6</a:t>
            </a:r>
          </a:p>
          <a:p>
            <a:pPr algn="r"/>
            <a:r>
              <a:rPr lang="en-US" sz="1650" b="1" dirty="0">
                <a:solidFill>
                  <a:schemeClr val="tx1">
                    <a:lumMod val="75000"/>
                    <a:lumOff val="25000"/>
                  </a:schemeClr>
                </a:solidFill>
                <a:latin typeface="Consolas" panose="020B0609020204030204" pitchFamily="49" charset="0"/>
              </a:rPr>
              <a:t>7</a:t>
            </a:r>
          </a:p>
          <a:p>
            <a:pPr algn="r"/>
            <a:r>
              <a:rPr lang="en-US" sz="1650" b="1" dirty="0">
                <a:solidFill>
                  <a:schemeClr val="tx1">
                    <a:lumMod val="75000"/>
                    <a:lumOff val="25000"/>
                  </a:schemeClr>
                </a:solidFill>
                <a:latin typeface="Consolas" panose="020B0609020204030204" pitchFamily="49" charset="0"/>
              </a:rPr>
              <a:t>8</a:t>
            </a:r>
          </a:p>
          <a:p>
            <a:pPr algn="r"/>
            <a:r>
              <a:rPr lang="en-US" sz="1650" b="1" dirty="0">
                <a:solidFill>
                  <a:schemeClr val="tx1">
                    <a:lumMod val="75000"/>
                    <a:lumOff val="25000"/>
                  </a:schemeClr>
                </a:solidFill>
                <a:latin typeface="Consolas" panose="020B0609020204030204" pitchFamily="49" charset="0"/>
              </a:rPr>
              <a:t>9</a:t>
            </a:r>
          </a:p>
        </p:txBody>
      </p:sp>
      <p:sp>
        <p:nvSpPr>
          <p:cNvPr id="13" name="Rectangle: Top Corners Rounded 6">
            <a:extLst>
              <a:ext uri="{FF2B5EF4-FFF2-40B4-BE49-F238E27FC236}">
                <a16:creationId xmlns:a16="http://schemas.microsoft.com/office/drawing/2014/main" id="{3C5BFDCD-1E98-F044-22BB-16207F348FC3}"/>
              </a:ext>
            </a:extLst>
          </p:cNvPr>
          <p:cNvSpPr/>
          <p:nvPr/>
        </p:nvSpPr>
        <p:spPr>
          <a:xfrm>
            <a:off x="464752" y="3240881"/>
            <a:ext cx="139120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RAISEERROR()</a:t>
            </a:r>
          </a:p>
        </p:txBody>
      </p:sp>
    </p:spTree>
    <p:extLst>
      <p:ext uri="{BB962C8B-B14F-4D97-AF65-F5344CB8AC3E}">
        <p14:creationId xmlns:p14="http://schemas.microsoft.com/office/powerpoint/2010/main" val="253289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8" grpId="0" animBg="1"/>
      <p:bldP spid="11" grpId="0" build="p" animBg="1"/>
      <p:bldP spid="12" grpId="0" animBg="1"/>
      <p:bldP spid="1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RAISERROR() Example</a:t>
            </a:r>
            <a:endParaRPr lang="en-GB" dirty="0"/>
          </a:p>
        </p:txBody>
      </p:sp>
      <p:sp>
        <p:nvSpPr>
          <p:cNvPr id="5" name="TextBox 4">
            <a:extLst>
              <a:ext uri="{FF2B5EF4-FFF2-40B4-BE49-F238E27FC236}">
                <a16:creationId xmlns:a16="http://schemas.microsoft.com/office/drawing/2014/main" id="{47C81B89-89C3-64A4-077E-7E689C7DA585}"/>
              </a:ext>
            </a:extLst>
          </p:cNvPr>
          <p:cNvSpPr txBox="1"/>
          <p:nvPr/>
        </p:nvSpPr>
        <p:spPr>
          <a:xfrm>
            <a:off x="8576371" y="1404298"/>
            <a:ext cx="3953846" cy="1477328"/>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spDivideBy1 10,1</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50000</a:t>
            </a:r>
          </a:p>
          <a:p>
            <a:r>
              <a:rPr lang="en-GB" sz="1800" dirty="0">
                <a:solidFill>
                  <a:srgbClr val="000000"/>
                </a:solidFill>
                <a:latin typeface="Consolas" panose="020B0609020204030204" pitchFamily="49" charset="0"/>
              </a:rPr>
              <a:t>DIVISOR CANNOT BE ONE</a:t>
            </a:r>
          </a:p>
          <a:p>
            <a:r>
              <a:rPr lang="en-GB" sz="1800" dirty="0">
                <a:solidFill>
                  <a:srgbClr val="000000"/>
                </a:solidFill>
                <a:latin typeface="Consolas" panose="020B0609020204030204" pitchFamily="49" charset="0"/>
              </a:rPr>
              <a:t>16</a:t>
            </a:r>
          </a:p>
          <a:p>
            <a:r>
              <a:rPr lang="en-GB" sz="1800" dirty="0">
                <a:solidFill>
                  <a:srgbClr val="000000"/>
                </a:solidFill>
                <a:latin typeface="Consolas" panose="020B0609020204030204" pitchFamily="49" charset="0"/>
              </a:rPr>
              <a:t>1</a:t>
            </a:r>
          </a:p>
        </p:txBody>
      </p:sp>
      <p:sp>
        <p:nvSpPr>
          <p:cNvPr id="6" name="TextBox 5">
            <a:extLst>
              <a:ext uri="{FF2B5EF4-FFF2-40B4-BE49-F238E27FC236}">
                <a16:creationId xmlns:a16="http://schemas.microsoft.com/office/drawing/2014/main" id="{7F2805D3-C58F-9898-2BD7-38EE00875ACA}"/>
              </a:ext>
            </a:extLst>
          </p:cNvPr>
          <p:cNvSpPr txBox="1"/>
          <p:nvPr/>
        </p:nvSpPr>
        <p:spPr>
          <a:xfrm>
            <a:off x="8576371" y="3105834"/>
            <a:ext cx="3953846" cy="646331"/>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spDivideBy1 10,2</a:t>
            </a:r>
            <a:endParaRPr lang="en-GB" sz="1800"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THE RESULT IS: 5</a:t>
            </a:r>
            <a:endParaRPr lang="en-GB" sz="1800" dirty="0">
              <a:solidFill>
                <a:srgbClr val="000000"/>
              </a:solidFill>
              <a:latin typeface="Consolas" panose="020B0609020204030204" pitchFamily="49" charset="0"/>
            </a:endParaRPr>
          </a:p>
        </p:txBody>
      </p:sp>
      <p:sp>
        <p:nvSpPr>
          <p:cNvPr id="4" name="Rectangle 3">
            <a:extLst>
              <a:ext uri="{FF2B5EF4-FFF2-40B4-BE49-F238E27FC236}">
                <a16:creationId xmlns:a16="http://schemas.microsoft.com/office/drawing/2014/main" id="{DCEA5C01-BD87-6B64-2483-EB419AC3C480}"/>
              </a:ext>
            </a:extLst>
          </p:cNvPr>
          <p:cNvSpPr/>
          <p:nvPr/>
        </p:nvSpPr>
        <p:spPr>
          <a:xfrm>
            <a:off x="696666" y="1225399"/>
            <a:ext cx="7526451" cy="4916731"/>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CREATE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PROCEDURE</a:t>
            </a:r>
            <a:r>
              <a:rPr lang="en-US" sz="1650" dirty="0">
                <a:solidFill>
                  <a:srgbClr val="000000"/>
                </a:solidFill>
                <a:latin typeface="Consolas" panose="020B0609020204030204" pitchFamily="49" charset="0"/>
              </a:rPr>
              <a:t> spDivideBy1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@No1 </a:t>
            </a:r>
            <a:r>
              <a:rPr lang="en-US" sz="1650" dirty="0">
                <a:solidFill>
                  <a:srgbClr val="0000FF"/>
                </a:solidFill>
                <a:latin typeface="Consolas" panose="020B0609020204030204" pitchFamily="49" charset="0"/>
              </a:rPr>
              <a:t>INT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@No2 </a:t>
            </a:r>
            <a:r>
              <a:rPr lang="en-US" sz="1650" dirty="0">
                <a:solidFill>
                  <a:srgbClr val="0000FF"/>
                </a:solidFill>
                <a:latin typeface="Consolas" panose="020B0609020204030204" pitchFamily="49" charset="0"/>
              </a:rPr>
              <a:t>INT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sz="1650" b="1" dirty="0">
                <a:solidFill>
                  <a:srgbClr val="0000FF"/>
                </a:solidFill>
                <a:latin typeface="Consolas" panose="020B0609020204030204" pitchFamily="49" charset="0"/>
              </a:rPr>
              <a:t>RAISERROR</a:t>
            </a:r>
            <a:r>
              <a:rPr lang="en-US" sz="1650" dirty="0">
                <a:solidFill>
                  <a:srgbClr val="0000FF"/>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'DIVISOR CANNOT BE ONE'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16</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a:t>
            </a:r>
            <a:r>
              <a:rPr lang="en-US" sz="1650" dirty="0">
                <a:solidFill>
                  <a:srgbClr val="808080"/>
                </a:solidFill>
                <a:latin typeface="Consolas" panose="020B0609020204030204" pitchFamily="49" charset="0"/>
              </a:rPr>
              <a:t>)</a:t>
            </a:r>
          </a:p>
          <a:p>
            <a:r>
              <a:rPr lang="en-US" sz="1650" dirty="0">
                <a:solidFill>
                  <a:srgbClr val="0000FF"/>
                </a:solidFill>
                <a:latin typeface="Consolas" panose="020B0609020204030204" pitchFamily="49" charset="0"/>
              </a:rPr>
              <a:t>    ELSE</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225399"/>
            <a:ext cx="579518" cy="491673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896215"/>
            <a:ext cx="122899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RAISERROR</a:t>
            </a:r>
          </a:p>
        </p:txBody>
      </p:sp>
    </p:spTree>
    <p:extLst>
      <p:ext uri="{BB962C8B-B14F-4D97-AF65-F5344CB8AC3E}">
        <p14:creationId xmlns:p14="http://schemas.microsoft.com/office/powerpoint/2010/main" val="101556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build="p" animBg="1"/>
      <p:bldP spid="7"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Information!!!</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8640" y="62674"/>
            <a:ext cx="648527" cy="648527"/>
          </a:xfrm>
        </p:spPr>
      </p:pic>
      <p:pic>
        <p:nvPicPr>
          <p:cNvPr id="5" name="Picture 4"/>
          <p:cNvPicPr>
            <a:picLocks noChangeAspect="1"/>
          </p:cNvPicPr>
          <p:nvPr/>
        </p:nvPicPr>
        <p:blipFill>
          <a:blip r:embed="rId3"/>
          <a:stretch>
            <a:fillRect/>
          </a:stretch>
        </p:blipFill>
        <p:spPr>
          <a:xfrm>
            <a:off x="441397" y="850698"/>
            <a:ext cx="11309206" cy="3259575"/>
          </a:xfrm>
          <a:prstGeom prst="rect">
            <a:avLst/>
          </a:prstGeom>
          <a:ln>
            <a:solidFill>
              <a:schemeClr val="tx1"/>
            </a:solidFill>
          </a:ln>
        </p:spPr>
      </p:pic>
    </p:spTree>
    <p:extLst>
      <p:ext uri="{BB962C8B-B14F-4D97-AF65-F5344CB8AC3E}">
        <p14:creationId xmlns:p14="http://schemas.microsoft.com/office/powerpoint/2010/main" val="3505389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FFED9D-8F53-1DC9-47BA-C29BC21C9554}"/>
              </a:ext>
            </a:extLst>
          </p:cNvPr>
          <p:cNvSpPr>
            <a:spLocks noGrp="1"/>
          </p:cNvSpPr>
          <p:nvPr>
            <p:ph type="title"/>
          </p:nvPr>
        </p:nvSpPr>
        <p:spPr/>
        <p:txBody>
          <a:bodyPr/>
          <a:lstStyle/>
          <a:p>
            <a:r>
              <a:rPr lang="en-US" dirty="0"/>
              <a:t>Do's &amp; Don'ts While Writing a Query (Query Optimization)</a:t>
            </a:r>
            <a:endParaRPr lang="en-IN" dirty="0"/>
          </a:p>
        </p:txBody>
      </p:sp>
      <p:sp>
        <p:nvSpPr>
          <p:cNvPr id="5" name="Text Placeholder 4">
            <a:extLst>
              <a:ext uri="{FF2B5EF4-FFF2-40B4-BE49-F238E27FC236}">
                <a16:creationId xmlns:a16="http://schemas.microsoft.com/office/drawing/2014/main" id="{B44344E2-E041-72DE-BF78-422E9F7FCCF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760089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normAutofit/>
          </a:bodyPr>
          <a:lstStyle/>
          <a:p>
            <a:r>
              <a:rPr lang="en-US" dirty="0"/>
              <a:t>Query Optimization</a:t>
            </a:r>
          </a:p>
        </p:txBody>
      </p:sp>
      <p:sp>
        <p:nvSpPr>
          <p:cNvPr id="3" name="Content Placeholder 2">
            <a:extLst>
              <a:ext uri="{FF2B5EF4-FFF2-40B4-BE49-F238E27FC236}">
                <a16:creationId xmlns:a16="http://schemas.microsoft.com/office/drawing/2014/main" id="{720D7694-BB66-01B9-837D-3260EE6F21D9}"/>
              </a:ext>
            </a:extLst>
          </p:cNvPr>
          <p:cNvSpPr>
            <a:spLocks noGrp="1"/>
          </p:cNvSpPr>
          <p:nvPr>
            <p:ph idx="1"/>
          </p:nvPr>
        </p:nvSpPr>
        <p:spPr/>
        <p:txBody>
          <a:bodyPr/>
          <a:lstStyle/>
          <a:p>
            <a:r>
              <a:rPr lang="en-US" dirty="0"/>
              <a:t>Query optimization is the process of improving SQL queries in:</a:t>
            </a:r>
          </a:p>
          <a:p>
            <a:pPr marL="887412" lvl="1" indent="-342900"/>
            <a:r>
              <a:rPr lang="en-US" b="1" dirty="0"/>
              <a:t>Better performance</a:t>
            </a:r>
          </a:p>
          <a:p>
            <a:pPr marL="887412" lvl="1" indent="-342900"/>
            <a:r>
              <a:rPr lang="en-US" b="1" dirty="0"/>
              <a:t>Lower execution time</a:t>
            </a:r>
          </a:p>
          <a:p>
            <a:pPr marL="887412" lvl="1" indent="-342900"/>
            <a:r>
              <a:rPr lang="en-US" b="1" dirty="0"/>
              <a:t>Reduced resource usage</a:t>
            </a:r>
            <a:r>
              <a:rPr lang="en-US" dirty="0"/>
              <a:t> (CPU, memory, and I/O).</a:t>
            </a:r>
          </a:p>
          <a:p>
            <a:r>
              <a:rPr lang="en-US" dirty="0"/>
              <a:t>SQL performance tuning can be an incredibly </a:t>
            </a:r>
            <a:r>
              <a:rPr lang="en-US" dirty="0">
                <a:solidFill>
                  <a:srgbClr val="C00000"/>
                </a:solidFill>
              </a:rPr>
              <a:t>challenging task</a:t>
            </a:r>
            <a:r>
              <a:rPr lang="en-US" dirty="0"/>
              <a:t>, especially </a:t>
            </a:r>
            <a:r>
              <a:rPr lang="en-US" dirty="0">
                <a:solidFill>
                  <a:srgbClr val="C00000"/>
                </a:solidFill>
              </a:rPr>
              <a:t>when working with large-scale data </a:t>
            </a:r>
            <a:r>
              <a:rPr lang="en-US" dirty="0"/>
              <a:t>where even </a:t>
            </a:r>
            <a:r>
              <a:rPr lang="en-US" dirty="0">
                <a:solidFill>
                  <a:srgbClr val="C00000"/>
                </a:solidFill>
              </a:rPr>
              <a:t>the smallest change can have a dramatic performance effect, positively or negatively</a:t>
            </a:r>
            <a:r>
              <a:rPr lang="en-US" dirty="0"/>
              <a:t>. </a:t>
            </a:r>
          </a:p>
        </p:txBody>
      </p:sp>
    </p:spTree>
    <p:extLst>
      <p:ext uri="{BB962C8B-B14F-4D97-AF65-F5344CB8AC3E}">
        <p14:creationId xmlns:p14="http://schemas.microsoft.com/office/powerpoint/2010/main" val="150340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 Use of Varchar instead of Char Data Type</a:t>
            </a:r>
          </a:p>
        </p:txBody>
      </p:sp>
      <p:sp>
        <p:nvSpPr>
          <p:cNvPr id="3" name="Content Placeholder 2"/>
          <p:cNvSpPr>
            <a:spLocks noGrp="1"/>
          </p:cNvSpPr>
          <p:nvPr>
            <p:ph idx="1"/>
          </p:nvPr>
        </p:nvSpPr>
        <p:spPr/>
        <p:txBody>
          <a:bodyPr/>
          <a:lstStyle/>
          <a:p>
            <a:r>
              <a:rPr lang="en-US" b="1" dirty="0">
                <a:solidFill>
                  <a:schemeClr val="tx2"/>
                </a:solidFill>
              </a:rPr>
              <a:t>CHAR(n):</a:t>
            </a:r>
            <a:r>
              <a:rPr lang="en-US" dirty="0"/>
              <a:t> Fixed-length, always takes n bytes (pads spaces if shorter). </a:t>
            </a:r>
          </a:p>
          <a:p>
            <a:pPr lvl="1"/>
            <a:r>
              <a:rPr lang="en-US" dirty="0"/>
              <a:t>Example: CHAR(100) takes 100 bytes even if storing 1 character.</a:t>
            </a:r>
          </a:p>
          <a:p>
            <a:r>
              <a:rPr lang="en-US" b="1" dirty="0">
                <a:solidFill>
                  <a:schemeClr val="tx2"/>
                </a:solidFill>
              </a:rPr>
              <a:t>VARCHAR(n)</a:t>
            </a:r>
            <a:r>
              <a:rPr lang="en-US" dirty="0"/>
              <a:t>: Variable-length, stores only actual data length + 2 bytes overhead. </a:t>
            </a:r>
          </a:p>
          <a:p>
            <a:pPr lvl="1"/>
            <a:r>
              <a:rPr lang="en-US" dirty="0"/>
              <a:t>Example: VARCHAR(100) takes 1 byte for a single character.</a:t>
            </a:r>
          </a:p>
          <a:p>
            <a:r>
              <a:rPr lang="en-US" b="1" dirty="0"/>
              <a:t>Memory Efficiency </a:t>
            </a:r>
            <a:r>
              <a:rPr lang="en-US" dirty="0"/>
              <a:t>→ VARCHAR is more efficient than CHAR as it avoids unnecessary padding.</a:t>
            </a:r>
          </a:p>
          <a:p>
            <a:r>
              <a:rPr lang="en-US" b="1" dirty="0"/>
              <a:t>Usage</a:t>
            </a:r>
            <a:r>
              <a:rPr lang="en-US" dirty="0"/>
              <a:t> → Use CHAR only for fixed-length data (e.g., country codes, PAN number), VARCHAR for variable-length data (e.g., names, descriptions).</a:t>
            </a:r>
          </a:p>
        </p:txBody>
      </p:sp>
    </p:spTree>
    <p:extLst>
      <p:ext uri="{BB962C8B-B14F-4D97-AF65-F5344CB8AC3E}">
        <p14:creationId xmlns:p14="http://schemas.microsoft.com/office/powerpoint/2010/main" val="96112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2. SELECT fields, rather than using SELECT *</a:t>
            </a:r>
          </a:p>
        </p:txBody>
      </p:sp>
      <p:sp>
        <p:nvSpPr>
          <p:cNvPr id="3" name="Content Placeholder 2"/>
          <p:cNvSpPr>
            <a:spLocks noGrp="1"/>
          </p:cNvSpPr>
          <p:nvPr>
            <p:ph idx="1"/>
          </p:nvPr>
        </p:nvSpPr>
        <p:spPr/>
        <p:txBody>
          <a:bodyPr/>
          <a:lstStyle/>
          <a:p>
            <a:r>
              <a:rPr lang="en-US" dirty="0"/>
              <a:t>Use the SELECT statement optimally, instead of always fetching all data from the table. </a:t>
            </a:r>
          </a:p>
          <a:p>
            <a:r>
              <a:rPr lang="en-US" dirty="0"/>
              <a:t>Fetch only the necessary data from the table, thereby avoiding the costs of transferring unwanted data and processing it.</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a:t>
            </a: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CustName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Phone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C_Address</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CompanyZip</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a:t>
            </a:r>
          </a:p>
          <a:p>
            <a:pPr lvl="1"/>
            <a:r>
              <a:rPr lang="en-US" dirty="0"/>
              <a:t>This query is much simpler, and only pulls the required details from the business table.</a:t>
            </a:r>
          </a:p>
        </p:txBody>
      </p:sp>
    </p:spTree>
    <p:extLst>
      <p:ext uri="{BB962C8B-B14F-4D97-AF65-F5344CB8AC3E}">
        <p14:creationId xmlns:p14="http://schemas.microsoft.com/office/powerpoint/2010/main" val="24841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 Avoid DISTINCT in SELECT query</a:t>
            </a:r>
          </a:p>
        </p:txBody>
      </p:sp>
      <p:sp>
        <p:nvSpPr>
          <p:cNvPr id="3" name="Content Placeholder 2"/>
          <p:cNvSpPr>
            <a:spLocks noGrp="1"/>
          </p:cNvSpPr>
          <p:nvPr>
            <p:ph idx="1"/>
          </p:nvPr>
        </p:nvSpPr>
        <p:spPr/>
        <p:txBody>
          <a:bodyPr/>
          <a:lstStyle/>
          <a:p>
            <a:r>
              <a:rPr lang="en-US" dirty="0"/>
              <a:t>SELECT </a:t>
            </a:r>
            <a:r>
              <a:rPr lang="en-US" b="1" dirty="0"/>
              <a:t>DISTINCT</a:t>
            </a:r>
            <a:r>
              <a:rPr lang="en-US" dirty="0"/>
              <a:t> is a simple way of removing duplicates from a database.</a:t>
            </a:r>
          </a:p>
          <a:p>
            <a:r>
              <a:rPr lang="en-US" dirty="0"/>
              <a:t>SELECT </a:t>
            </a:r>
            <a:r>
              <a:rPr lang="en-US" b="1" dirty="0"/>
              <a:t>DISTINCT</a:t>
            </a:r>
            <a:r>
              <a:rPr lang="en-US" dirty="0"/>
              <a:t> works to generate distinct outcomes by using the </a:t>
            </a:r>
            <a:r>
              <a:rPr lang="en-US" b="1" dirty="0"/>
              <a:t>GROUP BY </a:t>
            </a:r>
            <a:r>
              <a:rPr lang="en-US" dirty="0"/>
              <a:t>clause, which groups all the fields in the query.</a:t>
            </a:r>
          </a:p>
          <a:p>
            <a:r>
              <a:rPr lang="en-US" dirty="0"/>
              <a:t>However, a large amount of processing power is required to do this. So, avoid DISTINCT in SELECT queries if not required.</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DISTINCT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Country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Customers</a:t>
            </a:r>
          </a:p>
          <a:p>
            <a:pPr lvl="1"/>
            <a:r>
              <a:rPr lang="en-US" dirty="0">
                <a:solidFill>
                  <a:schemeClr val="accent6"/>
                </a:solidFill>
              </a:rPr>
              <a:t>Multiple people in the same country might have the same first and last name.</a:t>
            </a:r>
            <a:endParaRPr lang="en-US" dirty="0">
              <a:solidFill>
                <a:schemeClr val="accent6"/>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Country</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State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City</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Zip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Customers</a:t>
            </a:r>
          </a:p>
          <a:p>
            <a:pPr lvl="1"/>
            <a:r>
              <a:rPr lang="en-US" dirty="0"/>
              <a:t>Unduplicated records are returned without using SELECT DISTINCT by adding more fields.</a:t>
            </a:r>
          </a:p>
          <a:p>
            <a:endParaRPr lang="en-US" dirty="0"/>
          </a:p>
        </p:txBody>
      </p:sp>
    </p:spTree>
    <p:extLst>
      <p:ext uri="{BB962C8B-B14F-4D97-AF65-F5344CB8AC3E}">
        <p14:creationId xmlns:p14="http://schemas.microsoft.com/office/powerpoint/2010/main" val="61261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Be aware of NULL in your results</a:t>
            </a:r>
          </a:p>
        </p:txBody>
      </p:sp>
      <p:sp>
        <p:nvSpPr>
          <p:cNvPr id="3" name="Content Placeholder 2"/>
          <p:cNvSpPr>
            <a:spLocks noGrp="1"/>
          </p:cNvSpPr>
          <p:nvPr>
            <p:ph idx="1"/>
          </p:nvPr>
        </p:nvSpPr>
        <p:spPr/>
        <p:txBody>
          <a:bodyPr/>
          <a:lstStyle/>
          <a:p>
            <a:r>
              <a:rPr lang="en-US" dirty="0"/>
              <a:t>A field with a </a:t>
            </a:r>
            <a:r>
              <a:rPr lang="en-US" dirty="0">
                <a:solidFill>
                  <a:srgbClr val="C00000"/>
                </a:solidFill>
              </a:rPr>
              <a:t>NULL value is a field with no value</a:t>
            </a:r>
            <a:r>
              <a:rPr lang="en-US" dirty="0"/>
              <a:t>. </a:t>
            </a:r>
          </a:p>
          <a:p>
            <a:r>
              <a:rPr lang="en-US" dirty="0"/>
              <a:t>If a field in a table is optional, it is possible to insert a new record or update a record without adding a value to this field.</a:t>
            </a:r>
          </a:p>
          <a:p>
            <a:r>
              <a:rPr lang="en-US" dirty="0"/>
              <a:t>Then, the field will be saved with a NULL value.</a:t>
            </a:r>
          </a:p>
          <a:p>
            <a:r>
              <a:rPr lang="en-US" b="1" i="1" dirty="0"/>
              <a:t>Note</a:t>
            </a:r>
            <a:r>
              <a:rPr lang="en-US" dirty="0"/>
              <a:t>: </a:t>
            </a:r>
            <a:r>
              <a:rPr lang="en-US" dirty="0">
                <a:solidFill>
                  <a:srgbClr val="C00000"/>
                </a:solidFill>
              </a:rPr>
              <a:t>A NULL value is different from a zero value or a field that contains spaces</a:t>
            </a:r>
            <a:r>
              <a:rPr lang="en-US" dirty="0"/>
              <a:t>.</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1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NULL</a:t>
            </a:r>
          </a:p>
          <a:p>
            <a:pPr lvl="1"/>
            <a:r>
              <a:rPr lang="en-US" dirty="0"/>
              <a:t>Answer will be NULL, but in real world this is wrong because many columns with having null values and when you do any operation on it then result will be null</a:t>
            </a:r>
            <a:r>
              <a:rPr lang="en-US" dirty="0">
                <a:solidFill>
                  <a:schemeClr val="accent6"/>
                </a:solidFill>
              </a:rPr>
              <a:t>.</a:t>
            </a:r>
            <a:endParaRPr lang="en-US" dirty="0">
              <a:solidFill>
                <a:schemeClr val="accent6"/>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1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ISNULL</a:t>
            </a:r>
            <a:r>
              <a:rPr lang="en-US" dirty="0">
                <a:solidFill>
                  <a:srgbClr val="808080"/>
                </a:solidFill>
                <a:latin typeface="Consolas" panose="020B0609020204030204" pitchFamily="49" charset="0"/>
              </a:rPr>
              <a:t>(NULL,</a:t>
            </a:r>
            <a:r>
              <a:rPr lang="en-US" dirty="0">
                <a:solidFill>
                  <a:srgbClr val="000000"/>
                </a:solidFill>
                <a:latin typeface="Consolas" panose="020B0609020204030204" pitchFamily="49" charset="0"/>
              </a:rPr>
              <a:t>0</a:t>
            </a:r>
            <a:r>
              <a:rPr lang="en-US" dirty="0">
                <a:solidFill>
                  <a:srgbClr val="808080"/>
                </a:solidFill>
                <a:latin typeface="Consolas" panose="020B0609020204030204" pitchFamily="49" charset="0"/>
              </a:rPr>
              <a:t>)</a:t>
            </a:r>
          </a:p>
          <a:p>
            <a:pPr lvl="1"/>
            <a:r>
              <a:rPr lang="en-US" dirty="0"/>
              <a:t>Answer will be 1. Replaces NULL with the specified value.</a:t>
            </a:r>
          </a:p>
          <a:p>
            <a:endParaRPr lang="en-US" dirty="0"/>
          </a:p>
        </p:txBody>
      </p:sp>
    </p:spTree>
    <p:extLst>
      <p:ext uri="{BB962C8B-B14F-4D97-AF65-F5344CB8AC3E}">
        <p14:creationId xmlns:p14="http://schemas.microsoft.com/office/powerpoint/2010/main" val="198109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Do not include column numbers in ORDER BY</a:t>
            </a:r>
          </a:p>
        </p:txBody>
      </p:sp>
      <p:sp>
        <p:nvSpPr>
          <p:cNvPr id="3" name="Content Placeholder 2"/>
          <p:cNvSpPr>
            <a:spLocks noGrp="1"/>
          </p:cNvSpPr>
          <p:nvPr>
            <p:ph idx="1"/>
          </p:nvPr>
        </p:nvSpPr>
        <p:spPr/>
        <p:txBody>
          <a:bodyPr/>
          <a:lstStyle/>
          <a:p>
            <a:r>
              <a:rPr lang="en-US" dirty="0"/>
              <a:t>The main purpose of using this is for usability and scalability and not just performance. </a:t>
            </a:r>
          </a:p>
          <a:p>
            <a:r>
              <a:rPr lang="en-US" dirty="0"/>
              <a:t>When you use </a:t>
            </a:r>
            <a:r>
              <a:rPr lang="en-US" dirty="0" err="1"/>
              <a:t>ColumnNumber</a:t>
            </a:r>
            <a:r>
              <a:rPr lang="en-US" dirty="0"/>
              <a:t>, then the results will be unpredictable and wrong in terms of ORDER BY.</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StateCode</a:t>
            </a:r>
            <a:r>
              <a:rPr lang="en-US" dirty="0">
                <a:solidFill>
                  <a:srgbClr val="000000"/>
                </a:solidFill>
                <a:latin typeface="Consolas" panose="020B0609020204030204" pitchFamily="49" charset="0"/>
              </a:rPr>
              <a:t>, Remarks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State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1</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2</a:t>
            </a:r>
          </a:p>
          <a:p>
            <a:pPr lvl="1"/>
            <a:r>
              <a:rPr lang="en-US" dirty="0"/>
              <a:t>This will perform order by with column sequence of your table.</a:t>
            </a:r>
            <a:endParaRPr lang="en-US" dirty="0">
              <a:solidFill>
                <a:schemeClr val="accent6"/>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Clr>
                <a:srgbClr val="1D6FA9"/>
              </a:buClr>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StateCode</a:t>
            </a:r>
            <a:r>
              <a:rPr lang="en-US" dirty="0">
                <a:solidFill>
                  <a:srgbClr val="000000"/>
                </a:solidFill>
                <a:latin typeface="Consolas" panose="020B0609020204030204" pitchFamily="49" charset="0"/>
              </a:rPr>
              <a:t>, Remarks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State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StateCode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StateName</a:t>
            </a:r>
            <a:endParaRPr lang="en-US" dirty="0">
              <a:solidFill>
                <a:srgbClr val="000000"/>
              </a:solidFill>
              <a:latin typeface="Consolas" panose="020B0609020204030204" pitchFamily="49" charset="0"/>
            </a:endParaRPr>
          </a:p>
          <a:p>
            <a:pPr lvl="1"/>
            <a:r>
              <a:rPr lang="en-US" dirty="0"/>
              <a:t>Always write column names in order by instead of numbers.</a:t>
            </a:r>
          </a:p>
          <a:p>
            <a:endParaRPr lang="en-US" dirty="0"/>
          </a:p>
          <a:p>
            <a:endParaRPr lang="en-US" dirty="0"/>
          </a:p>
        </p:txBody>
      </p:sp>
    </p:spTree>
    <p:extLst>
      <p:ext uri="{BB962C8B-B14F-4D97-AF65-F5344CB8AC3E}">
        <p14:creationId xmlns:p14="http://schemas.microsoft.com/office/powerpoint/2010/main" val="251645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Prefix for stored procedures should not that starts with “</a:t>
            </a:r>
            <a:r>
              <a:rPr lang="en-US" dirty="0" err="1"/>
              <a:t>sp</a:t>
            </a:r>
            <a:r>
              <a:rPr lang="en-US" dirty="0"/>
              <a:t>_”</a:t>
            </a:r>
          </a:p>
        </p:txBody>
      </p:sp>
      <p:sp>
        <p:nvSpPr>
          <p:cNvPr id="3" name="Content Placeholder 2"/>
          <p:cNvSpPr>
            <a:spLocks noGrp="1"/>
          </p:cNvSpPr>
          <p:nvPr>
            <p:ph idx="1"/>
          </p:nvPr>
        </p:nvSpPr>
        <p:spPr/>
        <p:txBody>
          <a:bodyPr/>
          <a:lstStyle/>
          <a:p>
            <a:r>
              <a:rPr lang="en-US" dirty="0"/>
              <a:t>Do not use a prefix for stored procedures that starts with “</a:t>
            </a:r>
            <a:r>
              <a:rPr lang="en-US" dirty="0" err="1"/>
              <a:t>sp</a:t>
            </a:r>
            <a:r>
              <a:rPr lang="en-US" dirty="0"/>
              <a:t>_”.</a:t>
            </a:r>
          </a:p>
          <a:p>
            <a:r>
              <a:rPr lang="en-US" dirty="0"/>
              <a:t>Reason: </a:t>
            </a:r>
            <a:r>
              <a:rPr lang="en-US" dirty="0" err="1">
                <a:solidFill>
                  <a:schemeClr val="tx2"/>
                </a:solidFill>
              </a:rPr>
              <a:t>sp</a:t>
            </a:r>
            <a:r>
              <a:rPr lang="en-US" dirty="0">
                <a:solidFill>
                  <a:schemeClr val="tx2"/>
                </a:solidFill>
              </a:rPr>
              <a:t>_</a:t>
            </a:r>
            <a:r>
              <a:rPr lang="en-US" dirty="0"/>
              <a:t> is reserved for system stored procedures in SQL Server</a:t>
            </a:r>
          </a:p>
          <a:p>
            <a:r>
              <a:rPr lang="en-US" dirty="0"/>
              <a:t>It is advised to follow a unique pattern to name procedures that can be differentiated easily.</a:t>
            </a:r>
          </a:p>
          <a:p>
            <a:r>
              <a:rPr lang="en-US" dirty="0"/>
              <a:t>It helps to avoid </a:t>
            </a:r>
            <a:r>
              <a:rPr lang="en-IN" b="1" dirty="0"/>
              <a:t>Performance issue</a:t>
            </a:r>
            <a:r>
              <a:rPr lang="en-IN" dirty="0"/>
              <a:t> and </a:t>
            </a:r>
            <a:r>
              <a:rPr lang="en-IN" b="1" dirty="0"/>
              <a:t>Naming conflicts</a:t>
            </a:r>
            <a:endParaRPr lang="en-US" b="1" dirty="0"/>
          </a:p>
          <a:p>
            <a:r>
              <a:rPr lang="en-US" dirty="0"/>
              <a:t>Because system procedures also starts with “</a:t>
            </a:r>
            <a:r>
              <a:rPr lang="en-US" dirty="0" err="1"/>
              <a:t>sp</a:t>
            </a:r>
            <a:r>
              <a:rPr lang="en-US" dirty="0"/>
              <a:t>_” like </a:t>
            </a:r>
            <a:r>
              <a:rPr lang="en-US" dirty="0" err="1">
                <a:solidFill>
                  <a:srgbClr val="800000"/>
                </a:solidFill>
                <a:latin typeface="Consolas" panose="020B0609020204030204" pitchFamily="49" charset="0"/>
              </a:rPr>
              <a:t>sp_helptext</a:t>
            </a:r>
            <a:r>
              <a:rPr lang="en-US" dirty="0">
                <a:solidFill>
                  <a:srgbClr val="800000"/>
                </a:solidFill>
                <a:latin typeface="Consolas" panose="020B0609020204030204" pitchFamily="49" charset="0"/>
              </a:rPr>
              <a:t>, </a:t>
            </a:r>
            <a:r>
              <a:rPr lang="en-US" dirty="0" err="1">
                <a:solidFill>
                  <a:srgbClr val="800000"/>
                </a:solidFill>
                <a:latin typeface="Consolas" panose="020B0609020204030204" pitchFamily="49" charset="0"/>
              </a:rPr>
              <a:t>sp_helpindex</a:t>
            </a:r>
            <a:r>
              <a:rPr lang="en-US" dirty="0">
                <a:solidFill>
                  <a:srgbClr val="800000"/>
                </a:solidFill>
                <a:latin typeface="Consolas" panose="020B0609020204030204" pitchFamily="49" charset="0"/>
              </a:rPr>
              <a:t> </a:t>
            </a:r>
            <a:r>
              <a:rPr lang="en-US" dirty="0"/>
              <a:t>etc.</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Create Procedure </a:t>
            </a:r>
            <a:r>
              <a:rPr lang="en-US" dirty="0" err="1">
                <a:solidFill>
                  <a:srgbClr val="000000"/>
                </a:solidFill>
                <a:latin typeface="Consolas" panose="020B0609020204030204" pitchFamily="49" charset="0"/>
              </a:rPr>
              <a:t>sp_tblState_insert</a:t>
            </a:r>
            <a:endParaRPr lang="en-US" dirty="0">
              <a:solidFill>
                <a:srgbClr val="000000"/>
              </a:solidFill>
              <a:latin typeface="Consolas" panose="020B0609020204030204" pitchFamily="49" charset="0"/>
            </a:endParaRPr>
          </a:p>
          <a:p>
            <a:pPr marL="457200" lvl="1" indent="0">
              <a:buNone/>
            </a:pPr>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Create Procedure </a:t>
            </a:r>
            <a:r>
              <a:rPr lang="en-US" dirty="0" err="1">
                <a:solidFill>
                  <a:srgbClr val="000000"/>
                </a:solidFill>
                <a:latin typeface="Consolas" panose="020B0609020204030204" pitchFamily="49" charset="0"/>
              </a:rPr>
              <a:t>PR_LOC_State_Insert</a:t>
            </a:r>
            <a:endParaRPr lang="en-US" dirty="0">
              <a:solidFill>
                <a:srgbClr val="000000"/>
              </a:solidFill>
              <a:latin typeface="Consolas" panose="020B0609020204030204" pitchFamily="49" charset="0"/>
            </a:endParaRPr>
          </a:p>
          <a:p>
            <a:pPr marL="457200" lvl="1" indent="0">
              <a:buNone/>
            </a:pPr>
            <a:r>
              <a:rPr lang="en-US" dirty="0">
                <a:solidFill>
                  <a:srgbClr val="0000FF"/>
                </a:solidFill>
                <a:latin typeface="Consolas" panose="020B0609020204030204" pitchFamily="49" charset="0"/>
              </a:rPr>
              <a:t>Create Procedure </a:t>
            </a:r>
            <a:r>
              <a:rPr lang="en-US" dirty="0" err="1">
                <a:solidFill>
                  <a:srgbClr val="000000"/>
                </a:solidFill>
                <a:latin typeface="Consolas" panose="020B0609020204030204" pitchFamily="49" charset="0"/>
              </a:rPr>
              <a:t>PR_LOC_State_SelectForAll</a:t>
            </a:r>
            <a:endParaRPr lang="en-US" dirty="0">
              <a:solidFill>
                <a:srgbClr val="000000"/>
              </a:solidFill>
              <a:latin typeface="Consolas" panose="020B0609020204030204" pitchFamily="49" charset="0"/>
            </a:endParaRPr>
          </a:p>
          <a:p>
            <a:pPr marL="457200" lvl="1" indent="0">
              <a:buNone/>
            </a:pPr>
            <a:r>
              <a:rPr lang="en-US" dirty="0">
                <a:solidFill>
                  <a:srgbClr val="0000FF"/>
                </a:solidFill>
                <a:latin typeface="Consolas" panose="020B0609020204030204" pitchFamily="49" charset="0"/>
              </a:rPr>
              <a:t>Create Procedure </a:t>
            </a:r>
            <a:r>
              <a:rPr lang="en-US" dirty="0" err="1">
                <a:solidFill>
                  <a:srgbClr val="000000"/>
                </a:solidFill>
                <a:latin typeface="Consolas" panose="020B0609020204030204" pitchFamily="49" charset="0"/>
              </a:rPr>
              <a:t>PR_LOC_State_Delete</a:t>
            </a:r>
            <a:endParaRPr lang="en-US" dirty="0">
              <a:solidFill>
                <a:srgbClr val="000000"/>
              </a:solidFill>
              <a:latin typeface="Consolas" panose="020B0609020204030204" pitchFamily="49" charset="0"/>
            </a:endParaRPr>
          </a:p>
          <a:p>
            <a:endParaRPr lang="en-US" dirty="0"/>
          </a:p>
          <a:p>
            <a:endParaRPr lang="en-US" dirty="0"/>
          </a:p>
        </p:txBody>
      </p:sp>
    </p:spTree>
    <p:extLst>
      <p:ext uri="{BB962C8B-B14F-4D97-AF65-F5344CB8AC3E}">
        <p14:creationId xmlns:p14="http://schemas.microsoft.com/office/powerpoint/2010/main" val="191333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Indexing</a:t>
            </a:r>
          </a:p>
        </p:txBody>
      </p:sp>
      <p:sp>
        <p:nvSpPr>
          <p:cNvPr id="3" name="Content Placeholder 2"/>
          <p:cNvSpPr>
            <a:spLocks noGrp="1"/>
          </p:cNvSpPr>
          <p:nvPr>
            <p:ph idx="1"/>
          </p:nvPr>
        </p:nvSpPr>
        <p:spPr/>
        <p:txBody>
          <a:bodyPr/>
          <a:lstStyle/>
          <a:p>
            <a:r>
              <a:rPr lang="en-US" dirty="0">
                <a:solidFill>
                  <a:srgbClr val="C00000"/>
                </a:solidFill>
              </a:rPr>
              <a:t>Boosts Query Performance </a:t>
            </a:r>
            <a:r>
              <a:rPr lang="en-US" dirty="0"/>
              <a:t>→ Indexes help retrieve data faster by optimizing query execution.</a:t>
            </a:r>
          </a:p>
          <a:p>
            <a:r>
              <a:rPr lang="en-US" dirty="0"/>
              <a:t>Types of Indexes: </a:t>
            </a:r>
          </a:p>
          <a:p>
            <a:pPr lvl="1"/>
            <a:r>
              <a:rPr lang="en-US" dirty="0">
                <a:solidFill>
                  <a:schemeClr val="tx2"/>
                </a:solidFill>
              </a:rPr>
              <a:t>Clustered Index </a:t>
            </a:r>
            <a:r>
              <a:rPr lang="en-US" dirty="0"/>
              <a:t>→ Data is stored physically in order, no extra disk space needed.</a:t>
            </a:r>
          </a:p>
          <a:p>
            <a:pPr lvl="1"/>
            <a:r>
              <a:rPr lang="en-US" dirty="0">
                <a:solidFill>
                  <a:schemeClr val="tx2"/>
                </a:solidFill>
              </a:rPr>
              <a:t>Non-Clustered Index </a:t>
            </a:r>
            <a:r>
              <a:rPr lang="en-US" dirty="0"/>
              <a:t>→ Stored separately from the table, requires additional disk space.</a:t>
            </a:r>
          </a:p>
          <a:p>
            <a:r>
              <a:rPr lang="en-US" dirty="0">
                <a:solidFill>
                  <a:srgbClr val="C00000"/>
                </a:solidFill>
              </a:rPr>
              <a:t>Reduces Query Execution Time </a:t>
            </a:r>
            <a:r>
              <a:rPr lang="en-US" dirty="0"/>
              <a:t>→ Optimizes frequently used queries.</a:t>
            </a:r>
          </a:p>
          <a:p>
            <a:r>
              <a:rPr lang="en-US" dirty="0">
                <a:solidFill>
                  <a:srgbClr val="C00000"/>
                </a:solidFill>
              </a:rPr>
              <a:t>Disk Space Consideration </a:t>
            </a:r>
            <a:r>
              <a:rPr lang="en-US" dirty="0"/>
              <a:t>→ </a:t>
            </a:r>
            <a:r>
              <a:rPr lang="en-US" b="1" dirty="0"/>
              <a:t>More indexes = More disk usage</a:t>
            </a:r>
            <a:r>
              <a:rPr lang="en-US" dirty="0"/>
              <a:t>. (a clustered index requires no additional disk space, but any non-clustered index needs additional disk space as it is stored separately from the list)</a:t>
            </a:r>
          </a:p>
          <a:p>
            <a:r>
              <a:rPr lang="en-US" dirty="0">
                <a:solidFill>
                  <a:srgbClr val="C00000"/>
                </a:solidFill>
              </a:rPr>
              <a:t>Execution Plan Suggests Missing Indexes</a:t>
            </a:r>
            <a:r>
              <a:rPr lang="en-US" dirty="0"/>
              <a:t> → SQL Server’s optimizer recommends indexes if it detects a potential improvement.</a:t>
            </a:r>
          </a:p>
        </p:txBody>
      </p:sp>
    </p:spTree>
    <p:extLst>
      <p:ext uri="{BB962C8B-B14F-4D97-AF65-F5344CB8AC3E}">
        <p14:creationId xmlns:p14="http://schemas.microsoft.com/office/powerpoint/2010/main" val="1216638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 To check the existence of records, use EXISTS() rather than COUNT()</a:t>
            </a:r>
          </a:p>
        </p:txBody>
      </p:sp>
      <p:sp>
        <p:nvSpPr>
          <p:cNvPr id="3" name="Content Placeholder 2"/>
          <p:cNvSpPr>
            <a:spLocks noGrp="1"/>
          </p:cNvSpPr>
          <p:nvPr>
            <p:ph idx="1"/>
          </p:nvPr>
        </p:nvSpPr>
        <p:spPr/>
        <p:txBody>
          <a:bodyPr/>
          <a:lstStyle/>
          <a:p>
            <a:r>
              <a:rPr lang="en-US" dirty="0"/>
              <a:t>Both </a:t>
            </a:r>
            <a:r>
              <a:rPr lang="en-US" b="1" dirty="0"/>
              <a:t>EXISTS()</a:t>
            </a:r>
            <a:r>
              <a:rPr lang="en-US" dirty="0"/>
              <a:t> and </a:t>
            </a:r>
            <a:r>
              <a:rPr lang="en-US" b="1" dirty="0"/>
              <a:t>COUNT()</a:t>
            </a:r>
            <a:r>
              <a:rPr lang="en-US" dirty="0"/>
              <a:t> methods can be used to check the existence of a record entry in the table.</a:t>
            </a:r>
          </a:p>
          <a:p>
            <a:r>
              <a:rPr lang="en-US" dirty="0"/>
              <a:t>The </a:t>
            </a:r>
            <a:r>
              <a:rPr lang="en-US" dirty="0">
                <a:solidFill>
                  <a:srgbClr val="C00000"/>
                </a:solidFill>
              </a:rPr>
              <a:t>COUNT() </a:t>
            </a:r>
            <a:r>
              <a:rPr lang="en-US" dirty="0"/>
              <a:t>method would </a:t>
            </a:r>
            <a:r>
              <a:rPr lang="en-US" dirty="0">
                <a:solidFill>
                  <a:srgbClr val="C00000"/>
                </a:solidFill>
              </a:rPr>
              <a:t>scan the entire table to return the number of records in the table </a:t>
            </a:r>
            <a:r>
              <a:rPr lang="en-US" dirty="0"/>
              <a:t>that match the provided constraint.</a:t>
            </a:r>
          </a:p>
          <a:p>
            <a:r>
              <a:rPr lang="en-US" dirty="0"/>
              <a:t>The </a:t>
            </a:r>
            <a:r>
              <a:rPr lang="en-US" dirty="0">
                <a:solidFill>
                  <a:srgbClr val="C00000"/>
                </a:solidFill>
              </a:rPr>
              <a:t>EXISTS() </a:t>
            </a:r>
            <a:r>
              <a:rPr lang="en-US" dirty="0"/>
              <a:t>method </a:t>
            </a:r>
            <a:r>
              <a:rPr lang="en-US" dirty="0">
                <a:solidFill>
                  <a:srgbClr val="C00000"/>
                </a:solidFill>
              </a:rPr>
              <a:t>is more effective as it exits processing as soon as it finds the first entry </a:t>
            </a:r>
            <a:r>
              <a:rPr lang="en-US" dirty="0"/>
              <a:t>of the record in the table. </a:t>
            </a:r>
          </a:p>
          <a:p>
            <a:r>
              <a:rPr lang="en-US" b="1" dirty="0">
                <a:solidFill>
                  <a:srgbClr val="FF0000"/>
                </a:solidFill>
              </a:rPr>
              <a:t>Inefficient</a:t>
            </a:r>
          </a:p>
          <a:p>
            <a:pPr marL="457200" lvl="1" indent="0" algn="l">
              <a:buNone/>
            </a:pPr>
            <a:r>
              <a:rPr lang="en-US" dirty="0">
                <a:solidFill>
                  <a:srgbClr val="0000FF"/>
                </a:solidFill>
                <a:latin typeface="Consolas" panose="020B0609020204030204" pitchFamily="49" charset="0"/>
              </a:rPr>
              <a:t>IF </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COUNT</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CountryID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Country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CountryName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like</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'in%'</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&gt;</a:t>
            </a:r>
            <a:r>
              <a:rPr lang="en-US" dirty="0">
                <a:solidFill>
                  <a:srgbClr val="000000"/>
                </a:solidFill>
                <a:latin typeface="Consolas" panose="020B0609020204030204" pitchFamily="49" charset="0"/>
              </a:rPr>
              <a:t> 0</a:t>
            </a:r>
          </a:p>
          <a:p>
            <a:pPr marL="457200" lvl="1" indent="0" algn="l">
              <a:buNone/>
            </a:pPr>
            <a:r>
              <a:rPr lang="en-US" dirty="0">
                <a:solidFill>
                  <a:srgbClr val="0000FF"/>
                </a:solidFill>
                <a:latin typeface="Consolas" panose="020B0609020204030204" pitchFamily="49" charset="0"/>
              </a:rPr>
              <a:t>PRINT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'Yes'</a:t>
            </a:r>
          </a:p>
          <a:p>
            <a:pPr marL="457200" lvl="1" indent="0" algn="l">
              <a:buNone/>
            </a:pPr>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lgn="l">
              <a:buNone/>
            </a:pP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EXISTS</a:t>
            </a:r>
            <a:r>
              <a:rPr lang="en-US" dirty="0">
                <a:solidFill>
                  <a:srgbClr val="0000FF"/>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CountryID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Country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CountryName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like</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'in%'</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pPr marL="457200" lvl="1" indent="0" algn="l">
              <a:buNone/>
            </a:pPr>
            <a:r>
              <a:rPr lang="en-US" dirty="0">
                <a:solidFill>
                  <a:srgbClr val="0000FF"/>
                </a:solidFill>
                <a:latin typeface="Consolas" panose="020B0609020204030204" pitchFamily="49" charset="0"/>
              </a:rPr>
              <a:t>PRINT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'Yes'</a:t>
            </a:r>
            <a:endParaRPr lang="en-US" dirty="0"/>
          </a:p>
          <a:p>
            <a:endParaRPr lang="en-US" dirty="0"/>
          </a:p>
        </p:txBody>
      </p:sp>
    </p:spTree>
    <p:extLst>
      <p:ext uri="{BB962C8B-B14F-4D97-AF65-F5344CB8AC3E}">
        <p14:creationId xmlns:p14="http://schemas.microsoft.com/office/powerpoint/2010/main" val="135600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9. Use WHERE instead of HAVING</a:t>
            </a:r>
          </a:p>
        </p:txBody>
      </p:sp>
      <p:sp>
        <p:nvSpPr>
          <p:cNvPr id="3" name="Content Placeholder 2"/>
          <p:cNvSpPr>
            <a:spLocks noGrp="1"/>
          </p:cNvSpPr>
          <p:nvPr>
            <p:ph idx="1"/>
          </p:nvPr>
        </p:nvSpPr>
        <p:spPr/>
        <p:txBody>
          <a:bodyPr/>
          <a:lstStyle/>
          <a:p>
            <a:r>
              <a:rPr lang="en-US" dirty="0"/>
              <a:t>The </a:t>
            </a:r>
            <a:r>
              <a:rPr lang="en-US" b="1" dirty="0"/>
              <a:t>HAVING</a:t>
            </a:r>
            <a:r>
              <a:rPr lang="en-US" dirty="0"/>
              <a:t> clause filters the rows </a:t>
            </a:r>
            <a:r>
              <a:rPr lang="en-US" dirty="0">
                <a:solidFill>
                  <a:srgbClr val="C00000"/>
                </a:solidFill>
              </a:rPr>
              <a:t>after all the rows are selected</a:t>
            </a:r>
            <a:r>
              <a:rPr lang="en-US" dirty="0"/>
              <a:t>. </a:t>
            </a:r>
          </a:p>
          <a:p>
            <a:r>
              <a:rPr lang="en-US" dirty="0"/>
              <a:t>It works just like a filter, do not apply the </a:t>
            </a:r>
            <a:r>
              <a:rPr lang="en-US" b="1" dirty="0"/>
              <a:t>HAVING</a:t>
            </a:r>
            <a:r>
              <a:rPr lang="en-US" dirty="0"/>
              <a:t> clause for any other purpose.</a:t>
            </a:r>
          </a:p>
          <a:p>
            <a:r>
              <a:rPr lang="en-US" dirty="0"/>
              <a:t>You should only </a:t>
            </a:r>
            <a:r>
              <a:rPr lang="en-US" dirty="0">
                <a:solidFill>
                  <a:srgbClr val="C00000"/>
                </a:solidFill>
              </a:rPr>
              <a:t>use HAVING when filtering aggregated values</a:t>
            </a:r>
            <a:r>
              <a:rPr lang="en-US" dirty="0"/>
              <a:t>.</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 b</a:t>
            </a:r>
          </a:p>
          <a:p>
            <a:pPr marL="457200" lvl="1" indent="0">
              <a:buNone/>
            </a:pPr>
            <a:r>
              <a:rPr lang="en-US" dirty="0">
                <a:solidFill>
                  <a:srgbClr val="808080"/>
                </a:solidFill>
                <a:latin typeface="Consolas" panose="020B0609020204030204" pitchFamily="49" charset="0"/>
              </a:rPr>
              <a:t>INNER JOIN</a:t>
            </a:r>
            <a:r>
              <a:rPr lang="en-US" dirty="0">
                <a:solidFill>
                  <a:srgbClr val="000000"/>
                </a:solidFill>
                <a:latin typeface="Consolas" panose="020B0609020204030204" pitchFamily="49" charset="0"/>
              </a:rPr>
              <a:t> Company c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p>
          <a:p>
            <a:pPr marL="457200" lvl="1" indent="0">
              <a:buNone/>
            </a:pPr>
            <a:r>
              <a:rPr lang="en-US" dirty="0">
                <a:solidFill>
                  <a:srgbClr val="0000FF"/>
                </a:solidFill>
                <a:latin typeface="Consolas" panose="020B0609020204030204" pitchFamily="49" charset="0"/>
              </a:rPr>
              <a:t>GROUP</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endParaRPr lang="en-US" dirty="0">
              <a:solidFill>
                <a:srgbClr val="000000"/>
              </a:solidFill>
              <a:latin typeface="Consolas" panose="020B0609020204030204" pitchFamily="49" charset="0"/>
            </a:endParaRPr>
          </a:p>
          <a:p>
            <a:pPr marL="457200" lvl="1" indent="0">
              <a:buNone/>
            </a:pPr>
            <a:r>
              <a:rPr lang="en-US" dirty="0">
                <a:solidFill>
                  <a:srgbClr val="0000FF"/>
                </a:solidFill>
                <a:latin typeface="Consolas" panose="020B0609020204030204" pitchFamily="49" charset="0"/>
              </a:rPr>
              <a:t>HAVING</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BETWEEN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'2020-01-01'</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AND</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'2020-12-31'</a:t>
            </a:r>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 b</a:t>
            </a:r>
          </a:p>
          <a:p>
            <a:pPr marL="457200" lvl="1" indent="0">
              <a:buNone/>
            </a:pPr>
            <a:r>
              <a:rPr lang="en-US" dirty="0">
                <a:solidFill>
                  <a:srgbClr val="808080"/>
                </a:solidFill>
                <a:latin typeface="Consolas" panose="020B0609020204030204" pitchFamily="49" charset="0"/>
              </a:rPr>
              <a:t>INNER JOIN</a:t>
            </a:r>
            <a:r>
              <a:rPr lang="en-US" dirty="0">
                <a:solidFill>
                  <a:srgbClr val="000000"/>
                </a:solidFill>
                <a:latin typeface="Consolas" panose="020B0609020204030204" pitchFamily="49" charset="0"/>
              </a:rPr>
              <a:t> Company c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p>
          <a:p>
            <a:pPr marL="457200" lvl="1" indent="0">
              <a:buNone/>
            </a:pP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BETWEEN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'2020-01-01'</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AND</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'2020-12-31'</a:t>
            </a:r>
            <a:endParaRPr lang="en-US" dirty="0">
              <a:solidFill>
                <a:srgbClr val="000000"/>
              </a:solidFill>
              <a:latin typeface="Consolas" panose="020B0609020204030204" pitchFamily="49" charset="0"/>
            </a:endParaRPr>
          </a:p>
          <a:p>
            <a:pPr marL="457200" lvl="1" indent="0">
              <a:buNone/>
            </a:pPr>
            <a:r>
              <a:rPr lang="en-US" dirty="0">
                <a:solidFill>
                  <a:srgbClr val="0000FF"/>
                </a:solidFill>
                <a:latin typeface="Consolas" panose="020B0609020204030204" pitchFamily="49" charset="0"/>
              </a:rPr>
              <a:t>GROUP</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endParaRPr lang="en-US" dirty="0"/>
          </a:p>
          <a:p>
            <a:endParaRPr lang="en-US" dirty="0"/>
          </a:p>
          <a:p>
            <a:endParaRPr lang="en-US" dirty="0"/>
          </a:p>
        </p:txBody>
      </p:sp>
    </p:spTree>
    <p:extLst>
      <p:ext uri="{BB962C8B-B14F-4D97-AF65-F5344CB8AC3E}">
        <p14:creationId xmlns:p14="http://schemas.microsoft.com/office/powerpoint/2010/main" val="780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10. Ignore linked sub queries</a:t>
            </a:r>
          </a:p>
        </p:txBody>
      </p:sp>
      <p:sp>
        <p:nvSpPr>
          <p:cNvPr id="3" name="Content Placeholder 2"/>
          <p:cNvSpPr>
            <a:spLocks noGrp="1"/>
          </p:cNvSpPr>
          <p:nvPr>
            <p:ph idx="1"/>
          </p:nvPr>
        </p:nvSpPr>
        <p:spPr/>
        <p:txBody>
          <a:bodyPr/>
          <a:lstStyle/>
          <a:p>
            <a:r>
              <a:rPr lang="en-US" dirty="0"/>
              <a:t>A linked </a:t>
            </a:r>
            <a:r>
              <a:rPr lang="en-US" dirty="0" err="1"/>
              <a:t>subquery</a:t>
            </a:r>
            <a:r>
              <a:rPr lang="en-US" dirty="0"/>
              <a:t> depends on the query from the parent or from an external source. </a:t>
            </a:r>
          </a:p>
          <a:p>
            <a:r>
              <a:rPr lang="en-US" dirty="0"/>
              <a:t>It runs row by row, so the average cycle speed is greatly affected.</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FF"/>
                </a:solidFill>
                <a:latin typeface="Consolas" panose="020B0609020204030204" pitchFamily="49" charset="0"/>
              </a:rPr>
              <a:t>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Phone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FF"/>
                </a:solidFill>
                <a:latin typeface="Consolas" panose="020B0609020204030204" pitchFamily="49" charset="0"/>
              </a:rPr>
              <a:t>Address</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Zip</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CompanyName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Company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ID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CompanyName</a:t>
            </a:r>
            <a:r>
              <a:rPr lang="en-US" dirty="0">
                <a:solidFill>
                  <a:srgbClr val="000000"/>
                </a:solidFill>
                <a:latin typeface="Consolas" panose="020B0609020204030204" pitchFamily="49" charset="0"/>
              </a:rPr>
              <a:t> </a:t>
            </a:r>
          </a:p>
          <a:p>
            <a:pPr marL="457200" lvl="1" indent="0">
              <a:buNone/>
            </a:pP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 b</a:t>
            </a:r>
          </a:p>
          <a:p>
            <a:pPr lvl="1"/>
            <a:r>
              <a:rPr lang="en-US" dirty="0"/>
              <a:t>For each row returned by the external query, the inner query is run every time. Alternatively, </a:t>
            </a:r>
            <a:r>
              <a:rPr lang="en-US" b="1" dirty="0"/>
              <a:t>JOIN</a:t>
            </a:r>
            <a:r>
              <a:rPr lang="en-US" dirty="0"/>
              <a:t> can be used to solve these problems for SQL database optimization.</a:t>
            </a: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544512"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FF"/>
                </a:solidFill>
                <a:latin typeface="Consolas" panose="020B0609020204030204" pitchFamily="49" charset="0"/>
              </a:rPr>
              <a:t>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Phone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FF"/>
                </a:solidFill>
                <a:latin typeface="Consolas" panose="020B0609020204030204" pitchFamily="49" charset="0"/>
              </a:rPr>
              <a:t>Address</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Zip</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000000"/>
                </a:solidFill>
                <a:latin typeface="Consolas" panose="020B0609020204030204" pitchFamily="49" charset="0"/>
              </a:rPr>
              <a:t> </a:t>
            </a:r>
          </a:p>
          <a:p>
            <a:pPr marL="544512" lvl="1" indent="0">
              <a:buNone/>
            </a:pP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 b</a:t>
            </a:r>
          </a:p>
          <a:p>
            <a:pPr marL="544512" lvl="1" indent="0">
              <a:buNone/>
            </a:pPr>
            <a:r>
              <a:rPr lang="en-US" dirty="0">
                <a:solidFill>
                  <a:srgbClr val="808080"/>
                </a:solidFill>
                <a:latin typeface="Consolas" panose="020B0609020204030204" pitchFamily="49" charset="0"/>
              </a:rPr>
              <a:t>Inner</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Join</a:t>
            </a:r>
            <a:r>
              <a:rPr lang="en-US" dirty="0">
                <a:solidFill>
                  <a:srgbClr val="000000"/>
                </a:solidFill>
                <a:latin typeface="Consolas" panose="020B0609020204030204" pitchFamily="49" charset="0"/>
              </a:rPr>
              <a:t> Company c </a:t>
            </a:r>
          </a:p>
          <a:p>
            <a:pPr marL="544512" lvl="1" indent="0">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endParaRPr lang="en-US" dirty="0"/>
          </a:p>
        </p:txBody>
      </p:sp>
    </p:spTree>
    <p:extLst>
      <p:ext uri="{BB962C8B-B14F-4D97-AF65-F5344CB8AC3E}">
        <p14:creationId xmlns:p14="http://schemas.microsoft.com/office/powerpoint/2010/main" val="3319408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11. Ordering JOINs from a Larger Table to a Smaller Table</a:t>
            </a:r>
          </a:p>
        </p:txBody>
      </p:sp>
      <p:sp>
        <p:nvSpPr>
          <p:cNvPr id="3" name="Content Placeholder 2"/>
          <p:cNvSpPr>
            <a:spLocks noGrp="1"/>
          </p:cNvSpPr>
          <p:nvPr>
            <p:ph idx="1"/>
          </p:nvPr>
        </p:nvSpPr>
        <p:spPr/>
        <p:txBody>
          <a:bodyPr/>
          <a:lstStyle/>
          <a:p>
            <a:r>
              <a:rPr lang="en-US" dirty="0"/>
              <a:t>Applying the JOIN operation from a larger table to a smaller table is a common SQL optimization technique. </a:t>
            </a:r>
          </a:p>
          <a:p>
            <a:r>
              <a:rPr lang="en-US" dirty="0"/>
              <a:t>Because </a:t>
            </a:r>
            <a:r>
              <a:rPr lang="en-US" dirty="0">
                <a:solidFill>
                  <a:srgbClr val="C00000"/>
                </a:solidFill>
              </a:rPr>
              <a:t>joining from a larger table to a smaller table will make your query to execute faster</a:t>
            </a:r>
            <a:r>
              <a:rPr lang="en-US" dirty="0"/>
              <a:t>. </a:t>
            </a:r>
          </a:p>
          <a:p>
            <a:r>
              <a:rPr lang="en-US" dirty="0"/>
              <a:t>If we apply a JOIN operation from a smaller table to a larger table, our SQL engine has to search in a larger table for matching rows. </a:t>
            </a:r>
          </a:p>
          <a:p>
            <a:r>
              <a:rPr lang="en-US" dirty="0"/>
              <a:t>This is more resource-intensive and time-consuming. </a:t>
            </a:r>
          </a:p>
          <a:p>
            <a:r>
              <a:rPr lang="en-US" dirty="0"/>
              <a:t>But on the other hand, if the JOIN is applied from a larger table to a smaller table, then the SQL engine has to search in a smaller table for matching rows.</a:t>
            </a:r>
          </a:p>
          <a:p>
            <a:endParaRPr lang="en-US" dirty="0"/>
          </a:p>
        </p:txBody>
      </p:sp>
    </p:spTree>
    <p:extLst>
      <p:ext uri="{BB962C8B-B14F-4D97-AF65-F5344CB8AC3E}">
        <p14:creationId xmlns:p14="http://schemas.microsoft.com/office/powerpoint/2010/main" val="133587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11. Ordering JOINs from a Larger Table to a Smaller Table</a:t>
            </a:r>
          </a:p>
        </p:txBody>
      </p:sp>
      <p:sp>
        <p:nvSpPr>
          <p:cNvPr id="3" name="Content Placeholder 2"/>
          <p:cNvSpPr>
            <a:spLocks noGrp="1"/>
          </p:cNvSpPr>
          <p:nvPr>
            <p:ph idx="1"/>
          </p:nvPr>
        </p:nvSpPr>
        <p:spPr/>
        <p:txBody>
          <a:bodyPr/>
          <a:lstStyle/>
          <a:p>
            <a:r>
              <a:rPr lang="en-US" b="1" dirty="0">
                <a:solidFill>
                  <a:srgbClr val="FF0000"/>
                </a:solidFill>
              </a:rPr>
              <a:t>Inefficient</a:t>
            </a:r>
          </a:p>
          <a:p>
            <a:pPr marL="544512" lvl="1" indent="0">
              <a:buNone/>
            </a:pPr>
            <a:r>
              <a:rPr lang="en-US" dirty="0">
                <a:solidFill>
                  <a:srgbClr val="008000"/>
                </a:solidFill>
                <a:latin typeface="Consolas" panose="020B0609020204030204" pitchFamily="49" charset="0"/>
              </a:rPr>
              <a:t>-- Join from a smaller table to a larger table</a:t>
            </a:r>
            <a:endParaRPr lang="en-US" dirty="0">
              <a:solidFill>
                <a:srgbClr val="000000"/>
              </a:solidFill>
              <a:latin typeface="Consolas" panose="020B0609020204030204" pitchFamily="49" charset="0"/>
            </a:endParaRPr>
          </a:p>
          <a:p>
            <a:pPr marL="544512"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u="sng" dirty="0">
                <a:solidFill>
                  <a:srgbClr val="000000"/>
                </a:solidFill>
                <a:latin typeface="Consolas" panose="020B0609020204030204" pitchFamily="49" charset="0"/>
              </a:rPr>
              <a:t>Customer</a:t>
            </a:r>
            <a:r>
              <a:rPr lang="en-US" dirty="0">
                <a:solidFill>
                  <a:srgbClr val="000000"/>
                </a:solidFill>
                <a:latin typeface="Consolas" panose="020B0609020204030204" pitchFamily="49" charset="0"/>
              </a:rPr>
              <a:t> </a:t>
            </a:r>
          </a:p>
          <a:p>
            <a:pPr marL="544512" lvl="1" indent="0">
              <a:buNone/>
            </a:pPr>
            <a:r>
              <a:rPr lang="en-US" dirty="0">
                <a:solidFill>
                  <a:srgbClr val="808080"/>
                </a:solidFill>
                <a:latin typeface="Consolas" panose="020B0609020204030204" pitchFamily="49" charset="0"/>
              </a:rPr>
              <a:t>LEFT OUTER JOIN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000000"/>
                </a:solidFill>
                <a:latin typeface="Consolas" panose="020B0609020204030204" pitchFamily="49" charset="0"/>
              </a:rPr>
              <a:t> </a:t>
            </a:r>
          </a:p>
          <a:p>
            <a:pPr marL="544512" lvl="1" indent="0">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Customer</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p>
          <a:p>
            <a:pPr marL="544512" lvl="1" indent="0">
              <a:buNone/>
            </a:pPr>
            <a:endParaRPr lang="en-US" b="1" dirty="0">
              <a:solidFill>
                <a:srgbClr val="FF0000"/>
              </a:solidFill>
            </a:endParaRPr>
          </a:p>
          <a:p>
            <a:r>
              <a:rPr lang="en-US" b="1" dirty="0">
                <a:solidFill>
                  <a:schemeClr val="accent4"/>
                </a:solidFill>
              </a:rPr>
              <a:t>Efficient</a:t>
            </a:r>
          </a:p>
          <a:p>
            <a:pPr marL="544512" lvl="1" indent="0">
              <a:buNone/>
            </a:pPr>
            <a:r>
              <a:rPr lang="en-US" dirty="0">
                <a:solidFill>
                  <a:srgbClr val="008000"/>
                </a:solidFill>
                <a:latin typeface="Consolas" panose="020B0609020204030204" pitchFamily="49" charset="0"/>
              </a:rPr>
              <a:t>-- Join from a larger table to a smaller table</a:t>
            </a:r>
            <a:endParaRPr lang="en-US" dirty="0">
              <a:solidFill>
                <a:srgbClr val="000000"/>
              </a:solidFill>
              <a:latin typeface="Consolas" panose="020B0609020204030204" pitchFamily="49" charset="0"/>
            </a:endParaRPr>
          </a:p>
          <a:p>
            <a:pPr marL="544512"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u="sng" dirty="0">
                <a:latin typeface="Consolas" panose="020B0609020204030204" pitchFamily="49" charset="0"/>
              </a:rPr>
              <a:t>Order</a:t>
            </a:r>
            <a:r>
              <a:rPr lang="en-US" u="sng" dirty="0">
                <a:solidFill>
                  <a:srgbClr val="000000"/>
                </a:solidFill>
                <a:latin typeface="Consolas" panose="020B0609020204030204" pitchFamily="49" charset="0"/>
              </a:rPr>
              <a:t> </a:t>
            </a:r>
          </a:p>
          <a:p>
            <a:pPr marL="544512" lvl="1" indent="0">
              <a:buNone/>
            </a:pPr>
            <a:r>
              <a:rPr lang="en-US" dirty="0">
                <a:solidFill>
                  <a:srgbClr val="808080"/>
                </a:solidFill>
                <a:latin typeface="Consolas" panose="020B0609020204030204" pitchFamily="49" charset="0"/>
              </a:rPr>
              <a:t>LEFT OUTER JOIN</a:t>
            </a:r>
            <a:r>
              <a:rPr lang="en-US" dirty="0">
                <a:solidFill>
                  <a:srgbClr val="000000"/>
                </a:solidFill>
                <a:latin typeface="Consolas" panose="020B0609020204030204" pitchFamily="49" charset="0"/>
              </a:rPr>
              <a:t> Customer </a:t>
            </a:r>
          </a:p>
          <a:p>
            <a:pPr marL="544512" lvl="1" indent="0">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Customer</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endParaRPr lang="en-US" dirty="0"/>
          </a:p>
        </p:txBody>
      </p:sp>
    </p:spTree>
    <p:extLst>
      <p:ext uri="{BB962C8B-B14F-4D97-AF65-F5344CB8AC3E}">
        <p14:creationId xmlns:p14="http://schemas.microsoft.com/office/powerpoint/2010/main" val="114548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53E7E6-9A71-88A8-96FA-AD528F5B28FA}"/>
              </a:ext>
            </a:extLst>
          </p:cNvPr>
          <p:cNvSpPr>
            <a:spLocks noGrp="1"/>
          </p:cNvSpPr>
          <p:nvPr>
            <p:ph type="title"/>
          </p:nvPr>
        </p:nvSpPr>
        <p:spPr/>
        <p:txBody>
          <a:bodyPr/>
          <a:lstStyle/>
          <a:p>
            <a:r>
              <a:rPr lang="en-IN" dirty="0"/>
              <a:t>Thank You</a:t>
            </a:r>
          </a:p>
        </p:txBody>
      </p:sp>
      <p:sp>
        <p:nvSpPr>
          <p:cNvPr id="5" name="Text Placeholder 4">
            <a:extLst>
              <a:ext uri="{FF2B5EF4-FFF2-40B4-BE49-F238E27FC236}">
                <a16:creationId xmlns:a16="http://schemas.microsoft.com/office/drawing/2014/main" id="{B4E91D1B-5D13-7725-B2BA-A0D3A30A823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075145539"/>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10300</TotalTime>
  <Words>6172</Words>
  <Application>Microsoft Office PowerPoint</Application>
  <PresentationFormat>Widescreen</PresentationFormat>
  <Paragraphs>1114</Paragraphs>
  <Slides>63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Roboto Condensed</vt:lpstr>
      <vt:lpstr>Roboto Condensed Light</vt:lpstr>
      <vt:lpstr>Wingdings 3</vt:lpstr>
      <vt:lpstr>Wingdings 2</vt:lpstr>
      <vt:lpstr>Arial</vt:lpstr>
      <vt:lpstr>Calibri</vt:lpstr>
      <vt:lpstr>Consolas</vt:lpstr>
      <vt:lpstr>Wingdings</vt:lpstr>
      <vt:lpstr>Office Theme</vt:lpstr>
      <vt:lpstr>Unit-5  Cursor, Trigger and  Exception Handling</vt:lpstr>
      <vt:lpstr>PowerPoint Presentation</vt:lpstr>
      <vt:lpstr>Trigger</vt:lpstr>
      <vt:lpstr>Introduction : Trigger</vt:lpstr>
      <vt:lpstr>Types of Trigger</vt:lpstr>
      <vt:lpstr>DML Triggers</vt:lpstr>
      <vt:lpstr>Syntax of Trigger</vt:lpstr>
      <vt:lpstr>Example of Trigger</vt:lpstr>
      <vt:lpstr>Example of Trigger [Insert]</vt:lpstr>
      <vt:lpstr>Example of Trigger [Update]</vt:lpstr>
      <vt:lpstr>Example of Trigger [Delete]</vt:lpstr>
      <vt:lpstr>Example of Trigger [Custom] </vt:lpstr>
      <vt:lpstr>Example of Trigger [Custom] </vt:lpstr>
      <vt:lpstr>Trigger [Practice]</vt:lpstr>
      <vt:lpstr>Advantages of Triggers</vt:lpstr>
      <vt:lpstr>Disadvantages of Triggers</vt:lpstr>
      <vt:lpstr>Application of Triggers</vt:lpstr>
      <vt:lpstr>Cursors</vt:lpstr>
      <vt:lpstr>Introduction : Cursor</vt:lpstr>
      <vt:lpstr>Types of Cursor </vt:lpstr>
      <vt:lpstr>SQL Cursor Life Cycle - Steps</vt:lpstr>
      <vt:lpstr>SQL Cursor Life Cycle</vt:lpstr>
      <vt:lpstr>SQL Cursor Life Cycle - Steps (Cont..)</vt:lpstr>
      <vt:lpstr>SQL Cursor Life Cycle - Steps (Cont..)</vt:lpstr>
      <vt:lpstr>Example – 1: Cursor</vt:lpstr>
      <vt:lpstr>Example - 2: Cursor</vt:lpstr>
      <vt:lpstr>Applications of Cursor</vt:lpstr>
      <vt:lpstr>Exception Handling</vt:lpstr>
      <vt:lpstr>Introduction : Error/Exception Handling</vt:lpstr>
      <vt:lpstr>Types of SQL Server Exceptions</vt:lpstr>
      <vt:lpstr>Handling Errors using TRY…CATCH</vt:lpstr>
      <vt:lpstr>System Defined Exception</vt:lpstr>
      <vt:lpstr>System Defined Exception – Example | Divide by zero error </vt:lpstr>
      <vt:lpstr>Nested TRY Block</vt:lpstr>
      <vt:lpstr>Error Functions in SQL</vt:lpstr>
      <vt:lpstr>Example: Error Functions</vt:lpstr>
      <vt:lpstr>Procedure with TRY…CATCH Example</vt:lpstr>
      <vt:lpstr>Stored Procedure – Exception Example</vt:lpstr>
      <vt:lpstr>Throw</vt:lpstr>
      <vt:lpstr>Throw</vt:lpstr>
      <vt:lpstr>Throw Example</vt:lpstr>
      <vt:lpstr>Throw Example</vt:lpstr>
      <vt:lpstr>Using THROW statement to raise a System Exception</vt:lpstr>
      <vt:lpstr>Using THROW statement to raise a System Exception</vt:lpstr>
      <vt:lpstr>RaiseError()</vt:lpstr>
      <vt:lpstr>RAISERROR()</vt:lpstr>
      <vt:lpstr>RAISERROR() Example</vt:lpstr>
      <vt:lpstr>      Information!!!</vt:lpstr>
      <vt:lpstr>Do's &amp; Don'ts While Writing a Query (Query Optimization)</vt:lpstr>
      <vt:lpstr>Query Optimization</vt:lpstr>
      <vt:lpstr>1. Use of Varchar instead of Char Data Type</vt:lpstr>
      <vt:lpstr>2. SELECT fields, rather than using SELECT *</vt:lpstr>
      <vt:lpstr>3. Avoid DISTINCT in SELECT query</vt:lpstr>
      <vt:lpstr>4. Be aware of NULL in your results</vt:lpstr>
      <vt:lpstr>5. Do not include column numbers in ORDER BY</vt:lpstr>
      <vt:lpstr>6. Prefix for stored procedures should not that starts with “sp_”</vt:lpstr>
      <vt:lpstr>7. Indexing</vt:lpstr>
      <vt:lpstr>8. To check the existence of records, use EXISTS() rather than COUNT()</vt:lpstr>
      <vt:lpstr>9. Use WHERE instead of HAVING</vt:lpstr>
      <vt:lpstr>10. Ignore linked sub queries</vt:lpstr>
      <vt:lpstr>11. Ordering JOINs from a Larger Table to a Smaller Table</vt:lpstr>
      <vt:lpstr>11. Ordering JOINs from a Larger Table to a Smaller Table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Deep Padaliya</cp:lastModifiedBy>
  <cp:revision>382</cp:revision>
  <dcterms:created xsi:type="dcterms:W3CDTF">2020-05-01T05:09:15Z</dcterms:created>
  <dcterms:modified xsi:type="dcterms:W3CDTF">2026-09-15T05:26:37Z</dcterms:modified>
</cp:coreProperties>
</file>